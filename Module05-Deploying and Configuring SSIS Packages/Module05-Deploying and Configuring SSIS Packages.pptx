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5"/>
  </p:notesMasterIdLst>
  <p:sldIdLst>
    <p:sldId id="277" r:id="rId2"/>
    <p:sldId id="312" r:id="rId3"/>
    <p:sldId id="257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13" r:id="rId12"/>
    <p:sldId id="294" r:id="rId13"/>
    <p:sldId id="28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1" userDrawn="1">
          <p15:clr>
            <a:srgbClr val="A4A3A4"/>
          </p15:clr>
        </p15:guide>
        <p15:guide id="2" pos="7299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orient="horz" pos="380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21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1C"/>
    <a:srgbClr val="3974A9"/>
    <a:srgbClr val="41B2C1"/>
    <a:srgbClr val="10B5BF"/>
    <a:srgbClr val="ED7843"/>
    <a:srgbClr val="A6A6A6"/>
    <a:srgbClr val="000F46"/>
    <a:srgbClr val="1F1C3A"/>
    <a:srgbClr val="28253A"/>
    <a:srgbClr val="020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85"/>
    <p:restoredTop sz="94694"/>
  </p:normalViewPr>
  <p:slideViewPr>
    <p:cSldViewPr snapToGrid="0" showGuides="1">
      <p:cViewPr varScale="1">
        <p:scale>
          <a:sx n="92" d="100"/>
          <a:sy n="92" d="100"/>
        </p:scale>
        <p:origin x="523" y="77"/>
      </p:cViewPr>
      <p:guideLst>
        <p:guide pos="381"/>
        <p:guide pos="7299"/>
        <p:guide pos="3840"/>
        <p:guide orient="horz" pos="380"/>
        <p:guide orient="horz" pos="3929"/>
        <p:guide orient="horz" pos="21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F1E61-3EC5-3B45-BB2A-F2BB00C2748A}" type="datetimeFigureOut">
              <a:rPr lang="en-IR" smtClean="0"/>
              <a:t>05/07/2025</a:t>
            </a:fld>
            <a:endParaRPr lang="en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33027-8B60-B34C-9BDA-B9F1428615EA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355101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2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302397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3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566623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4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444185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5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4142980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6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979809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7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4097389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8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954270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9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3719734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10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545532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05/07/2025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248019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05/07/2025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436259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05/07/2025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37038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05/07/2025</a:t>
            </a:fld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982290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05/07/2025</a:t>
            </a:fld>
            <a:endParaRPr lang="en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490712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05/07/2025</a:t>
            </a:fld>
            <a:endParaRPr lang="en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05536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05/07/2025</a:t>
            </a:fld>
            <a:endParaRPr lang="en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420386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05/07/2025</a:t>
            </a:fld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711259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05/07/2025</a:t>
            </a:fld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90740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05/07/2025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804425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05/07/2025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144185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17935-F767-D54C-8BD8-1213FC869680}" type="datetimeFigureOut">
              <a:rPr lang="en-IR" smtClean="0"/>
              <a:t>05/07/2025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69670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em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11" Type="http://schemas.openxmlformats.org/officeDocument/2006/relationships/image" Target="../media/image29.png"/><Relationship Id="rId5" Type="http://schemas.openxmlformats.org/officeDocument/2006/relationships/image" Target="../media/image23.jpeg"/><Relationship Id="rId10" Type="http://schemas.openxmlformats.org/officeDocument/2006/relationships/image" Target="../media/image28.png"/><Relationship Id="rId4" Type="http://schemas.openxmlformats.org/officeDocument/2006/relationships/image" Target="../media/image22.jp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C2355F-3C5B-AAE7-805C-4EE255EFB76D}"/>
              </a:ext>
            </a:extLst>
          </p:cNvPr>
          <p:cNvSpPr txBox="1"/>
          <p:nvPr/>
        </p:nvSpPr>
        <p:spPr>
          <a:xfrm>
            <a:off x="2904565" y="1753040"/>
            <a:ext cx="873571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fa-IR" sz="72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هوش تجاری</a:t>
            </a:r>
          </a:p>
          <a:p>
            <a:pPr marL="0" algn="r" defTabSz="457200" rtl="1" eaLnBrk="1" latinLnBrk="0" hangingPunct="1"/>
            <a:r>
              <a:rPr lang="fa-IR" sz="3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(</a:t>
            </a:r>
            <a:r>
              <a:rPr lang="en-US" sz="3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Enterprise BI</a:t>
            </a:r>
            <a:r>
              <a:rPr lang="fa-IR" sz="3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)</a:t>
            </a:r>
            <a:endParaRPr lang="en-IR" sz="30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74B2B2-BB36-37C5-F929-69E2124A8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611" y="4686549"/>
            <a:ext cx="2413552" cy="59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93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109187-7F04-9E17-224D-851B4A615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95A18D-624B-B2C4-DF92-E8C55F890EEE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C40415-4FD1-4385-9485-6A31871611A9}"/>
              </a:ext>
            </a:extLst>
          </p:cNvPr>
          <p:cNvSpPr txBox="1"/>
          <p:nvPr/>
        </p:nvSpPr>
        <p:spPr>
          <a:xfrm>
            <a:off x="1429815" y="705824"/>
            <a:ext cx="10144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سیاوش گلچوبیان</a:t>
            </a:r>
            <a:endParaRPr lang="en-US" sz="20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5EDB59-FE39-41C5-903A-851BB19E2FD9}"/>
              </a:ext>
            </a:extLst>
          </p:cNvPr>
          <p:cNvSpPr/>
          <p:nvPr/>
        </p:nvSpPr>
        <p:spPr>
          <a:xfrm>
            <a:off x="5478624" y="1156428"/>
            <a:ext cx="6096000" cy="9164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سرپرست واحد هوش تجاری و پایگاه داده شرکت سایپا</a:t>
            </a:r>
          </a:p>
          <a:p>
            <a:pPr marL="285750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موسس تیم مشاور پایگاه داده </a:t>
            </a:r>
            <a:r>
              <a:rPr lang="en-US" sz="1400" dirty="0" err="1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SqlDeep</a:t>
            </a:r>
            <a:endParaRPr lang="en-US" sz="14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285750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مدیر طراحی فریم‌ورک هوش تجاری </a:t>
            </a:r>
            <a:r>
              <a:rPr lang="en-US" sz="1400" dirty="0" err="1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Razan</a:t>
            </a:r>
            <a:endParaRPr lang="fa-IR" sz="14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D947E7-886A-1C01-FA26-E1ECB11BBDB1}"/>
              </a:ext>
            </a:extLst>
          </p:cNvPr>
          <p:cNvGrpSpPr/>
          <p:nvPr/>
        </p:nvGrpSpPr>
        <p:grpSpPr>
          <a:xfrm>
            <a:off x="2184873" y="904297"/>
            <a:ext cx="1343060" cy="1372257"/>
            <a:chOff x="2184873" y="2633345"/>
            <a:chExt cx="1343060" cy="137225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7ED7A2B-46AC-47E7-B3E6-A8E532E397BA}"/>
                </a:ext>
              </a:extLst>
            </p:cNvPr>
            <p:cNvSpPr/>
            <p:nvPr/>
          </p:nvSpPr>
          <p:spPr>
            <a:xfrm>
              <a:off x="2201927" y="2676582"/>
              <a:ext cx="1322773" cy="13127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509C3FE-ACDD-41FE-88B2-4D7B84034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84873" y="2633345"/>
              <a:ext cx="1343060" cy="1372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8938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مطالب این جلسه</a:t>
            </a:r>
            <a:endParaRPr lang="en-US" sz="27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2439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در انتهای این جلسه خواهید توانست پروژه های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SSIS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خود را در محیط عملیاتی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Deploy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اجرا نمایید.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روش های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Deploy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نصب و آماده سازی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SQL Server Integration Services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Integration Services Catalogs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معمول ترین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Deploy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پروژه بر روی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Integration Services Catalog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تنظیم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SQL Server Agent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برای اجرای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Package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(ها)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46003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روش های </a:t>
            </a:r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Deploy</a:t>
            </a:r>
            <a:endParaRPr lang="en-US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Deploy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بر روی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SSISDB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Deploy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بر روی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File System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Deploy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بر روی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Container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اجرا با استفاده از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C#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3EECF2-844E-C287-2D9A-A1CA49271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80" y="2043779"/>
            <a:ext cx="6696566" cy="4193509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256FE4-A069-90F2-A335-244763861A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5623" y="1849800"/>
            <a:ext cx="4215239" cy="78405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A6396A-FAD9-1717-5B59-50D897633A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8542" y="5930325"/>
            <a:ext cx="6033145" cy="613926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41A99D-D0D5-AFAD-A7D8-C4174925242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25997"/>
          <a:stretch/>
        </p:blipFill>
        <p:spPr>
          <a:xfrm>
            <a:off x="1269691" y="235560"/>
            <a:ext cx="2435184" cy="16889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227B6A8-2BCD-D1CB-5173-04AEB60597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1726" y="268132"/>
            <a:ext cx="2892257" cy="798315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4195775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نصب و آماده سازی </a:t>
            </a:r>
            <a:r>
              <a:rPr lang="en-US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SQL Server Integration Services</a:t>
            </a:r>
            <a:r>
              <a:rPr lang="fa-IR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</a:t>
            </a:r>
            <a:r>
              <a:rPr lang="en-US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Integration Services Catalogs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126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الزام نصب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Database Engine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نصب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Integration Services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1C9AC1-70E5-C5F6-71C1-45D2C23FB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78" y="1151321"/>
            <a:ext cx="5384869" cy="4867094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5ABDCA-8CB6-3640-9471-FCF9219EEC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7" y="5009706"/>
            <a:ext cx="5951913" cy="1668156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047101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نصب و آماده سازی </a:t>
            </a:r>
            <a:r>
              <a:rPr lang="en-US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SQL Server Integration Services</a:t>
            </a:r>
            <a:r>
              <a:rPr lang="fa-IR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</a:t>
            </a:r>
            <a:r>
              <a:rPr lang="en-US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Integration Services Catalogs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ساخت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Integration Services Catalogs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2B8441-8761-9B0B-588A-017F65443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1164627"/>
            <a:ext cx="3914775" cy="489585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0BA563-8A5F-940F-B2A2-B4FE9357F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9963" y="2016786"/>
            <a:ext cx="5433223" cy="4497501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901537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نصب و آماده سازی </a:t>
            </a:r>
            <a:r>
              <a:rPr lang="en-US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SQL Server Integration Services</a:t>
            </a:r>
            <a:r>
              <a:rPr lang="fa-IR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</a:t>
            </a:r>
            <a:r>
              <a:rPr lang="en-US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Integration Services Catalogs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ساخت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Integration Services Catalogs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7F26E-227E-CA1B-372F-32C7C90AD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1150340"/>
            <a:ext cx="3848100" cy="4924425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EC3E79-6180-24D8-E9CB-C41B0A3B0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5500" y="4643947"/>
            <a:ext cx="3753374" cy="161947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6213334-A383-9291-B3F0-95CF707CB09F}"/>
              </a:ext>
            </a:extLst>
          </p:cNvPr>
          <p:cNvCxnSpPr/>
          <p:nvPr/>
        </p:nvCxnSpPr>
        <p:spPr>
          <a:xfrm flipH="1">
            <a:off x="7209633" y="4945367"/>
            <a:ext cx="648393" cy="32672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860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معمول ترین روش های </a:t>
            </a:r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Deploy</a:t>
            </a:r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پروژه</a:t>
            </a:r>
            <a:endParaRPr lang="en-US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206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با استفاده از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Visual Studio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با استفاده از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SQL Server Management Studio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با استفاده از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ISDeploymentWizard.exe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(</a:t>
            </a:r>
            <a:r>
              <a:rPr lang="nn-NO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C:\Program Files\Microsoft SQL Server\&lt;nnn&gt;\DTS\Binn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)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77B97E-2516-4919-D746-EE3DAF0FD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14" y="2486069"/>
            <a:ext cx="9780769" cy="25393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15EF30-AC1B-5523-59FD-F738FAD3CD5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5081" r="65966"/>
          <a:stretch/>
        </p:blipFill>
        <p:spPr>
          <a:xfrm>
            <a:off x="8627692" y="2721565"/>
            <a:ext cx="1106511" cy="641259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E6A885-E091-AE29-EE1E-7748A0DCD823}"/>
              </a:ext>
            </a:extLst>
          </p:cNvPr>
          <p:cNvCxnSpPr/>
          <p:nvPr/>
        </p:nvCxnSpPr>
        <p:spPr>
          <a:xfrm flipH="1">
            <a:off x="4641001" y="3538869"/>
            <a:ext cx="648393" cy="32672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EBDC33-CCB0-1DB4-FE06-E3EC859712CD}"/>
              </a:ext>
            </a:extLst>
          </p:cNvPr>
          <p:cNvCxnSpPr/>
          <p:nvPr/>
        </p:nvCxnSpPr>
        <p:spPr>
          <a:xfrm flipH="1">
            <a:off x="4641001" y="3781585"/>
            <a:ext cx="648393" cy="32672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23E4097-5D2F-DF28-EBA9-D18D1F52ACC5}"/>
              </a:ext>
            </a:extLst>
          </p:cNvPr>
          <p:cNvCxnSpPr/>
          <p:nvPr/>
        </p:nvCxnSpPr>
        <p:spPr>
          <a:xfrm flipH="1">
            <a:off x="8409437" y="2439750"/>
            <a:ext cx="648393" cy="32672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86A8635-120C-57A4-2706-45CB82F248AE}"/>
              </a:ext>
            </a:extLst>
          </p:cNvPr>
          <p:cNvCxnSpPr/>
          <p:nvPr/>
        </p:nvCxnSpPr>
        <p:spPr>
          <a:xfrm flipH="1">
            <a:off x="9470697" y="2486069"/>
            <a:ext cx="648393" cy="32672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684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معمول ترین روش های </a:t>
            </a:r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Deploy</a:t>
            </a:r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پروژه</a:t>
            </a:r>
            <a:endParaRPr lang="en-US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206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با استفاده از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Visual Studio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با استفاده از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SQL Server Management Studio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با استفاده از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ISDeploymentWizard.exe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(</a:t>
            </a:r>
            <a:r>
              <a:rPr lang="nn-NO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C:\Program Files\Microsoft SQL Server\&lt;nnn&gt;\DTS\Binn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)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0AE9FD-9289-394E-4346-E9025361D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2585300"/>
            <a:ext cx="3772426" cy="281979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EBDC33-CCB0-1DB4-FE06-E3EC859712CD}"/>
              </a:ext>
            </a:extLst>
          </p:cNvPr>
          <p:cNvCxnSpPr/>
          <p:nvPr/>
        </p:nvCxnSpPr>
        <p:spPr>
          <a:xfrm flipH="1">
            <a:off x="3664670" y="3429000"/>
            <a:ext cx="648393" cy="32672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386F7D1-04E7-60B1-F0CC-6BEC792255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6408" y="4128347"/>
            <a:ext cx="5698294" cy="175934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6E45372-AE6B-0DAA-CA09-9A93E1839C54}"/>
              </a:ext>
            </a:extLst>
          </p:cNvPr>
          <p:cNvCxnSpPr/>
          <p:nvPr/>
        </p:nvCxnSpPr>
        <p:spPr>
          <a:xfrm flipH="1">
            <a:off x="9490505" y="3995197"/>
            <a:ext cx="648393" cy="32672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D3B6D4-AC47-B49C-2DDC-DEDC0AAC0087}"/>
              </a:ext>
            </a:extLst>
          </p:cNvPr>
          <p:cNvCxnSpPr/>
          <p:nvPr/>
        </p:nvCxnSpPr>
        <p:spPr>
          <a:xfrm flipH="1">
            <a:off x="8621827" y="5374707"/>
            <a:ext cx="648393" cy="32672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15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تنظیم </a:t>
            </a:r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SQL Server Agent</a:t>
            </a:r>
            <a:endParaRPr lang="en-US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126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ساخت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Job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Step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معرفی آدرس پکیج جهت اجرا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تنظیم پارامترها و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Connection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های پکیج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A1623F-51F3-7B45-0C10-7616C1F53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04" y="1055418"/>
            <a:ext cx="5562889" cy="51818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B02B3E-0C0C-0796-6793-1FFACCC3EF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661" y="3557975"/>
            <a:ext cx="4495254" cy="270009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EBDC33-CCB0-1DB4-FE06-E3EC859712CD}"/>
              </a:ext>
            </a:extLst>
          </p:cNvPr>
          <p:cNvCxnSpPr/>
          <p:nvPr/>
        </p:nvCxnSpPr>
        <p:spPr>
          <a:xfrm flipH="1">
            <a:off x="7014700" y="3291585"/>
            <a:ext cx="648393" cy="32672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C3FABAB-31D9-7B56-2CFF-9B4052157E5E}"/>
              </a:ext>
            </a:extLst>
          </p:cNvPr>
          <p:cNvCxnSpPr/>
          <p:nvPr/>
        </p:nvCxnSpPr>
        <p:spPr>
          <a:xfrm flipH="1">
            <a:off x="1805391" y="2542329"/>
            <a:ext cx="648393" cy="32672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96CED7C-C50C-80B0-79DD-0852083F59B4}"/>
              </a:ext>
            </a:extLst>
          </p:cNvPr>
          <p:cNvCxnSpPr/>
          <p:nvPr/>
        </p:nvCxnSpPr>
        <p:spPr>
          <a:xfrm flipH="1">
            <a:off x="3534438" y="1940040"/>
            <a:ext cx="648393" cy="32672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BB1CA68-8873-00AD-E991-800ABB8E4136}"/>
              </a:ext>
            </a:extLst>
          </p:cNvPr>
          <p:cNvCxnSpPr/>
          <p:nvPr/>
        </p:nvCxnSpPr>
        <p:spPr>
          <a:xfrm flipH="1">
            <a:off x="5029200" y="2869052"/>
            <a:ext cx="648393" cy="32672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86F7148-9AFD-7092-DA99-FCDFB4255B6B}"/>
              </a:ext>
            </a:extLst>
          </p:cNvPr>
          <p:cNvCxnSpPr/>
          <p:nvPr/>
        </p:nvCxnSpPr>
        <p:spPr>
          <a:xfrm flipH="1">
            <a:off x="5118734" y="3091030"/>
            <a:ext cx="648393" cy="32672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5D3587-64E0-9460-C275-48EE2C7903A5}"/>
              </a:ext>
            </a:extLst>
          </p:cNvPr>
          <p:cNvCxnSpPr/>
          <p:nvPr/>
        </p:nvCxnSpPr>
        <p:spPr>
          <a:xfrm flipH="1">
            <a:off x="3999951" y="4581299"/>
            <a:ext cx="648393" cy="32672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4EB84A3-FB08-6B63-9B99-9D75D4ED8741}"/>
              </a:ext>
            </a:extLst>
          </p:cNvPr>
          <p:cNvCxnSpPr>
            <a:cxnSpLocks/>
          </p:cNvCxnSpPr>
          <p:nvPr/>
        </p:nvCxnSpPr>
        <p:spPr>
          <a:xfrm flipV="1">
            <a:off x="5951913" y="4048059"/>
            <a:ext cx="561478" cy="31612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E39CEEF-E300-63DC-B51D-DFE6E3C94AA5}"/>
              </a:ext>
            </a:extLst>
          </p:cNvPr>
          <p:cNvCxnSpPr>
            <a:cxnSpLocks/>
          </p:cNvCxnSpPr>
          <p:nvPr/>
        </p:nvCxnSpPr>
        <p:spPr>
          <a:xfrm flipV="1">
            <a:off x="7014700" y="4058372"/>
            <a:ext cx="561478" cy="31612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748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109187-7F04-9E17-224D-851B4A615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2EE7D5-8D62-AFC9-5EA6-D625FA2CE85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منابع آموزشی</a:t>
            </a:r>
            <a:endParaRPr lang="en-US" sz="27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5A18D-624B-B2C4-DF92-E8C55F890EEE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17" name="Picture 16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15820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9" name="Picture 18"/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042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1" name="Picture 20"/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07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4" name="Picture 23"/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671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039FD25-C10E-AC82-2B7D-8DE7A7D54578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202534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FA30C0C-6AF6-9D03-6A26-C7AABD442BDA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8"/>
          <a:srcRect l="7152" r="5418"/>
          <a:stretch/>
        </p:blipFill>
        <p:spPr>
          <a:xfrm>
            <a:off x="9756712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BD269F0-F9D6-CA2E-88D0-2B98D5C7A13B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178415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60C67F7-F242-2C4C-FD55-D94A3CFC3DC9}"/>
              </a:ext>
            </a:extLst>
          </p:cNvPr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8214871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7A55E08-EB95-9631-74E5-DB60F79909CE}"/>
              </a:ext>
            </a:extLst>
          </p:cNvPr>
          <p:cNvPicPr preferRelativeResize="0"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204220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7E43775-EB95-A706-23FF-7E0082CA0944}"/>
              </a:ext>
            </a:extLst>
          </p:cNvPr>
          <p:cNvPicPr preferRelativeResize="0"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7464289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DC9690D-37A1-C8A0-D6EE-EB1245B9FA2F}"/>
              </a:ext>
            </a:extLst>
          </p:cNvPr>
          <p:cNvPicPr preferRelativeResize="0"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10219399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54014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109187-7F04-9E17-224D-851B4A615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2EE7D5-8D62-AFC9-5EA6-D625FA2CE85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پرسش و پاسخ</a:t>
            </a:r>
            <a:endParaRPr lang="en-US" sz="27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5A18D-624B-B2C4-DF92-E8C55F890EEE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 err="1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b="2500"/>
          <a:stretch/>
        </p:blipFill>
        <p:spPr>
          <a:xfrm>
            <a:off x="4722157" y="2215662"/>
            <a:ext cx="2995397" cy="270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69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31CB4F-6DE8-507A-5AB0-F9B0AE6514F8}"/>
              </a:ext>
            </a:extLst>
          </p:cNvPr>
          <p:cNvSpPr txBox="1"/>
          <p:nvPr/>
        </p:nvSpPr>
        <p:spPr>
          <a:xfrm>
            <a:off x="2712415" y="3988386"/>
            <a:ext cx="6456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spc="600" dirty="0" err="1">
                <a:solidFill>
                  <a:schemeClr val="bg1"/>
                </a:solidFill>
                <a:latin typeface="SG Kara Light" pitchFamily="2" charset="-78"/>
                <a:ea typeface="SG Kara Light" pitchFamily="2" charset="-78"/>
                <a:cs typeface="SG Kara Light" pitchFamily="2" charset="-78"/>
              </a:rPr>
              <a:t>education.systemgroup.net</a:t>
            </a:r>
            <a:endParaRPr lang="en-US" sz="2000" spc="600" dirty="0">
              <a:solidFill>
                <a:schemeClr val="bg1"/>
              </a:solidFill>
              <a:latin typeface="SG Kara Light" pitchFamily="2" charset="-78"/>
              <a:ea typeface="SG Kara Light" pitchFamily="2" charset="-78"/>
              <a:cs typeface="SG Kara Light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4679DD-E81E-93B4-D9A1-E6992AD31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411" y="2261849"/>
            <a:ext cx="4704696" cy="116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8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7946</TotalTime>
  <Words>331</Words>
  <Application>Microsoft Office PowerPoint</Application>
  <PresentationFormat>Widescreen</PresentationFormat>
  <Paragraphs>60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SG Kara FaNum</vt:lpstr>
      <vt:lpstr>SG Kara FaNum Light</vt:lpstr>
      <vt:lpstr>SG Kara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Siavash Golchoobian</cp:lastModifiedBy>
  <cp:revision>263</cp:revision>
  <dcterms:created xsi:type="dcterms:W3CDTF">2023-11-29T05:27:09Z</dcterms:created>
  <dcterms:modified xsi:type="dcterms:W3CDTF">2025-05-08T03:59:59Z</dcterms:modified>
</cp:coreProperties>
</file>
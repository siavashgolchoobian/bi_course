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9"/>
  </p:notesMasterIdLst>
  <p:sldIdLst>
    <p:sldId id="277" r:id="rId2"/>
    <p:sldId id="312" r:id="rId3"/>
    <p:sldId id="257" r:id="rId4"/>
    <p:sldId id="326" r:id="rId5"/>
    <p:sldId id="335" r:id="rId6"/>
    <p:sldId id="333" r:id="rId7"/>
    <p:sldId id="331" r:id="rId8"/>
    <p:sldId id="332" r:id="rId9"/>
    <p:sldId id="328" r:id="rId10"/>
    <p:sldId id="329" r:id="rId11"/>
    <p:sldId id="330" r:id="rId12"/>
    <p:sldId id="314" r:id="rId13"/>
    <p:sldId id="315" r:id="rId14"/>
    <p:sldId id="334" r:id="rId15"/>
    <p:sldId id="313" r:id="rId16"/>
    <p:sldId id="294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1" userDrawn="1">
          <p15:clr>
            <a:srgbClr val="A4A3A4"/>
          </p15:clr>
        </p15:guide>
        <p15:guide id="2" pos="7299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38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21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1C"/>
    <a:srgbClr val="ED7843"/>
    <a:srgbClr val="41B2C1"/>
    <a:srgbClr val="3974A9"/>
    <a:srgbClr val="10B5BF"/>
    <a:srgbClr val="A6A6A6"/>
    <a:srgbClr val="000F46"/>
    <a:srgbClr val="1F1C3A"/>
    <a:srgbClr val="28253A"/>
    <a:srgbClr val="020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5"/>
    <p:restoredTop sz="93149" autoAdjust="0"/>
  </p:normalViewPr>
  <p:slideViewPr>
    <p:cSldViewPr snapToGrid="0" showGuides="1">
      <p:cViewPr varScale="1">
        <p:scale>
          <a:sx n="79" d="100"/>
          <a:sy n="79" d="100"/>
        </p:scale>
        <p:origin x="1037" y="67"/>
      </p:cViewPr>
      <p:guideLst>
        <p:guide pos="381"/>
        <p:guide pos="7299"/>
        <p:guide pos="3840"/>
        <p:guide orient="horz" pos="380"/>
        <p:guide orient="horz" pos="3929"/>
        <p:guide orient="horz" pos="21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1E61-3EC5-3B45-BB2A-F2BB00C2748A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33027-8B60-B34C-9BDA-B9F1428615EA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5510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302397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56662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354166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5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984289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6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18965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7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40345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8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312331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9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00613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10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90801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11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761366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12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752633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13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66046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33027-8B60-B34C-9BDA-B9F1428615EA}" type="slidenum">
              <a:rPr lang="en-IR" smtClean="0"/>
              <a:t>14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688876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248019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4362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37038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98229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49071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05536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42038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171125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90740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380442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214418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17935-F767-D54C-8BD8-1213FC869680}" type="datetimeFigureOut">
              <a:rPr lang="en-IR" smtClean="0"/>
              <a:t>05/01/2025</a:t>
            </a:fld>
            <a:endParaRPr lang="en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461-621D-8E43-A15A-4E2665925124}" type="slidenum">
              <a:rPr lang="en-IR" smtClean="0"/>
              <a:t>‹#›</a:t>
            </a:fld>
            <a:endParaRPr lang="en-IR"/>
          </a:p>
        </p:txBody>
      </p:sp>
    </p:spTree>
    <p:extLst>
      <p:ext uri="{BB962C8B-B14F-4D97-AF65-F5344CB8AC3E}">
        <p14:creationId xmlns:p14="http://schemas.microsoft.com/office/powerpoint/2010/main" val="696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11" Type="http://schemas.openxmlformats.org/officeDocument/2006/relationships/image" Target="../media/image37.png"/><Relationship Id="rId5" Type="http://schemas.openxmlformats.org/officeDocument/2006/relationships/image" Target="../media/image31.jpeg"/><Relationship Id="rId10" Type="http://schemas.openxmlformats.org/officeDocument/2006/relationships/image" Target="../media/image36.png"/><Relationship Id="rId4" Type="http://schemas.openxmlformats.org/officeDocument/2006/relationships/image" Target="../media/image30.jp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2355F-3C5B-AAE7-805C-4EE255EFB76D}"/>
              </a:ext>
            </a:extLst>
          </p:cNvPr>
          <p:cNvSpPr txBox="1"/>
          <p:nvPr/>
        </p:nvSpPr>
        <p:spPr>
          <a:xfrm>
            <a:off x="2904565" y="1753040"/>
            <a:ext cx="87357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fa-IR" sz="72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هوش تجاری</a:t>
            </a:r>
          </a:p>
          <a:p>
            <a:pPr marL="0" algn="r" defTabSz="457200" rtl="1" eaLnBrk="1" latinLnBrk="0" hangingPunct="1"/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(</a:t>
            </a:r>
            <a:r>
              <a:rPr lang="en-US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Enterprise BI</a:t>
            </a:r>
            <a:r>
              <a:rPr lang="fa-IR" sz="3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</a:t>
            </a:r>
            <a:endParaRPr lang="en-IR" sz="3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74B2B2-BB36-37C5-F929-69E2124A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11" y="4686549"/>
            <a:ext cx="2413552" cy="5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40415-4FD1-4385-9485-6A31871611A9}"/>
              </a:ext>
            </a:extLst>
          </p:cNvPr>
          <p:cNvSpPr txBox="1"/>
          <p:nvPr/>
        </p:nvSpPr>
        <p:spPr>
          <a:xfrm>
            <a:off x="1429815" y="705824"/>
            <a:ext cx="10144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0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سیاوش گلچوبیان</a:t>
            </a:r>
            <a:endParaRPr lang="en-US" sz="20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5EDB59-FE39-41C5-903A-851BB19E2FD9}"/>
              </a:ext>
            </a:extLst>
          </p:cNvPr>
          <p:cNvSpPr/>
          <p:nvPr/>
        </p:nvSpPr>
        <p:spPr>
          <a:xfrm>
            <a:off x="5478624" y="1156428"/>
            <a:ext cx="6096000" cy="9164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سرپرست واحد هوش تجاری و پایگاه داده شرکت سایپا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موسس تیم مشاور پایگاه داده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SqlDeep</a:t>
            </a:r>
          </a:p>
          <a:p>
            <a:pPr marL="285750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مدیر طراحی فریم‌ورک هوش تجاری </a:t>
            </a:r>
            <a:r>
              <a:rPr lang="en-US" sz="1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Razan</a:t>
            </a:r>
            <a:endParaRPr lang="fa-IR" sz="14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4D947E7-886A-1C01-FA26-E1ECB11BBDB1}"/>
              </a:ext>
            </a:extLst>
          </p:cNvPr>
          <p:cNvGrpSpPr/>
          <p:nvPr/>
        </p:nvGrpSpPr>
        <p:grpSpPr>
          <a:xfrm>
            <a:off x="2184873" y="904297"/>
            <a:ext cx="1343060" cy="1372257"/>
            <a:chOff x="2184873" y="2633345"/>
            <a:chExt cx="1343060" cy="13722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ED7A2B-46AC-47E7-B3E6-A8E532E397BA}"/>
                </a:ext>
              </a:extLst>
            </p:cNvPr>
            <p:cNvSpPr/>
            <p:nvPr/>
          </p:nvSpPr>
          <p:spPr>
            <a:xfrm>
              <a:off x="2201927" y="2676582"/>
              <a:ext cx="1322773" cy="13127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09C3FE-ACDD-41FE-88B2-4D7B84034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873" y="2633345"/>
              <a:ext cx="1343060" cy="1372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93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مطالب این جلسه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3577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در انتهای این جلسه انتظار میرود با استفاده از کامپوننت های زیر و با حفظ نظافت بصری و قواعد نامگذاری بتوانید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Pipeline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ETL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کاملی را طراحی کنید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algn="r" rtl="1">
              <a:lnSpc>
                <a:spcPct val="120000"/>
              </a:lnSpc>
            </a:pP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 Loop Container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Task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Package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Package Orchestrator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Error Handling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600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For Loop Container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186791" y="1226356"/>
            <a:ext cx="5399006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FLC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اجرای مجموعه ای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Task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به تعداد دفعات مشخص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8A5FA56-678B-CFA9-35DD-D4D4BBF69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890" y="488660"/>
            <a:ext cx="409632" cy="43821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ABE24EC-09F9-FC93-EE55-54886F0FD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67" y="2317507"/>
            <a:ext cx="7906853" cy="2981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F51A933-9B06-8973-C7D6-A7751C059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190" y="5342548"/>
            <a:ext cx="5134692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9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186791" y="1226356"/>
            <a:ext cx="5399006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SCT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استفاده: فقط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پیاده سازی هر قابلیتی که در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.Net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وجود دارد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کد نویسی به زبان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C#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VB.Net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دسترسی به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Variables, Parameters, Connection Manager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Event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سطح پکیج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CA3283-1207-8AF3-6D55-B0343632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524" y="456052"/>
            <a:ext cx="495369" cy="4572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83161C-5B9B-73B2-0276-9130FB492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958"/>
          <a:stretch/>
        </p:blipFill>
        <p:spPr>
          <a:xfrm>
            <a:off x="0" y="1500171"/>
            <a:ext cx="6096000" cy="30865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D2BBF0-BF18-952A-D06F-1DE806966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520" y="4177042"/>
            <a:ext cx="6293689" cy="246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35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CEA496-D419-168A-0626-CBDD7C92F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87" y="1226356"/>
            <a:ext cx="5048955" cy="37724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5478443" y="1226356"/>
            <a:ext cx="6107354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استفاده: فقط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Data Flow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پیاده سازی هر قابلیتی که در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.Net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وجود دارد بر روی اطلاعات در جریان کار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استفاده به عنوان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Source, Transformation, Destination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قابلیت کد نویسی به زبان های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C#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VB.Net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دسترسی به اطلاعات جریان داده،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Variables, Parameters, Connection Manager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و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Event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سطح پکیج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828" y="493423"/>
            <a:ext cx="47631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18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5478443" y="1226356"/>
            <a:ext cx="6107354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محلی برای تخصیص متغیرها به کامپوننت جهت کسب دسترسی به مقادیر آنها در داخل کد، همچنین این قسمت حاوی ویرایشگر کد نیز میباشد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Input Columns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جهت انتخاب ورودی های اطلاعاتی قابل دسترس و نوع دسترسی (</a:t>
            </a: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Read/Write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) در کد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828" y="493423"/>
            <a:ext cx="476316" cy="42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EB49A9-03AC-36E6-EA99-50AE15FAE1A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1391"/>
          <a:stretch/>
        </p:blipFill>
        <p:spPr>
          <a:xfrm>
            <a:off x="592343" y="1139930"/>
            <a:ext cx="3746193" cy="4772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09C158-AB51-9E64-F1CD-3ABA5D049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203" y="2729301"/>
            <a:ext cx="4435240" cy="34479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601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5478443" y="1226356"/>
            <a:ext cx="6107354" cy="294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Inputs and Outputs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محلی جهت تعریف خروجی های جدید برای جریان داده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 Managers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محلی جهت تعریف اتصالات قابل دسترس در داخل کد (برخی از </a:t>
            </a:r>
            <a:r>
              <a:rPr lang="en-US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Connection</a:t>
            </a:r>
            <a:r>
              <a:rPr lang="fa-IR" sz="24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 امکان استفاده دارند)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828" y="493423"/>
            <a:ext cx="476316" cy="42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EB49A9-03AC-36E6-EA99-50AE15FAE1A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1391"/>
          <a:stretch/>
        </p:blipFill>
        <p:spPr>
          <a:xfrm>
            <a:off x="592343" y="1139930"/>
            <a:ext cx="3746193" cy="47726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13F116-CCC0-AF2F-1E62-46B73BA34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48" y="2554798"/>
            <a:ext cx="4351217" cy="3509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D5C078-A895-2C7C-A552-79C6E18BD2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8443" y="5137147"/>
            <a:ext cx="3343742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7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 (Source)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5377409" y="1226356"/>
            <a:ext cx="6208387" cy="2952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متد </a:t>
            </a:r>
            <a:r>
              <a:rPr lang="en-US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PreExecute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فقط یکبار و آن هم پیش از شروع پردازش جریان داده ها در کامپوننت </a:t>
            </a: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Fire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میگردد.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متد </a:t>
            </a:r>
            <a:r>
              <a:rPr lang="en-US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PostExecute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فقط یکبار و آن هم پس از اتمام کامل پردازش کلیه داده ها </a:t>
            </a: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Fire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میگردد.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CreateNewOutputRows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: این متد برای ساخت منبع اطلاعات استفاده گردیده و با </a:t>
            </a:r>
            <a:r>
              <a:rPr lang="en-US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&lt;output name&gt;</a:t>
            </a:r>
            <a:r>
              <a:rPr lang="en-US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Buffer.AddRow</a:t>
            </a:r>
            <a:r>
              <a:rPr lang="fa-IR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میتوان برای کامپوننت خروجی(های) داده ساخت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318" y="450992"/>
            <a:ext cx="476316" cy="428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52F14F-3A7D-7016-E1DB-CA5374558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26" y="1226356"/>
            <a:ext cx="4779783" cy="43190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EFBC4C-2052-70B7-2E0E-3CF162BD2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683" y="3962495"/>
            <a:ext cx="4009586" cy="279266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161A8A-2D07-3B0B-D33D-51E50D5D9783}"/>
              </a:ext>
            </a:extLst>
          </p:cNvPr>
          <p:cNvCxnSpPr>
            <a:cxnSpLocks/>
          </p:cNvCxnSpPr>
          <p:nvPr/>
        </p:nvCxnSpPr>
        <p:spPr>
          <a:xfrm flipH="1">
            <a:off x="1297934" y="1821903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795DFD-48BF-4514-4533-B7455A4C0C63}"/>
              </a:ext>
            </a:extLst>
          </p:cNvPr>
          <p:cNvCxnSpPr>
            <a:cxnSpLocks/>
          </p:cNvCxnSpPr>
          <p:nvPr/>
        </p:nvCxnSpPr>
        <p:spPr>
          <a:xfrm flipH="1">
            <a:off x="2286862" y="2279103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F394EA-5E59-08A9-0BFE-00A325611D57}"/>
              </a:ext>
            </a:extLst>
          </p:cNvPr>
          <p:cNvCxnSpPr>
            <a:cxnSpLocks/>
          </p:cNvCxnSpPr>
          <p:nvPr/>
        </p:nvCxnSpPr>
        <p:spPr>
          <a:xfrm flipH="1">
            <a:off x="2987517" y="4779112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22B792-50EE-CA68-4EA4-4B082A3CCBC3}"/>
              </a:ext>
            </a:extLst>
          </p:cNvPr>
          <p:cNvCxnSpPr>
            <a:cxnSpLocks/>
          </p:cNvCxnSpPr>
          <p:nvPr/>
        </p:nvCxnSpPr>
        <p:spPr>
          <a:xfrm flipH="1">
            <a:off x="4359578" y="4341367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63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 (Transformation)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990" y="470341"/>
            <a:ext cx="476316" cy="428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EE682D-D03C-F71D-DE6D-78770688B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809344"/>
            <a:ext cx="4995705" cy="4087395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161A8A-2D07-3B0B-D33D-51E50D5D9783}"/>
              </a:ext>
            </a:extLst>
          </p:cNvPr>
          <p:cNvCxnSpPr>
            <a:cxnSpLocks/>
          </p:cNvCxnSpPr>
          <p:nvPr/>
        </p:nvCxnSpPr>
        <p:spPr>
          <a:xfrm flipH="1">
            <a:off x="1068448" y="1623189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ED9679-CC86-C6FC-BB25-0EC6554F6FD8}"/>
              </a:ext>
            </a:extLst>
          </p:cNvPr>
          <p:cNvCxnSpPr>
            <a:cxnSpLocks/>
          </p:cNvCxnSpPr>
          <p:nvPr/>
        </p:nvCxnSpPr>
        <p:spPr>
          <a:xfrm flipH="1">
            <a:off x="3053698" y="5092245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AE9E7A-5989-76D2-9AE7-01208F36CE11}"/>
              </a:ext>
            </a:extLst>
          </p:cNvPr>
          <p:cNvCxnSpPr>
            <a:cxnSpLocks/>
          </p:cNvCxnSpPr>
          <p:nvPr/>
        </p:nvCxnSpPr>
        <p:spPr>
          <a:xfrm flipH="1">
            <a:off x="3955127" y="4018683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AFB2263-18AD-E5AC-79BD-96632BC68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260" y="1809344"/>
            <a:ext cx="4862042" cy="2435339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DA37D6-78A0-C697-8C4C-CD42F5337493}"/>
              </a:ext>
            </a:extLst>
          </p:cNvPr>
          <p:cNvCxnSpPr>
            <a:cxnSpLocks/>
          </p:cNvCxnSpPr>
          <p:nvPr/>
        </p:nvCxnSpPr>
        <p:spPr>
          <a:xfrm flipH="1">
            <a:off x="6694682" y="1884602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DA4AB7-A2AD-4AC4-C94D-7EE3382A6923}"/>
              </a:ext>
            </a:extLst>
          </p:cNvPr>
          <p:cNvCxnSpPr>
            <a:cxnSpLocks/>
          </p:cNvCxnSpPr>
          <p:nvPr/>
        </p:nvCxnSpPr>
        <p:spPr>
          <a:xfrm flipH="1">
            <a:off x="9843295" y="3171403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33AC5091-87C0-4C77-7D63-E629714F2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3001" y="5944672"/>
            <a:ext cx="8678999" cy="88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2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Script Component (Destination)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70383-0C07-6394-8889-F84824FE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990" y="470341"/>
            <a:ext cx="476316" cy="428685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DA37D6-78A0-C697-8C4C-CD42F5337493}"/>
              </a:ext>
            </a:extLst>
          </p:cNvPr>
          <p:cNvCxnSpPr>
            <a:cxnSpLocks/>
          </p:cNvCxnSpPr>
          <p:nvPr/>
        </p:nvCxnSpPr>
        <p:spPr>
          <a:xfrm flipH="1">
            <a:off x="6694682" y="1884602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E8F62B7-3FB0-4920-1460-06B02303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124150"/>
            <a:ext cx="6668431" cy="4734586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DA4AB7-A2AD-4AC4-C94D-7EE3382A6923}"/>
              </a:ext>
            </a:extLst>
          </p:cNvPr>
          <p:cNvCxnSpPr>
            <a:cxnSpLocks/>
          </p:cNvCxnSpPr>
          <p:nvPr/>
        </p:nvCxnSpPr>
        <p:spPr>
          <a:xfrm flipH="1">
            <a:off x="4887937" y="2520490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CECC48-4390-8543-58F9-9591345EC6BE}"/>
              </a:ext>
            </a:extLst>
          </p:cNvPr>
          <p:cNvCxnSpPr>
            <a:cxnSpLocks/>
          </p:cNvCxnSpPr>
          <p:nvPr/>
        </p:nvCxnSpPr>
        <p:spPr>
          <a:xfrm flipH="1">
            <a:off x="1632981" y="1180214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7E65C81-054E-D564-F800-492356FAD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9541" y="5694287"/>
            <a:ext cx="7916380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Package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مخفف: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EP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 استفاده در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Control Flow</a:t>
            </a:r>
            <a:endParaRPr lang="fa-IR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اجرای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Package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های دیگر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قابلیت تنظیم پارامتر در حین فراخوانی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3D857-3F90-59B3-5860-394394615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738" y="484631"/>
            <a:ext cx="428685" cy="40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80E012-C409-475D-879A-C03790FFE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35" y="1193278"/>
            <a:ext cx="5826007" cy="4838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7219A-472F-5EDC-6AEB-AF87A7B09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995" y="4103408"/>
            <a:ext cx="7840169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0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Orchestrator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698579" y="1226356"/>
            <a:ext cx="10887217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تنظیم کننده منطق و توالی اجرای پکیج های کل پروژه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D2269-B814-BC60-CF49-FD9B90E1E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06" y="3221841"/>
            <a:ext cx="680179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6560C2-32BF-AE6C-1425-B03910473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4E0931-CF0A-969A-1AF2-3DA0215E0D7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Error Handling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11142-709D-BF72-795F-276DC23282DD}"/>
              </a:ext>
            </a:extLst>
          </p:cNvPr>
          <p:cNvSpPr txBox="1"/>
          <p:nvPr/>
        </p:nvSpPr>
        <p:spPr>
          <a:xfrm>
            <a:off x="2373549" y="1226356"/>
            <a:ext cx="9212247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امکان تنظیم جریان جایگزین درصورت بروز خطا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حتما در شرایط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Execute Package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آن را تست نمایید در غیراینصورت خطاهای هندل شده با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Event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قابل بررسی نخواهند بود</a:t>
            </a:r>
            <a:endParaRPr lang="en-US" sz="2000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با تنظیم </a:t>
            </a:r>
            <a:r>
              <a:rPr lang="en-US" sz="2000" dirty="0" err="1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MaximumErrorCount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تعداد دفعات قابل تحمل بروز خطا را میتوان کنترل نمود، عدد 0 یعنی نامحدود</a:t>
            </a:r>
          </a:p>
          <a:p>
            <a:pPr marL="514350" lvl="1" indent="-285750" algn="justLow" rtl="1">
              <a:lnSpc>
                <a:spcPct val="130000"/>
              </a:lnSpc>
              <a:buClr>
                <a:srgbClr val="D6001C"/>
              </a:buClr>
              <a:buSzPct val="150000"/>
              <a:buFont typeface="Arial" panose="020B0604020202020204" pitchFamily="34" charset="0"/>
              <a:buChar char="•"/>
            </a:pP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جهت ممانعت از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Throw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شدن خطا به لایه بالاتر میتوان در بخش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Event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کامپوننت متغیر سیستمی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Propagate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را از مقدار پیش فرض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True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به </a:t>
            </a:r>
            <a:r>
              <a:rPr lang="en-US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False</a:t>
            </a:r>
            <a:r>
              <a:rPr lang="fa-IR" sz="2000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 تغییر داد تا خطاها به لایه بالاتر اعلام نگردد</a:t>
            </a:r>
            <a:endParaRPr lang="fa-IR" sz="2000" dirty="0">
              <a:solidFill>
                <a:srgbClr val="D6001C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2F8C3-5D4B-4E98-B30C-DF21DF18DF9D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F6999-8417-B208-2011-CAF4D941A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" y="4082249"/>
            <a:ext cx="5772956" cy="27340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572699-C192-08C5-140A-13013B5B3DFA}"/>
              </a:ext>
            </a:extLst>
          </p:cNvPr>
          <p:cNvCxnSpPr>
            <a:cxnSpLocks/>
          </p:cNvCxnSpPr>
          <p:nvPr/>
        </p:nvCxnSpPr>
        <p:spPr>
          <a:xfrm flipH="1">
            <a:off x="1899966" y="6392459"/>
            <a:ext cx="286105" cy="320040"/>
          </a:xfrm>
          <a:prstGeom prst="straightConnector1">
            <a:avLst/>
          </a:prstGeom>
          <a:ln w="38100">
            <a:solidFill>
              <a:srgbClr val="D600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62C7DE4-192B-8E22-D453-4B02B4DB7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2" y="2728623"/>
            <a:ext cx="2362530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7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منابع آموزشی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17" name="Picture 16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0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9" name="Picture 18"/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4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1" name="Picture 20"/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7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4" name="Picture 23"/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6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039FD25-C10E-AC82-2B7D-8DE7A7D54578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202534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A30C0C-6AF6-9D03-6A26-C7AABD442BD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7152" r="5418"/>
          <a:stretch/>
        </p:blipFill>
        <p:spPr>
          <a:xfrm>
            <a:off x="9756712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D269F0-F9D6-CA2E-88D0-2B98D5C7A13B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5178415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0C67F7-F242-2C4C-FD55-D94A3CFC3DC9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214871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A55E08-EB95-9631-74E5-DB60F79909CE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20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7E43775-EB95-A706-23FF-7E0082CA0944}"/>
              </a:ext>
            </a:extLst>
          </p:cNvPr>
          <p:cNvPicPr preferRelativeResize="0"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7464289" y="124249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DC9690D-37A1-C8A0-D6EE-EB1245B9FA2F}"/>
              </a:ext>
            </a:extLst>
          </p:cNvPr>
          <p:cNvPicPr preferRelativeResize="0"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9399" y="3778580"/>
            <a:ext cx="1828800" cy="2286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54014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109187-7F04-9E17-224D-851B4A615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5" y="381551"/>
            <a:ext cx="606266" cy="606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EE7D5-8D62-AFC9-5EA6-D625FA2CE85F}"/>
              </a:ext>
            </a:extLst>
          </p:cNvPr>
          <p:cNvSpPr txBox="1"/>
          <p:nvPr/>
        </p:nvSpPr>
        <p:spPr>
          <a:xfrm>
            <a:off x="1440987" y="453851"/>
            <a:ext cx="101448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 rtl="1"/>
            <a:r>
              <a:rPr lang="fa-IR" sz="2700" b="1" dirty="0">
                <a:solidFill>
                  <a:schemeClr val="bg1"/>
                </a:solidFill>
                <a:latin typeface="SG Kara FaNum" pitchFamily="2" charset="-78"/>
                <a:ea typeface="SG Kara FaNum" pitchFamily="2" charset="-78"/>
                <a:cs typeface="SG Kara FaNum" pitchFamily="2" charset="-78"/>
              </a:rPr>
              <a:t>پرسش و پاسخ</a:t>
            </a:r>
            <a:endParaRPr lang="en-US" sz="2700" b="1" dirty="0">
              <a:solidFill>
                <a:schemeClr val="bg1"/>
              </a:solidFill>
              <a:latin typeface="SG Kara FaNum" pitchFamily="2" charset="-78"/>
              <a:ea typeface="SG Kara FaNum" pitchFamily="2" charset="-78"/>
              <a:cs typeface="SG Kara FaNum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5A18D-624B-B2C4-DF92-E8C55F890EEE}"/>
              </a:ext>
            </a:extLst>
          </p:cNvPr>
          <p:cNvSpPr txBox="1"/>
          <p:nvPr/>
        </p:nvSpPr>
        <p:spPr>
          <a:xfrm>
            <a:off x="605235" y="6237288"/>
            <a:ext cx="25635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 dirty="0">
                <a:solidFill>
                  <a:schemeClr val="bg1">
                    <a:lumMod val="75000"/>
                  </a:schemeClr>
                </a:solidFill>
                <a:latin typeface="SG Kara FaNum Light" pitchFamily="2" charset="-78"/>
                <a:ea typeface="SG Kara FaNum Light" pitchFamily="2" charset="-78"/>
                <a:cs typeface="SG Kara FaNum Light" pitchFamily="2" charset="-78"/>
              </a:rPr>
              <a:t>education.systemgroup.net</a:t>
            </a:r>
            <a:endParaRPr lang="en-IR" sz="1200" spc="150" dirty="0">
              <a:solidFill>
                <a:schemeClr val="bg1">
                  <a:lumMod val="75000"/>
                </a:schemeClr>
              </a:solidFill>
              <a:latin typeface="SG Kara FaNum Light" pitchFamily="2" charset="-78"/>
              <a:ea typeface="SG Kara FaNum Light" pitchFamily="2" charset="-78"/>
              <a:cs typeface="SG Kara FaNum Light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b="2500"/>
          <a:stretch/>
        </p:blipFill>
        <p:spPr>
          <a:xfrm>
            <a:off x="4722157" y="2215662"/>
            <a:ext cx="2995397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69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31CB4F-6DE8-507A-5AB0-F9B0AE6514F8}"/>
              </a:ext>
            </a:extLst>
          </p:cNvPr>
          <p:cNvSpPr txBox="1"/>
          <p:nvPr/>
        </p:nvSpPr>
        <p:spPr>
          <a:xfrm>
            <a:off x="2712415" y="3988386"/>
            <a:ext cx="64566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00" dirty="0">
                <a:solidFill>
                  <a:schemeClr val="bg1"/>
                </a:solidFill>
                <a:latin typeface="SG Kara Light" pitchFamily="2" charset="-78"/>
                <a:ea typeface="SG Kara Light" pitchFamily="2" charset="-78"/>
                <a:cs typeface="SG Kara Light" pitchFamily="2" charset="-78"/>
              </a:rPr>
              <a:t>education.systemgroup.net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79DD-E81E-93B4-D9A1-E6992AD3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1" y="2261849"/>
            <a:ext cx="4704696" cy="116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12021</TotalTime>
  <Words>581</Words>
  <Application>Microsoft Office PowerPoint</Application>
  <PresentationFormat>Widescreen</PresentationFormat>
  <Paragraphs>86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SG Kara FaNum</vt:lpstr>
      <vt:lpstr>SG Kara FaNum Light</vt:lpstr>
      <vt:lpstr>SG Kara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Siavash Golchoobian</cp:lastModifiedBy>
  <cp:revision>486</cp:revision>
  <dcterms:created xsi:type="dcterms:W3CDTF">2023-11-29T05:27:09Z</dcterms:created>
  <dcterms:modified xsi:type="dcterms:W3CDTF">2025-05-02T04:31:14Z</dcterms:modified>
</cp:coreProperties>
</file>
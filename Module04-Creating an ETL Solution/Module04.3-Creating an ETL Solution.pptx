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8"/>
  </p:notesMasterIdLst>
  <p:sldIdLst>
    <p:sldId id="277" r:id="rId2"/>
    <p:sldId id="312" r:id="rId3"/>
    <p:sldId id="257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313" r:id="rId15"/>
    <p:sldId id="294" r:id="rId16"/>
    <p:sldId id="28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1" userDrawn="1">
          <p15:clr>
            <a:srgbClr val="A4A3A4"/>
          </p15:clr>
        </p15:guide>
        <p15:guide id="2" pos="7299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380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21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1C"/>
    <a:srgbClr val="ED7843"/>
    <a:srgbClr val="41B2C1"/>
    <a:srgbClr val="3974A9"/>
    <a:srgbClr val="10B5BF"/>
    <a:srgbClr val="A6A6A6"/>
    <a:srgbClr val="000F46"/>
    <a:srgbClr val="1F1C3A"/>
    <a:srgbClr val="28253A"/>
    <a:srgbClr val="020A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85"/>
    <p:restoredTop sz="93149" autoAdjust="0"/>
  </p:normalViewPr>
  <p:slideViewPr>
    <p:cSldViewPr snapToGrid="0" showGuides="1">
      <p:cViewPr varScale="1">
        <p:scale>
          <a:sx n="79" d="100"/>
          <a:sy n="79" d="100"/>
        </p:scale>
        <p:origin x="1037" y="67"/>
      </p:cViewPr>
      <p:guideLst>
        <p:guide pos="381"/>
        <p:guide pos="7299"/>
        <p:guide pos="3840"/>
        <p:guide orient="horz" pos="380"/>
        <p:guide orient="horz" pos="3929"/>
        <p:guide orient="horz" pos="21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2F1E61-3EC5-3B45-BB2A-F2BB00C2748A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33027-8B60-B34C-9BDA-B9F1428615EA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355101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2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33023974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3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5666235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4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752633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5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7660462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6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868013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7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758507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8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683957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9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1830717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10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4195473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11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2751543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12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9219995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33027-8B60-B34C-9BDA-B9F1428615EA}" type="slidenum">
              <a:rPr lang="en-IR" smtClean="0"/>
              <a:t>13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068609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3248019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436259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370389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982290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3490712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05536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420386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1711259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3907405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3804425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214418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217935-F767-D54C-8BD8-1213FC869680}" type="datetimeFigureOut">
              <a:rPr lang="en-IR" smtClean="0"/>
              <a:t>04/25/2025</a:t>
            </a:fld>
            <a:endParaRPr lang="en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37C461-621D-8E43-A15A-4E2665925124}" type="slidenum">
              <a:rPr lang="en-IR" smtClean="0"/>
              <a:t>‹#›</a:t>
            </a:fld>
            <a:endParaRPr lang="en-IR"/>
          </a:p>
        </p:txBody>
      </p:sp>
    </p:spTree>
    <p:extLst>
      <p:ext uri="{BB962C8B-B14F-4D97-AF65-F5344CB8AC3E}">
        <p14:creationId xmlns:p14="http://schemas.microsoft.com/office/powerpoint/2010/main" val="69670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g"/><Relationship Id="rId11" Type="http://schemas.openxmlformats.org/officeDocument/2006/relationships/image" Target="../media/image36.png"/><Relationship Id="rId5" Type="http://schemas.openxmlformats.org/officeDocument/2006/relationships/image" Target="../media/image30.jpeg"/><Relationship Id="rId10" Type="http://schemas.openxmlformats.org/officeDocument/2006/relationships/image" Target="../media/image35.png"/><Relationship Id="rId4" Type="http://schemas.openxmlformats.org/officeDocument/2006/relationships/image" Target="../media/image29.jpg"/><Relationship Id="rId9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C2355F-3C5B-AAE7-805C-4EE255EFB76D}"/>
              </a:ext>
            </a:extLst>
          </p:cNvPr>
          <p:cNvSpPr txBox="1"/>
          <p:nvPr/>
        </p:nvSpPr>
        <p:spPr>
          <a:xfrm>
            <a:off x="2904565" y="1753040"/>
            <a:ext cx="8735719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fa-IR" sz="72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هوش تجاری</a:t>
            </a:r>
          </a:p>
          <a:p>
            <a:pPr marL="0" algn="r" defTabSz="457200" rtl="1" eaLnBrk="1" latinLnBrk="0" hangingPunct="1"/>
            <a:r>
              <a:rPr lang="fa-IR" sz="30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(</a:t>
            </a:r>
            <a:r>
              <a:rPr lang="en-US" sz="30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Enterprise BI</a:t>
            </a:r>
            <a:r>
              <a:rPr lang="fa-IR" sz="30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)</a:t>
            </a:r>
            <a:endParaRPr lang="en-IR" sz="3000" b="1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74B2B2-BB36-37C5-F929-69E2124A8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611" y="4686549"/>
            <a:ext cx="2413552" cy="598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936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109187-7F04-9E17-224D-851B4A615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095A18D-624B-B2C4-DF92-E8C55F890EEE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C40415-4FD1-4385-9485-6A31871611A9}"/>
              </a:ext>
            </a:extLst>
          </p:cNvPr>
          <p:cNvSpPr txBox="1"/>
          <p:nvPr/>
        </p:nvSpPr>
        <p:spPr>
          <a:xfrm>
            <a:off x="1429815" y="705824"/>
            <a:ext cx="101448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457200" rtl="1"/>
            <a:r>
              <a:rPr lang="fa-IR" sz="20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سیاوش گلچوبیان</a:t>
            </a:r>
            <a:endParaRPr lang="en-US" sz="2000" b="1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EDB59-FE39-41C5-903A-851BB19E2FD9}"/>
              </a:ext>
            </a:extLst>
          </p:cNvPr>
          <p:cNvSpPr/>
          <p:nvPr/>
        </p:nvSpPr>
        <p:spPr>
          <a:xfrm>
            <a:off x="5478624" y="1156428"/>
            <a:ext cx="6096000" cy="916405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14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سرپرست واحد هوش تجاری و پایگاه داده شرکت سایپا</a:t>
            </a:r>
          </a:p>
          <a:p>
            <a:pPr marL="285750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14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موسس تیم مشاور پایگاه داده </a:t>
            </a:r>
            <a:r>
              <a:rPr lang="en-US" sz="14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SqlDeep</a:t>
            </a:r>
          </a:p>
          <a:p>
            <a:pPr marL="285750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14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مدیر طراحی فریم‌ورک هوش تجاری </a:t>
            </a:r>
            <a:r>
              <a:rPr lang="en-US" sz="14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Razan</a:t>
            </a:r>
            <a:endParaRPr lang="fa-IR" sz="14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D947E7-886A-1C01-FA26-E1ECB11BBDB1}"/>
              </a:ext>
            </a:extLst>
          </p:cNvPr>
          <p:cNvGrpSpPr/>
          <p:nvPr/>
        </p:nvGrpSpPr>
        <p:grpSpPr>
          <a:xfrm>
            <a:off x="2184873" y="904297"/>
            <a:ext cx="1343060" cy="1372257"/>
            <a:chOff x="2184873" y="2633345"/>
            <a:chExt cx="1343060" cy="137225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ED7A2B-46AC-47E7-B3E6-A8E532E397BA}"/>
                </a:ext>
              </a:extLst>
            </p:cNvPr>
            <p:cNvSpPr/>
            <p:nvPr/>
          </p:nvSpPr>
          <p:spPr>
            <a:xfrm>
              <a:off x="2201927" y="2676582"/>
              <a:ext cx="1322773" cy="13127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509C3FE-ACDD-41FE-88B2-4D7B84034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84873" y="2633345"/>
              <a:ext cx="1343060" cy="13722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8938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مطالب این جلسه</a:t>
            </a:r>
            <a:endParaRPr lang="en-US" sz="2700" b="1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5209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در انتهای این جلسه انتظار میرود با استفاده از کامپوننت های زیر و با حفظ نظافت بصری و قواعد نامگذاری بتوانید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Pipeline</a:t>
            </a: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های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ETL</a:t>
            </a: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کاملی را طراحی کنید</a:t>
            </a:r>
          </a:p>
          <a:p>
            <a:pPr marL="228600" lvl="1" algn="justLow" rtl="1">
              <a:lnSpc>
                <a:spcPct val="130000"/>
              </a:lnSpc>
              <a:buClr>
                <a:srgbClr val="D6001C"/>
              </a:buClr>
              <a:buSzPct val="150000"/>
            </a:pP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نظافت بصری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Merge Join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Sort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Multiple Hash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Conditional Split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Derived Column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Union All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Data Conversion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Balanced Data Distributor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OLE DB Command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46003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Merge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1669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MRGJ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قابل استفاده در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Data Flow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تناظر دادن دو مجموعه رکورد با یکدیگر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لزوم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Sort</a:t>
            </a: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بودن اطلاعات بر اساس کلید تناظر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A61FEB-F2F6-246E-9571-15A9E8456F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515" y="453851"/>
            <a:ext cx="476316" cy="400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8CFE7D-9F86-2450-3FC8-DFAEFE09E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235" y="1049222"/>
            <a:ext cx="5276576" cy="51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100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Sort</a:t>
            </a:r>
            <a:r>
              <a:rPr lang="fa-IR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با استفاده از </a:t>
            </a:r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Query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استفاده از قابلیت های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RDBMS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A32900-769D-D3B9-3123-0D1DFBF7676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3339"/>
          <a:stretch/>
        </p:blipFill>
        <p:spPr>
          <a:xfrm>
            <a:off x="1385265" y="422079"/>
            <a:ext cx="3861384" cy="34646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FF3350-60BC-1ED4-6B4F-7D4309E0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172" y="1695715"/>
            <a:ext cx="5811551" cy="50240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2C795E-3AE5-F1F2-0F13-CDBE1C2E91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481" y="4131111"/>
            <a:ext cx="5811552" cy="2496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2E94748E-DFE6-CE5B-6D09-73945B5C7865}"/>
              </a:ext>
            </a:extLst>
          </p:cNvPr>
          <p:cNvSpPr/>
          <p:nvPr/>
        </p:nvSpPr>
        <p:spPr>
          <a:xfrm>
            <a:off x="1517488" y="1877609"/>
            <a:ext cx="457200" cy="457200"/>
          </a:xfrm>
          <a:custGeom>
            <a:avLst/>
            <a:gdLst>
              <a:gd name="connsiteX0" fmla="*/ 0 w 457200"/>
              <a:gd name="connsiteY0" fmla="*/ 228600 h 457200"/>
              <a:gd name="connsiteX1" fmla="*/ 228600 w 457200"/>
              <a:gd name="connsiteY1" fmla="*/ 0 h 457200"/>
              <a:gd name="connsiteX2" fmla="*/ 457200 w 457200"/>
              <a:gd name="connsiteY2" fmla="*/ 228600 h 457200"/>
              <a:gd name="connsiteX3" fmla="*/ 228600 w 457200"/>
              <a:gd name="connsiteY3" fmla="*/ 457200 h 457200"/>
              <a:gd name="connsiteX4" fmla="*/ 0 w 457200"/>
              <a:gd name="connsiteY4" fmla="*/ 2286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" h="457200" extrusionOk="0">
                <a:moveTo>
                  <a:pt x="0" y="228600"/>
                </a:moveTo>
                <a:cubicBezTo>
                  <a:pt x="-16643" y="103950"/>
                  <a:pt x="106381" y="35190"/>
                  <a:pt x="228600" y="0"/>
                </a:cubicBezTo>
                <a:cubicBezTo>
                  <a:pt x="341984" y="24615"/>
                  <a:pt x="448077" y="107065"/>
                  <a:pt x="457200" y="228600"/>
                </a:cubicBezTo>
                <a:cubicBezTo>
                  <a:pt x="458285" y="350095"/>
                  <a:pt x="334624" y="480045"/>
                  <a:pt x="228600" y="457200"/>
                </a:cubicBezTo>
                <a:cubicBezTo>
                  <a:pt x="100744" y="462206"/>
                  <a:pt x="-15052" y="380638"/>
                  <a:pt x="0" y="228600"/>
                </a:cubicBezTo>
                <a:close/>
              </a:path>
            </a:pathLst>
          </a:custGeom>
          <a:noFill/>
          <a:ln w="28575">
            <a:solidFill>
              <a:srgbClr val="D6001C"/>
            </a:solidFill>
            <a:extLst>
              <a:ext uri="{C807C97D-BFC1-408E-A445-0C87EB9F89A2}">
                <ask:lineSketchStyleProps xmlns:ask="http://schemas.microsoft.com/office/drawing/2018/sketchyshapes" sd="285666640">
                  <a:prstGeom prst="flowChartConnector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D6001C"/>
                </a:solidFill>
              </a:rPr>
              <a:t>1</a:t>
            </a:r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D5D9DA53-55B1-E616-E033-AB9B375710F0}"/>
              </a:ext>
            </a:extLst>
          </p:cNvPr>
          <p:cNvSpPr/>
          <p:nvPr/>
        </p:nvSpPr>
        <p:spPr>
          <a:xfrm>
            <a:off x="7812033" y="3658178"/>
            <a:ext cx="457200" cy="457200"/>
          </a:xfrm>
          <a:custGeom>
            <a:avLst/>
            <a:gdLst>
              <a:gd name="connsiteX0" fmla="*/ 0 w 457200"/>
              <a:gd name="connsiteY0" fmla="*/ 228600 h 457200"/>
              <a:gd name="connsiteX1" fmla="*/ 228600 w 457200"/>
              <a:gd name="connsiteY1" fmla="*/ 0 h 457200"/>
              <a:gd name="connsiteX2" fmla="*/ 457200 w 457200"/>
              <a:gd name="connsiteY2" fmla="*/ 228600 h 457200"/>
              <a:gd name="connsiteX3" fmla="*/ 228600 w 457200"/>
              <a:gd name="connsiteY3" fmla="*/ 457200 h 457200"/>
              <a:gd name="connsiteX4" fmla="*/ 0 w 457200"/>
              <a:gd name="connsiteY4" fmla="*/ 2286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" h="457200" extrusionOk="0">
                <a:moveTo>
                  <a:pt x="0" y="228600"/>
                </a:moveTo>
                <a:cubicBezTo>
                  <a:pt x="-16643" y="103950"/>
                  <a:pt x="106381" y="35190"/>
                  <a:pt x="228600" y="0"/>
                </a:cubicBezTo>
                <a:cubicBezTo>
                  <a:pt x="341984" y="24615"/>
                  <a:pt x="448077" y="107065"/>
                  <a:pt x="457200" y="228600"/>
                </a:cubicBezTo>
                <a:cubicBezTo>
                  <a:pt x="458285" y="350095"/>
                  <a:pt x="334624" y="480045"/>
                  <a:pt x="228600" y="457200"/>
                </a:cubicBezTo>
                <a:cubicBezTo>
                  <a:pt x="100744" y="462206"/>
                  <a:pt x="-15052" y="380638"/>
                  <a:pt x="0" y="228600"/>
                </a:cubicBezTo>
                <a:close/>
              </a:path>
            </a:pathLst>
          </a:custGeom>
          <a:noFill/>
          <a:ln w="28575">
            <a:solidFill>
              <a:srgbClr val="D6001C"/>
            </a:solidFill>
            <a:extLst>
              <a:ext uri="{C807C97D-BFC1-408E-A445-0C87EB9F89A2}">
                <ask:lineSketchStyleProps xmlns:ask="http://schemas.microsoft.com/office/drawing/2018/sketchyshapes" sd="285666640">
                  <a:prstGeom prst="flowChartConnector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D6001C"/>
                </a:solidFill>
              </a:rPr>
              <a:t>2</a:t>
            </a:r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D5E18C53-6415-9DA2-AE48-589E0BE64EB3}"/>
              </a:ext>
            </a:extLst>
          </p:cNvPr>
          <p:cNvSpPr/>
          <p:nvPr/>
        </p:nvSpPr>
        <p:spPr>
          <a:xfrm>
            <a:off x="3072594" y="4773282"/>
            <a:ext cx="457200" cy="457200"/>
          </a:xfrm>
          <a:custGeom>
            <a:avLst/>
            <a:gdLst>
              <a:gd name="connsiteX0" fmla="*/ 0 w 457200"/>
              <a:gd name="connsiteY0" fmla="*/ 228600 h 457200"/>
              <a:gd name="connsiteX1" fmla="*/ 228600 w 457200"/>
              <a:gd name="connsiteY1" fmla="*/ 0 h 457200"/>
              <a:gd name="connsiteX2" fmla="*/ 457200 w 457200"/>
              <a:gd name="connsiteY2" fmla="*/ 228600 h 457200"/>
              <a:gd name="connsiteX3" fmla="*/ 228600 w 457200"/>
              <a:gd name="connsiteY3" fmla="*/ 457200 h 457200"/>
              <a:gd name="connsiteX4" fmla="*/ 0 w 457200"/>
              <a:gd name="connsiteY4" fmla="*/ 2286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" h="457200" extrusionOk="0">
                <a:moveTo>
                  <a:pt x="0" y="228600"/>
                </a:moveTo>
                <a:cubicBezTo>
                  <a:pt x="-16643" y="103950"/>
                  <a:pt x="106381" y="35190"/>
                  <a:pt x="228600" y="0"/>
                </a:cubicBezTo>
                <a:cubicBezTo>
                  <a:pt x="341984" y="24615"/>
                  <a:pt x="448077" y="107065"/>
                  <a:pt x="457200" y="228600"/>
                </a:cubicBezTo>
                <a:cubicBezTo>
                  <a:pt x="458285" y="350095"/>
                  <a:pt x="334624" y="480045"/>
                  <a:pt x="228600" y="457200"/>
                </a:cubicBezTo>
                <a:cubicBezTo>
                  <a:pt x="100744" y="462206"/>
                  <a:pt x="-15052" y="380638"/>
                  <a:pt x="0" y="228600"/>
                </a:cubicBezTo>
                <a:close/>
              </a:path>
            </a:pathLst>
          </a:custGeom>
          <a:noFill/>
          <a:ln w="28575">
            <a:solidFill>
              <a:srgbClr val="D6001C"/>
            </a:solidFill>
            <a:extLst>
              <a:ext uri="{C807C97D-BFC1-408E-A445-0C87EB9F89A2}">
                <ask:lineSketchStyleProps xmlns:ask="http://schemas.microsoft.com/office/drawing/2018/sketchyshapes" sd="285666640">
                  <a:prstGeom prst="flowChartConnector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D6001C"/>
                </a:solidFill>
              </a:rPr>
              <a:t>3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1C1593-50B1-0115-C735-848F1C71E942}"/>
              </a:ext>
            </a:extLst>
          </p:cNvPr>
          <p:cNvCxnSpPr>
            <a:cxnSpLocks/>
          </p:cNvCxnSpPr>
          <p:nvPr/>
        </p:nvCxnSpPr>
        <p:spPr>
          <a:xfrm>
            <a:off x="8269233" y="4115378"/>
            <a:ext cx="1020681" cy="1264018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2BB441-8166-DF7E-011C-B182CEBE0331}"/>
              </a:ext>
            </a:extLst>
          </p:cNvPr>
          <p:cNvCxnSpPr>
            <a:cxnSpLocks/>
          </p:cNvCxnSpPr>
          <p:nvPr/>
        </p:nvCxnSpPr>
        <p:spPr>
          <a:xfrm>
            <a:off x="1937590" y="2311707"/>
            <a:ext cx="1020681" cy="1264018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0C8BE93-5FBE-69D9-9630-453C258BC05D}"/>
              </a:ext>
            </a:extLst>
          </p:cNvPr>
          <p:cNvCxnSpPr>
            <a:cxnSpLocks/>
          </p:cNvCxnSpPr>
          <p:nvPr/>
        </p:nvCxnSpPr>
        <p:spPr>
          <a:xfrm>
            <a:off x="3485511" y="5246215"/>
            <a:ext cx="1020681" cy="1264018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76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Sort</a:t>
            </a:r>
            <a:r>
              <a:rPr lang="fa-IR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با استفاده از </a:t>
            </a:r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SRT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هزینه بالا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C22027-0CEA-4616-79A1-AE5D37D72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7208" y="877853"/>
            <a:ext cx="6242541" cy="5374956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2BB441-8166-DF7E-011C-B182CEBE0331}"/>
              </a:ext>
            </a:extLst>
          </p:cNvPr>
          <p:cNvCxnSpPr>
            <a:cxnSpLocks/>
          </p:cNvCxnSpPr>
          <p:nvPr/>
        </p:nvCxnSpPr>
        <p:spPr>
          <a:xfrm flipH="1">
            <a:off x="1547755" y="5321871"/>
            <a:ext cx="164309" cy="628422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62A041E-15C5-F2A5-301B-E28CE46FF06E}"/>
              </a:ext>
            </a:extLst>
          </p:cNvPr>
          <p:cNvCxnSpPr>
            <a:cxnSpLocks/>
          </p:cNvCxnSpPr>
          <p:nvPr/>
        </p:nvCxnSpPr>
        <p:spPr>
          <a:xfrm flipH="1">
            <a:off x="5870700" y="3414093"/>
            <a:ext cx="164309" cy="628422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0EB3AFCD-E1AE-6C7E-7674-EFDDA85CA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5233" y="443806"/>
            <a:ext cx="476316" cy="41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492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Multiple Hash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1669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MLH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ساخت مقدار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Hash</a:t>
            </a: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از فیلدهای ورودی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مناسب جهت تشخیص اطلاعات تغییر یافته</a:t>
            </a: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نیاز به نصب دارد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1DE131-8C3C-6DC0-85DC-D4416A81C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1326" y="450992"/>
            <a:ext cx="400106" cy="428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033531-AE86-CBE4-69C2-843E584E9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235" y="1252491"/>
            <a:ext cx="3181794" cy="2419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7812EE-8EB1-329B-B2A5-6BA9B3999B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368" y="3994098"/>
            <a:ext cx="10564699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92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Conditional Split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CSPL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منشعب کردن جریان داده بر اساس شرایط متنوع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6A360-4BD0-97CE-9DDD-C657EAB49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002" y="465578"/>
            <a:ext cx="457264" cy="4382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6D38B6-2312-A480-7F3D-D6C401C7B1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271" y="1043314"/>
            <a:ext cx="4904690" cy="51939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6438-F5BF-2984-4ABD-F0DB73CFC0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210" y="4670308"/>
            <a:ext cx="4020111" cy="1571844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DB7336-98B8-3D7F-5646-0ED778CDE79B}"/>
              </a:ext>
            </a:extLst>
          </p:cNvPr>
          <p:cNvCxnSpPr>
            <a:cxnSpLocks/>
          </p:cNvCxnSpPr>
          <p:nvPr/>
        </p:nvCxnSpPr>
        <p:spPr>
          <a:xfrm flipH="1" flipV="1">
            <a:off x="5649791" y="2947481"/>
            <a:ext cx="2083698" cy="1814695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116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Derived Column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DER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ایجاد فیلد جدید در جریان داده یا تغییر مقدار فیلد های موجود در جریان داده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D261E7-2EC6-B8FD-174E-1668C2F3D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235" y="2171238"/>
            <a:ext cx="9073786" cy="39820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C56B84-B965-51F6-9A39-14D5C8678C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223" y="494157"/>
            <a:ext cx="400106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2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Union All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1269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ALL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تجمیع عمودی چند جریان داده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نوع داده سطرها باید یکسان باشد</a:t>
            </a:r>
            <a:endParaRPr lang="fa-IR" sz="2000" dirty="0">
              <a:solidFill>
                <a:srgbClr val="D6001C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723C44-5943-6C09-DCCE-71E4DF08E5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863" y="448882"/>
            <a:ext cx="419158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9A71AD-E93A-FC25-9354-3BA2B33C27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6996" y="2950542"/>
            <a:ext cx="7925906" cy="25911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B0D917-1342-761A-90C3-DB495B10D131}"/>
              </a:ext>
            </a:extLst>
          </p:cNvPr>
          <p:cNvSpPr txBox="1"/>
          <p:nvPr/>
        </p:nvSpPr>
        <p:spPr>
          <a:xfrm>
            <a:off x="1951327" y="3892172"/>
            <a:ext cx="2212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solidFill>
                  <a:srgbClr val="D6001C"/>
                </a:solidFill>
                <a:latin typeface="SG Kara" panose="00000500000000000000" pitchFamily="2" charset="-78"/>
                <a:ea typeface="SG Kara" panose="00000500000000000000" pitchFamily="2" charset="-78"/>
                <a:cs typeface="SG Kara" panose="00000500000000000000" pitchFamily="2" charset="-78"/>
              </a:rPr>
              <a:t>نام ستون در خروجی</a:t>
            </a:r>
            <a:endParaRPr lang="en-US" dirty="0">
              <a:solidFill>
                <a:srgbClr val="D6001C"/>
              </a:solidFill>
              <a:latin typeface="SG Kara" panose="00000500000000000000" pitchFamily="2" charset="-78"/>
              <a:ea typeface="SG Kara" panose="00000500000000000000" pitchFamily="2" charset="-78"/>
              <a:cs typeface="SG Kara" panose="00000500000000000000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86237B-C801-E3C1-390A-F44220B3C5B0}"/>
              </a:ext>
            </a:extLst>
          </p:cNvPr>
          <p:cNvSpPr txBox="1"/>
          <p:nvPr/>
        </p:nvSpPr>
        <p:spPr>
          <a:xfrm>
            <a:off x="4477276" y="3599792"/>
            <a:ext cx="22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dirty="0">
                <a:solidFill>
                  <a:srgbClr val="D6001C"/>
                </a:solidFill>
                <a:latin typeface="SG Kara" panose="00000500000000000000" pitchFamily="2" charset="-78"/>
                <a:ea typeface="SG Kara" panose="00000500000000000000" pitchFamily="2" charset="-78"/>
                <a:cs typeface="SG Kara" panose="00000500000000000000" pitchFamily="2" charset="-78"/>
              </a:rPr>
              <a:t>نام ستون از جریان داده اول</a:t>
            </a:r>
            <a:endParaRPr lang="en-US" dirty="0">
              <a:solidFill>
                <a:srgbClr val="D6001C"/>
              </a:solidFill>
              <a:latin typeface="SG Kara" panose="00000500000000000000" pitchFamily="2" charset="-78"/>
              <a:ea typeface="SG Kara" panose="00000500000000000000" pitchFamily="2" charset="-78"/>
              <a:cs typeface="SG Kara" panose="00000500000000000000" pitchFamily="2" charset="-7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75E3C5-381C-A271-726E-2FD954A95B05}"/>
              </a:ext>
            </a:extLst>
          </p:cNvPr>
          <p:cNvSpPr txBox="1"/>
          <p:nvPr/>
        </p:nvSpPr>
        <p:spPr>
          <a:xfrm>
            <a:off x="7145089" y="3615173"/>
            <a:ext cx="22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dirty="0">
                <a:solidFill>
                  <a:srgbClr val="D6001C"/>
                </a:solidFill>
                <a:latin typeface="SG Kara" panose="00000500000000000000" pitchFamily="2" charset="-78"/>
                <a:ea typeface="SG Kara" panose="00000500000000000000" pitchFamily="2" charset="-78"/>
                <a:cs typeface="SG Kara" panose="00000500000000000000" pitchFamily="2" charset="-78"/>
              </a:rPr>
              <a:t>نام ستون متناظر از جریان داده دوم</a:t>
            </a:r>
            <a:endParaRPr lang="en-US" dirty="0">
              <a:solidFill>
                <a:srgbClr val="D6001C"/>
              </a:solidFill>
              <a:latin typeface="SG Kara" panose="00000500000000000000" pitchFamily="2" charset="-78"/>
              <a:ea typeface="SG Kara" panose="00000500000000000000" pitchFamily="2" charset="-78"/>
              <a:cs typeface="SG Kara" panose="000005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17105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79CC17D-3DDC-035F-14A9-213349D69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120" y="2057532"/>
            <a:ext cx="7610306" cy="403362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Data Conversion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DCNV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تغییر نوع داده یک فیلد در جریان اطلاعات و ایجاد فیلدی جدید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B0D917-1342-761A-90C3-DB495B10D131}"/>
              </a:ext>
            </a:extLst>
          </p:cNvPr>
          <p:cNvSpPr txBox="1"/>
          <p:nvPr/>
        </p:nvSpPr>
        <p:spPr>
          <a:xfrm>
            <a:off x="1261488" y="3343037"/>
            <a:ext cx="1737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solidFill>
                  <a:srgbClr val="D6001C"/>
                </a:solidFill>
                <a:latin typeface="SG Kara" panose="00000500000000000000" pitchFamily="2" charset="-78"/>
                <a:ea typeface="SG Kara" panose="00000500000000000000" pitchFamily="2" charset="-78"/>
                <a:cs typeface="SG Kara" panose="00000500000000000000" pitchFamily="2" charset="-78"/>
              </a:rPr>
              <a:t>نام ستون جدید در خروجی</a:t>
            </a:r>
            <a:endParaRPr lang="en-US" dirty="0">
              <a:solidFill>
                <a:srgbClr val="D6001C"/>
              </a:solidFill>
              <a:latin typeface="SG Kara" panose="00000500000000000000" pitchFamily="2" charset="-78"/>
              <a:ea typeface="SG Kara" panose="00000500000000000000" pitchFamily="2" charset="-78"/>
              <a:cs typeface="SG Kara" panose="00000500000000000000" pitchFamily="2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86237B-C801-E3C1-390A-F44220B3C5B0}"/>
              </a:ext>
            </a:extLst>
          </p:cNvPr>
          <p:cNvSpPr txBox="1"/>
          <p:nvPr/>
        </p:nvSpPr>
        <p:spPr>
          <a:xfrm>
            <a:off x="4477276" y="3599792"/>
            <a:ext cx="2212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dirty="0">
                <a:solidFill>
                  <a:srgbClr val="D6001C"/>
                </a:solidFill>
                <a:latin typeface="SG Kara" panose="00000500000000000000" pitchFamily="2" charset="-78"/>
                <a:ea typeface="SG Kara" panose="00000500000000000000" pitchFamily="2" charset="-78"/>
                <a:cs typeface="SG Kara" panose="00000500000000000000" pitchFamily="2" charset="-78"/>
              </a:rPr>
              <a:t>نوع داده جدید</a:t>
            </a:r>
            <a:endParaRPr lang="en-US" dirty="0">
              <a:solidFill>
                <a:srgbClr val="D6001C"/>
              </a:solidFill>
              <a:latin typeface="SG Kara" panose="00000500000000000000" pitchFamily="2" charset="-78"/>
              <a:ea typeface="SG Kara" panose="00000500000000000000" pitchFamily="2" charset="-78"/>
              <a:cs typeface="SG Kara" panose="00000500000000000000" pitchFamily="2" charset="-7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75E3C5-381C-A271-726E-2FD954A95B05}"/>
              </a:ext>
            </a:extLst>
          </p:cNvPr>
          <p:cNvSpPr txBox="1"/>
          <p:nvPr/>
        </p:nvSpPr>
        <p:spPr>
          <a:xfrm>
            <a:off x="334931" y="5103145"/>
            <a:ext cx="2212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dirty="0">
                <a:solidFill>
                  <a:srgbClr val="D6001C"/>
                </a:solidFill>
                <a:latin typeface="SG Kara" panose="00000500000000000000" pitchFamily="2" charset="-78"/>
                <a:ea typeface="SG Kara" panose="00000500000000000000" pitchFamily="2" charset="-78"/>
                <a:cs typeface="SG Kara" panose="00000500000000000000" pitchFamily="2" charset="-78"/>
              </a:rPr>
              <a:t>ستون جاری</a:t>
            </a:r>
            <a:endParaRPr lang="en-US" dirty="0">
              <a:solidFill>
                <a:srgbClr val="D6001C"/>
              </a:solidFill>
              <a:latin typeface="SG Kara" panose="00000500000000000000" pitchFamily="2" charset="-78"/>
              <a:ea typeface="SG Kara" panose="00000500000000000000" pitchFamily="2" charset="-78"/>
              <a:cs typeface="SG Kara" panose="00000500000000000000" pitchFamily="2" charset="-7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E348DA-0947-6A89-B2FF-EF3D8FDE79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438" y="474883"/>
            <a:ext cx="438211" cy="419158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15FA85-37B7-DB8C-EBB8-BA06E395BD46}"/>
              </a:ext>
            </a:extLst>
          </p:cNvPr>
          <p:cNvCxnSpPr>
            <a:cxnSpLocks/>
          </p:cNvCxnSpPr>
          <p:nvPr/>
        </p:nvCxnSpPr>
        <p:spPr>
          <a:xfrm>
            <a:off x="2130358" y="3989368"/>
            <a:ext cx="510340" cy="1348992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D429A3E-D0B4-053C-5B2E-EDBD04170471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4732446" y="3969124"/>
            <a:ext cx="850886" cy="1418399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565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Balanced Data Distributor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BDD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توزیع متوازن داده جهت اجرای همزمان کار بر روی جریان اطلاعات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CF3431-9C7F-1993-B7E6-68F86B947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3391" y="453851"/>
            <a:ext cx="438211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36A266-8CDD-DB39-C348-089A0E28B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4232" y="3092362"/>
            <a:ext cx="6163535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073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6560C2-32BF-AE6C-1425-B03910473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4E0931-CF0A-969A-1AF2-3DA0215E0D7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OLE DB Command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11142-709D-BF72-795F-276DC23282DD}"/>
              </a:ext>
            </a:extLst>
          </p:cNvPr>
          <p:cNvSpPr txBox="1"/>
          <p:nvPr/>
        </p:nvSpPr>
        <p:spPr>
          <a:xfrm>
            <a:off x="698579" y="1226356"/>
            <a:ext cx="10887217" cy="1269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مخفف: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CMD</a:t>
            </a:r>
            <a:endParaRPr lang="fa-IR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اجرای 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SQL Statement</a:t>
            </a: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 در جریان داده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  <a:p>
            <a:pPr marL="514350" lvl="1" indent="-285750" algn="justLow" rtl="1">
              <a:lnSpc>
                <a:spcPct val="130000"/>
              </a:lnSpc>
              <a:buClr>
                <a:srgbClr val="D6001C"/>
              </a:buClr>
              <a:buSzPct val="150000"/>
              <a:buFont typeface="Arial" panose="020B0604020202020204" pitchFamily="34" charset="0"/>
              <a:buChar char="•"/>
            </a:pP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کندی در اجرا (</a:t>
            </a:r>
            <a:r>
              <a:rPr lang="en-US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Row by Row</a:t>
            </a:r>
            <a:r>
              <a:rPr lang="fa-IR" sz="2000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)</a:t>
            </a:r>
            <a:endParaRPr lang="en-US" sz="2000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92F8C3-5D4B-4E98-B30C-DF21DF18DF9D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C738B3-738C-9D38-9669-51BAFF076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5970" y="453851"/>
            <a:ext cx="390580" cy="4191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201A0B-D2EB-4695-4313-993E928D8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959" y="2770346"/>
            <a:ext cx="1552792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2F089E4-3462-04EA-BF39-D4D05BF0A23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1F1F1F"/>
              </a:clrFrom>
              <a:clrTo>
                <a:srgbClr val="1F1F1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4009" y="1490861"/>
            <a:ext cx="7402423" cy="474642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AB26FE-3A57-1C18-4506-CD2BA2EBFE89}"/>
              </a:ext>
            </a:extLst>
          </p:cNvPr>
          <p:cNvCxnSpPr>
            <a:cxnSpLocks/>
          </p:cNvCxnSpPr>
          <p:nvPr/>
        </p:nvCxnSpPr>
        <p:spPr>
          <a:xfrm flipH="1" flipV="1">
            <a:off x="5787957" y="2344366"/>
            <a:ext cx="1507443" cy="654612"/>
          </a:xfrm>
          <a:prstGeom prst="straightConnector1">
            <a:avLst/>
          </a:prstGeom>
          <a:ln w="38100">
            <a:solidFill>
              <a:srgbClr val="D600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229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109187-7F04-9E17-224D-851B4A615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2EE7D5-8D62-AFC9-5EA6-D625FA2CE85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457200" rtl="1"/>
            <a:r>
              <a:rPr lang="fa-IR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منابع آموزشی</a:t>
            </a:r>
            <a:endParaRPr lang="en-US" sz="2700" b="1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95A18D-624B-B2C4-DF92-E8C55F890EEE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17" name="Picture 16"/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15820" y="124249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19" name="Picture 18"/>
          <p:cNvPicPr preferRelativeResize="0"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2042" y="124249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21" name="Picture 20"/>
          <p:cNvPicPr preferRelativeResize="0"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07" y="377858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24" name="Picture 23"/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671" y="377858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039FD25-C10E-AC82-2B7D-8DE7A7D54578}"/>
              </a:ext>
            </a:extLst>
          </p:cNvPr>
          <p:cNvPicPr preferRelativeResize="0"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4202534" y="377858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FA30C0C-6AF6-9D03-6A26-C7AABD442BDA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/>
          <a:srcRect l="7152" r="5418"/>
          <a:stretch/>
        </p:blipFill>
        <p:spPr>
          <a:xfrm>
            <a:off x="9756712" y="124249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BD269F0-F9D6-CA2E-88D0-2B98D5C7A13B}"/>
              </a:ext>
            </a:extLst>
          </p:cNvPr>
          <p:cNvPicPr preferRelativeResize="0"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5178415" y="124249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60C67F7-F242-2C4C-FD55-D94A3CFC3DC9}"/>
              </a:ext>
            </a:extLst>
          </p:cNvPr>
          <p:cNvPicPr preferRelativeResize="0"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14871" y="377858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7A55E08-EB95-9631-74E5-DB60F79909CE}"/>
              </a:ext>
            </a:extLst>
          </p:cNvPr>
          <p:cNvPicPr preferRelativeResize="0"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204220" y="377858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7E43775-EB95-A706-23FF-7E0082CA0944}"/>
              </a:ext>
            </a:extLst>
          </p:cNvPr>
          <p:cNvPicPr preferRelativeResize="0"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7464289" y="124249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DC9690D-37A1-C8A0-D6EE-EB1245B9FA2F}"/>
              </a:ext>
            </a:extLst>
          </p:cNvPr>
          <p:cNvPicPr preferRelativeResize="0"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10219399" y="3778580"/>
            <a:ext cx="1828800" cy="2286000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54014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109187-7F04-9E17-224D-851B4A615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235" y="381551"/>
            <a:ext cx="606266" cy="6062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2EE7D5-8D62-AFC9-5EA6-D625FA2CE85F}"/>
              </a:ext>
            </a:extLst>
          </p:cNvPr>
          <p:cNvSpPr txBox="1"/>
          <p:nvPr/>
        </p:nvSpPr>
        <p:spPr>
          <a:xfrm>
            <a:off x="1440987" y="453851"/>
            <a:ext cx="1014480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457200" rtl="1"/>
            <a:r>
              <a:rPr lang="fa-IR" sz="2700" b="1" dirty="0">
                <a:solidFill>
                  <a:schemeClr val="bg1"/>
                </a:solidFill>
                <a:latin typeface="SG Kara FaNum" pitchFamily="2" charset="-78"/>
                <a:ea typeface="SG Kara FaNum" pitchFamily="2" charset="-78"/>
                <a:cs typeface="SG Kara FaNum" pitchFamily="2" charset="-78"/>
              </a:rPr>
              <a:t>پرسش و پاسخ</a:t>
            </a:r>
            <a:endParaRPr lang="en-US" sz="2700" b="1" dirty="0">
              <a:solidFill>
                <a:schemeClr val="bg1"/>
              </a:solidFill>
              <a:latin typeface="SG Kara FaNum" pitchFamily="2" charset="-78"/>
              <a:ea typeface="SG Kara FaNum" pitchFamily="2" charset="-78"/>
              <a:cs typeface="SG Kara FaNum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95A18D-624B-B2C4-DF92-E8C55F890EEE}"/>
              </a:ext>
            </a:extLst>
          </p:cNvPr>
          <p:cNvSpPr txBox="1"/>
          <p:nvPr/>
        </p:nvSpPr>
        <p:spPr>
          <a:xfrm>
            <a:off x="605235" y="6237288"/>
            <a:ext cx="2563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spc="150" dirty="0">
                <a:solidFill>
                  <a:schemeClr val="bg1">
                    <a:lumMod val="75000"/>
                  </a:schemeClr>
                </a:solidFill>
                <a:latin typeface="SG Kara FaNum Light" pitchFamily="2" charset="-78"/>
                <a:ea typeface="SG Kara FaNum Light" pitchFamily="2" charset="-78"/>
                <a:cs typeface="SG Kara FaNum Light" pitchFamily="2" charset="-78"/>
              </a:rPr>
              <a:t>education.systemgroup.net</a:t>
            </a:r>
            <a:endParaRPr lang="en-IR" sz="1200" spc="150" dirty="0">
              <a:solidFill>
                <a:schemeClr val="bg1">
                  <a:lumMod val="75000"/>
                </a:schemeClr>
              </a:solidFill>
              <a:latin typeface="SG Kara FaNum Light" pitchFamily="2" charset="-78"/>
              <a:ea typeface="SG Kara FaNum Light" pitchFamily="2" charset="-78"/>
              <a:cs typeface="SG Kara FaNum Light" pitchFamily="2" charset="-7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 b="2500"/>
          <a:stretch/>
        </p:blipFill>
        <p:spPr>
          <a:xfrm>
            <a:off x="4722157" y="2215662"/>
            <a:ext cx="2995397" cy="270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269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31CB4F-6DE8-507A-5AB0-F9B0AE6514F8}"/>
              </a:ext>
            </a:extLst>
          </p:cNvPr>
          <p:cNvSpPr txBox="1"/>
          <p:nvPr/>
        </p:nvSpPr>
        <p:spPr>
          <a:xfrm>
            <a:off x="2712415" y="3988386"/>
            <a:ext cx="64566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spc="600" dirty="0">
                <a:solidFill>
                  <a:schemeClr val="bg1"/>
                </a:solidFill>
                <a:latin typeface="SG Kara Light" pitchFamily="2" charset="-78"/>
                <a:ea typeface="SG Kara Light" pitchFamily="2" charset="-78"/>
                <a:cs typeface="SG Kara Light" pitchFamily="2" charset="-78"/>
              </a:rPr>
              <a:t>education.systemgroup.net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4679DD-E81E-93B4-D9A1-E6992AD31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411" y="2261849"/>
            <a:ext cx="4704696" cy="1167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86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8654</TotalTime>
  <Words>372</Words>
  <Application>Microsoft Office PowerPoint</Application>
  <PresentationFormat>Widescreen</PresentationFormat>
  <Paragraphs>92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Calibri Light</vt:lpstr>
      <vt:lpstr>SG Kara</vt:lpstr>
      <vt:lpstr>SG Kara FaNum</vt:lpstr>
      <vt:lpstr>SG Kara FaNum Light</vt:lpstr>
      <vt:lpstr>SG Kara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Siavash Golchoobian</cp:lastModifiedBy>
  <cp:revision>443</cp:revision>
  <dcterms:created xsi:type="dcterms:W3CDTF">2023-11-29T05:27:09Z</dcterms:created>
  <dcterms:modified xsi:type="dcterms:W3CDTF">2025-04-25T04:49:44Z</dcterms:modified>
</cp:coreProperties>
</file>
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3"/>
  </p:notesMasterIdLst>
  <p:sldIdLst>
    <p:sldId id="277" r:id="rId2"/>
    <p:sldId id="312" r:id="rId3"/>
    <p:sldId id="257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7" r:id="rId15"/>
    <p:sldId id="328" r:id="rId16"/>
    <p:sldId id="324" r:id="rId17"/>
    <p:sldId id="325" r:id="rId18"/>
    <p:sldId id="326" r:id="rId19"/>
    <p:sldId id="313" r:id="rId20"/>
    <p:sldId id="294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" userDrawn="1">
          <p15:clr>
            <a:srgbClr val="A4A3A4"/>
          </p15:clr>
        </p15:guide>
        <p15:guide id="2" pos="7299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380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21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1C"/>
    <a:srgbClr val="ED7843"/>
    <a:srgbClr val="41B2C1"/>
    <a:srgbClr val="3974A9"/>
    <a:srgbClr val="10B5BF"/>
    <a:srgbClr val="A6A6A6"/>
    <a:srgbClr val="000F46"/>
    <a:srgbClr val="1F1C3A"/>
    <a:srgbClr val="28253A"/>
    <a:srgbClr val="020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5"/>
    <p:restoredTop sz="93149" autoAdjust="0"/>
  </p:normalViewPr>
  <p:slideViewPr>
    <p:cSldViewPr snapToGrid="0" showGuides="1">
      <p:cViewPr varScale="1">
        <p:scale>
          <a:sx n="79" d="100"/>
          <a:sy n="79" d="100"/>
        </p:scale>
        <p:origin x="1037" y="67"/>
      </p:cViewPr>
      <p:guideLst>
        <p:guide pos="381"/>
        <p:guide pos="7299"/>
        <p:guide pos="3840"/>
        <p:guide orient="horz" pos="380"/>
        <p:guide orient="horz" pos="3929"/>
        <p:guide orient="horz" pos="21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F1E61-3EC5-3B45-BB2A-F2BB00C2748A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33027-8B60-B34C-9BDA-B9F1428615EA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5510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302397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566623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752633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5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766046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6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868013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7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758507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8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683957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9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183071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10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419547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11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275154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921999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68609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854449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15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071028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16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4002684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17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076202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18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35416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24801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3625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7038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98229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49071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5536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42038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71125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0740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80442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14418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17935-F767-D54C-8BD8-1213FC869680}" type="datetimeFigureOut">
              <a:rPr lang="en-IR" smtClean="0"/>
              <a:t>04/29/2025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69670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11" Type="http://schemas.openxmlformats.org/officeDocument/2006/relationships/image" Target="../media/image48.png"/><Relationship Id="rId5" Type="http://schemas.openxmlformats.org/officeDocument/2006/relationships/image" Target="../media/image42.jpeg"/><Relationship Id="rId10" Type="http://schemas.openxmlformats.org/officeDocument/2006/relationships/image" Target="../media/image47.png"/><Relationship Id="rId4" Type="http://schemas.openxmlformats.org/officeDocument/2006/relationships/image" Target="../media/image41.jpg"/><Relationship Id="rId9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C2355F-3C5B-AAE7-805C-4EE255EFB76D}"/>
              </a:ext>
            </a:extLst>
          </p:cNvPr>
          <p:cNvSpPr txBox="1"/>
          <p:nvPr/>
        </p:nvSpPr>
        <p:spPr>
          <a:xfrm>
            <a:off x="2904565" y="1753040"/>
            <a:ext cx="87357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72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هوش تجاری</a:t>
            </a:r>
          </a:p>
          <a:p>
            <a:pPr marL="0" algn="r" defTabSz="457200" rtl="1" eaLnBrk="1" latinLnBrk="0" hangingPunct="1"/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</a:t>
            </a:r>
            <a:r>
              <a:rPr lang="en-US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Enterprise BI</a:t>
            </a:r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  <a:endParaRPr lang="en-IR" sz="3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74B2B2-BB36-37C5-F929-69E2124A8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11" y="4686549"/>
            <a:ext cx="2413552" cy="5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40415-4FD1-4385-9485-6A31871611A9}"/>
              </a:ext>
            </a:extLst>
          </p:cNvPr>
          <p:cNvSpPr txBox="1"/>
          <p:nvPr/>
        </p:nvSpPr>
        <p:spPr>
          <a:xfrm>
            <a:off x="1429815" y="705824"/>
            <a:ext cx="1014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سیاوش گلچوبیان</a:t>
            </a:r>
            <a:endParaRPr lang="en-US" sz="2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EDB59-FE39-41C5-903A-851BB19E2FD9}"/>
              </a:ext>
            </a:extLst>
          </p:cNvPr>
          <p:cNvSpPr/>
          <p:nvPr/>
        </p:nvSpPr>
        <p:spPr>
          <a:xfrm>
            <a:off x="5478624" y="1156428"/>
            <a:ext cx="6096000" cy="9164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سرپرست واحد هوش تجاری و پایگاه داده شرکت سایپا</a:t>
            </a: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موسس تیم مشاور پایگاه داده </a:t>
            </a:r>
            <a:r>
              <a:rPr lang="en-US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SqlDeep</a:t>
            </a: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مدیر طراحی فریم‌ورک هوش تجاری </a:t>
            </a:r>
            <a:r>
              <a:rPr lang="en-US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Razan</a:t>
            </a:r>
            <a:endParaRPr lang="fa-IR" sz="14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D947E7-886A-1C01-FA26-E1ECB11BBDB1}"/>
              </a:ext>
            </a:extLst>
          </p:cNvPr>
          <p:cNvGrpSpPr/>
          <p:nvPr/>
        </p:nvGrpSpPr>
        <p:grpSpPr>
          <a:xfrm>
            <a:off x="2184873" y="904297"/>
            <a:ext cx="1343060" cy="1372257"/>
            <a:chOff x="2184873" y="2633345"/>
            <a:chExt cx="1343060" cy="137225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ED7A2B-46AC-47E7-B3E6-A8E532E397BA}"/>
                </a:ext>
              </a:extLst>
            </p:cNvPr>
            <p:cNvSpPr/>
            <p:nvPr/>
          </p:nvSpPr>
          <p:spPr>
            <a:xfrm>
              <a:off x="2201927" y="2676582"/>
              <a:ext cx="1322773" cy="13127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509C3FE-ACDD-41FE-88B2-4D7B84034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4873" y="2633345"/>
              <a:ext cx="1343060" cy="1372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893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مطالب این جلسه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549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در انتهای این جلسه انتظار میرود با استفاده از کامپوننت های زیر و با حفظ نظافت بصری و قواعد نامگذاری بتوانید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Pipeline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ETL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کاملی را طراحی کنید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نظافت بصری</a:t>
            </a:r>
            <a:endParaRPr lang="en-US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Merge Join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Sort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Multiple Hash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Conditional Split</a:t>
            </a:r>
            <a:endParaRPr lang="fa-IR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Derived Column</a:t>
            </a:r>
            <a:endParaRPr lang="fa-IR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Union All</a:t>
            </a:r>
            <a:endParaRPr lang="fa-IR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Conversion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Balanced Data Distributor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 DB Command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File System Task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Cache Transform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Lookup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600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Merge 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MRGJ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تناظر دادن دو مجموعه رکورد با یکدیگر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لزوم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Sort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بودن اطلاعات بر اساس کلید تناظر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A61FEB-F2F6-246E-9571-15A9E8456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515" y="453851"/>
            <a:ext cx="476316" cy="400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8CFE7D-9F86-2450-3FC8-DFAEFE09E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35" y="1049222"/>
            <a:ext cx="5276576" cy="518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0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Sort</a:t>
            </a:r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با استفاده از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استفاده از قابلیت 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RDBMS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A32900-769D-D3B9-3123-0D1DFBF767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339"/>
          <a:stretch/>
        </p:blipFill>
        <p:spPr>
          <a:xfrm>
            <a:off x="1385265" y="422079"/>
            <a:ext cx="3861384" cy="3464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FF3350-60BC-1ED4-6B4F-7D4309E01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1172" y="1695715"/>
            <a:ext cx="5811551" cy="50240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2C795E-3AE5-F1F2-0F13-CDBE1C2E91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481" y="4131111"/>
            <a:ext cx="5811552" cy="24965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E94748E-DFE6-CE5B-6D09-73945B5C7865}"/>
              </a:ext>
            </a:extLst>
          </p:cNvPr>
          <p:cNvSpPr/>
          <p:nvPr/>
        </p:nvSpPr>
        <p:spPr>
          <a:xfrm>
            <a:off x="1517488" y="1877609"/>
            <a:ext cx="457200" cy="457200"/>
          </a:xfrm>
          <a:custGeom>
            <a:avLst/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457200" extrusionOk="0">
                <a:moveTo>
                  <a:pt x="0" y="228600"/>
                </a:moveTo>
                <a:cubicBezTo>
                  <a:pt x="-16643" y="103950"/>
                  <a:pt x="106381" y="35190"/>
                  <a:pt x="228600" y="0"/>
                </a:cubicBezTo>
                <a:cubicBezTo>
                  <a:pt x="341984" y="24615"/>
                  <a:pt x="448077" y="107065"/>
                  <a:pt x="457200" y="228600"/>
                </a:cubicBezTo>
                <a:cubicBezTo>
                  <a:pt x="458285" y="350095"/>
                  <a:pt x="334624" y="480045"/>
                  <a:pt x="228600" y="457200"/>
                </a:cubicBezTo>
                <a:cubicBezTo>
                  <a:pt x="100744" y="462206"/>
                  <a:pt x="-15052" y="380638"/>
                  <a:pt x="0" y="228600"/>
                </a:cubicBezTo>
                <a:close/>
              </a:path>
            </a:pathLst>
          </a:custGeom>
          <a:noFill/>
          <a:ln w="28575">
            <a:solidFill>
              <a:srgbClr val="D6001C"/>
            </a:solidFill>
            <a:extLst>
              <a:ext uri="{C807C97D-BFC1-408E-A445-0C87EB9F89A2}">
                <ask:lineSketchStyleProps xmlns:ask="http://schemas.microsoft.com/office/drawing/2018/sketchyshapes" sd="285666640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D6001C"/>
                </a:solidFill>
              </a:rPr>
              <a:t>1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5D9DA53-55B1-E616-E033-AB9B375710F0}"/>
              </a:ext>
            </a:extLst>
          </p:cNvPr>
          <p:cNvSpPr/>
          <p:nvPr/>
        </p:nvSpPr>
        <p:spPr>
          <a:xfrm>
            <a:off x="7812033" y="3658178"/>
            <a:ext cx="457200" cy="457200"/>
          </a:xfrm>
          <a:custGeom>
            <a:avLst/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457200" extrusionOk="0">
                <a:moveTo>
                  <a:pt x="0" y="228600"/>
                </a:moveTo>
                <a:cubicBezTo>
                  <a:pt x="-16643" y="103950"/>
                  <a:pt x="106381" y="35190"/>
                  <a:pt x="228600" y="0"/>
                </a:cubicBezTo>
                <a:cubicBezTo>
                  <a:pt x="341984" y="24615"/>
                  <a:pt x="448077" y="107065"/>
                  <a:pt x="457200" y="228600"/>
                </a:cubicBezTo>
                <a:cubicBezTo>
                  <a:pt x="458285" y="350095"/>
                  <a:pt x="334624" y="480045"/>
                  <a:pt x="228600" y="457200"/>
                </a:cubicBezTo>
                <a:cubicBezTo>
                  <a:pt x="100744" y="462206"/>
                  <a:pt x="-15052" y="380638"/>
                  <a:pt x="0" y="228600"/>
                </a:cubicBezTo>
                <a:close/>
              </a:path>
            </a:pathLst>
          </a:custGeom>
          <a:noFill/>
          <a:ln w="28575">
            <a:solidFill>
              <a:srgbClr val="D6001C"/>
            </a:solidFill>
            <a:extLst>
              <a:ext uri="{C807C97D-BFC1-408E-A445-0C87EB9F89A2}">
                <ask:lineSketchStyleProps xmlns:ask="http://schemas.microsoft.com/office/drawing/2018/sketchyshapes" sd="285666640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D6001C"/>
                </a:solidFill>
              </a:rPr>
              <a:t>2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D5E18C53-6415-9DA2-AE48-589E0BE64EB3}"/>
              </a:ext>
            </a:extLst>
          </p:cNvPr>
          <p:cNvSpPr/>
          <p:nvPr/>
        </p:nvSpPr>
        <p:spPr>
          <a:xfrm>
            <a:off x="3072594" y="4773282"/>
            <a:ext cx="457200" cy="457200"/>
          </a:xfrm>
          <a:custGeom>
            <a:avLst/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457200" extrusionOk="0">
                <a:moveTo>
                  <a:pt x="0" y="228600"/>
                </a:moveTo>
                <a:cubicBezTo>
                  <a:pt x="-16643" y="103950"/>
                  <a:pt x="106381" y="35190"/>
                  <a:pt x="228600" y="0"/>
                </a:cubicBezTo>
                <a:cubicBezTo>
                  <a:pt x="341984" y="24615"/>
                  <a:pt x="448077" y="107065"/>
                  <a:pt x="457200" y="228600"/>
                </a:cubicBezTo>
                <a:cubicBezTo>
                  <a:pt x="458285" y="350095"/>
                  <a:pt x="334624" y="480045"/>
                  <a:pt x="228600" y="457200"/>
                </a:cubicBezTo>
                <a:cubicBezTo>
                  <a:pt x="100744" y="462206"/>
                  <a:pt x="-15052" y="380638"/>
                  <a:pt x="0" y="228600"/>
                </a:cubicBezTo>
                <a:close/>
              </a:path>
            </a:pathLst>
          </a:custGeom>
          <a:noFill/>
          <a:ln w="28575">
            <a:solidFill>
              <a:srgbClr val="D6001C"/>
            </a:solidFill>
            <a:extLst>
              <a:ext uri="{C807C97D-BFC1-408E-A445-0C87EB9F89A2}">
                <ask:lineSketchStyleProps xmlns:ask="http://schemas.microsoft.com/office/drawing/2018/sketchyshapes" sd="285666640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D6001C"/>
                </a:solidFill>
              </a:rPr>
              <a:t>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1C1593-50B1-0115-C735-848F1C71E942}"/>
              </a:ext>
            </a:extLst>
          </p:cNvPr>
          <p:cNvCxnSpPr>
            <a:cxnSpLocks/>
          </p:cNvCxnSpPr>
          <p:nvPr/>
        </p:nvCxnSpPr>
        <p:spPr>
          <a:xfrm>
            <a:off x="8269233" y="4115378"/>
            <a:ext cx="1020681" cy="1264018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2BB441-8166-DF7E-011C-B182CEBE0331}"/>
              </a:ext>
            </a:extLst>
          </p:cNvPr>
          <p:cNvCxnSpPr>
            <a:cxnSpLocks/>
          </p:cNvCxnSpPr>
          <p:nvPr/>
        </p:nvCxnSpPr>
        <p:spPr>
          <a:xfrm>
            <a:off x="1937590" y="2311707"/>
            <a:ext cx="1020681" cy="1264018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C8BE93-5FBE-69D9-9630-453C258BC05D}"/>
              </a:ext>
            </a:extLst>
          </p:cNvPr>
          <p:cNvCxnSpPr>
            <a:cxnSpLocks/>
          </p:cNvCxnSpPr>
          <p:nvPr/>
        </p:nvCxnSpPr>
        <p:spPr>
          <a:xfrm>
            <a:off x="3485511" y="5246215"/>
            <a:ext cx="1020681" cy="1264018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7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Sort</a:t>
            </a:r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با استفاده از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SRT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هزینه بالا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22027-0CEA-4616-79A1-AE5D37D72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208" y="877853"/>
            <a:ext cx="6242541" cy="537495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2BB441-8166-DF7E-011C-B182CEBE0331}"/>
              </a:ext>
            </a:extLst>
          </p:cNvPr>
          <p:cNvCxnSpPr>
            <a:cxnSpLocks/>
          </p:cNvCxnSpPr>
          <p:nvPr/>
        </p:nvCxnSpPr>
        <p:spPr>
          <a:xfrm flipH="1">
            <a:off x="1547755" y="5321871"/>
            <a:ext cx="164309" cy="62842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2A041E-15C5-F2A5-301B-E28CE46FF06E}"/>
              </a:ext>
            </a:extLst>
          </p:cNvPr>
          <p:cNvCxnSpPr>
            <a:cxnSpLocks/>
          </p:cNvCxnSpPr>
          <p:nvPr/>
        </p:nvCxnSpPr>
        <p:spPr>
          <a:xfrm flipH="1">
            <a:off x="5870700" y="3414093"/>
            <a:ext cx="164309" cy="62842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EB3AFCD-E1AE-6C7E-7674-EFDDA85CA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233" y="443806"/>
            <a:ext cx="476316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92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Multiple Hash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MLH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مقدار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Hash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از فیلدهای ورودی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مناسب جهت تشخیص اطلاعات تغییر یافته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نیاز به نصب دارد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1DE131-8C3C-6DC0-85DC-D4416A81C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326" y="450992"/>
            <a:ext cx="400106" cy="428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033531-AE86-CBE4-69C2-843E584E9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35" y="1252491"/>
            <a:ext cx="3181794" cy="2419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7812EE-8EB1-329B-B2A5-6BA9B3999B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368" y="3994098"/>
            <a:ext cx="10564699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23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Conditional Split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CSPL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منشعب کردن جریان داده بر اساس شرایط متنوع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6A360-4BD0-97CE-9DDD-C657EAB49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002" y="465578"/>
            <a:ext cx="457264" cy="438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6D38B6-2312-A480-7F3D-D6C401C7B1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71" y="1043314"/>
            <a:ext cx="4904690" cy="51939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906438-F5BF-2984-4ABD-F0DB73CFC0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210" y="4670308"/>
            <a:ext cx="4020111" cy="157184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DB7336-98B8-3D7F-5646-0ED778CDE79B}"/>
              </a:ext>
            </a:extLst>
          </p:cNvPr>
          <p:cNvCxnSpPr>
            <a:cxnSpLocks/>
          </p:cNvCxnSpPr>
          <p:nvPr/>
        </p:nvCxnSpPr>
        <p:spPr>
          <a:xfrm flipH="1" flipV="1">
            <a:off x="5649791" y="2947481"/>
            <a:ext cx="2083698" cy="1814695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11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Derived Column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DER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ایجاد فیلد جدید در جریان داده یا تغییر مقدار فیلد های موجود در جریان داده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D261E7-2EC6-B8FD-174E-1668C2F3D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2171238"/>
            <a:ext cx="9073786" cy="398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C56B84-B965-51F6-9A39-14D5C8678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223" y="494157"/>
            <a:ext cx="400106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82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Union 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ALL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تجمیع عمودی چند جریان داده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نوع داده سطرها باید یکسان باشد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23C44-5943-6C09-DCCE-71E4DF08E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863" y="448882"/>
            <a:ext cx="419158" cy="371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9A71AD-E93A-FC25-9354-3BA2B33C2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6996" y="2950542"/>
            <a:ext cx="7925906" cy="25911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B0D917-1342-761A-90C3-DB495B10D131}"/>
              </a:ext>
            </a:extLst>
          </p:cNvPr>
          <p:cNvSpPr txBox="1"/>
          <p:nvPr/>
        </p:nvSpPr>
        <p:spPr>
          <a:xfrm>
            <a:off x="1951327" y="3892172"/>
            <a:ext cx="221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نام ستون در خروجی</a:t>
            </a:r>
            <a:endParaRPr lang="en-US" dirty="0">
              <a:solidFill>
                <a:srgbClr val="D6001C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86237B-C801-E3C1-390A-F44220B3C5B0}"/>
              </a:ext>
            </a:extLst>
          </p:cNvPr>
          <p:cNvSpPr txBox="1"/>
          <p:nvPr/>
        </p:nvSpPr>
        <p:spPr>
          <a:xfrm>
            <a:off x="4477276" y="3599792"/>
            <a:ext cx="22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نام ستون از جریان داده اول</a:t>
            </a:r>
            <a:endParaRPr lang="en-US" dirty="0">
              <a:solidFill>
                <a:srgbClr val="D6001C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75E3C5-381C-A271-726E-2FD954A95B05}"/>
              </a:ext>
            </a:extLst>
          </p:cNvPr>
          <p:cNvSpPr txBox="1"/>
          <p:nvPr/>
        </p:nvSpPr>
        <p:spPr>
          <a:xfrm>
            <a:off x="7145089" y="3615173"/>
            <a:ext cx="22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نام ستون متناظر از جریان داده دوم</a:t>
            </a:r>
            <a:endParaRPr lang="en-US" dirty="0">
              <a:solidFill>
                <a:srgbClr val="D6001C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17105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79CC17D-3DDC-035F-14A9-213349D69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20" y="2057532"/>
            <a:ext cx="7610306" cy="40336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Conversion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DCNV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تغییر نوع داده یک فیلد در جریان اطلاعات و ایجاد فیلدی جدید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B0D917-1342-761A-90C3-DB495B10D131}"/>
              </a:ext>
            </a:extLst>
          </p:cNvPr>
          <p:cNvSpPr txBox="1"/>
          <p:nvPr/>
        </p:nvSpPr>
        <p:spPr>
          <a:xfrm>
            <a:off x="1261488" y="3343037"/>
            <a:ext cx="173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نام ستون جدید در خروجی</a:t>
            </a:r>
            <a:endParaRPr lang="en-US" dirty="0">
              <a:solidFill>
                <a:srgbClr val="D6001C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86237B-C801-E3C1-390A-F44220B3C5B0}"/>
              </a:ext>
            </a:extLst>
          </p:cNvPr>
          <p:cNvSpPr txBox="1"/>
          <p:nvPr/>
        </p:nvSpPr>
        <p:spPr>
          <a:xfrm>
            <a:off x="4477276" y="3599792"/>
            <a:ext cx="221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نوع داده جدید</a:t>
            </a:r>
            <a:endParaRPr lang="en-US" dirty="0">
              <a:solidFill>
                <a:srgbClr val="D6001C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75E3C5-381C-A271-726E-2FD954A95B05}"/>
              </a:ext>
            </a:extLst>
          </p:cNvPr>
          <p:cNvSpPr txBox="1"/>
          <p:nvPr/>
        </p:nvSpPr>
        <p:spPr>
          <a:xfrm>
            <a:off x="334931" y="5103145"/>
            <a:ext cx="221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ستون جاری</a:t>
            </a:r>
            <a:endParaRPr lang="en-US" dirty="0">
              <a:solidFill>
                <a:srgbClr val="D6001C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E348DA-0947-6A89-B2FF-EF3D8FDE7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438" y="474883"/>
            <a:ext cx="438211" cy="419158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15FA85-37B7-DB8C-EBB8-BA06E395BD46}"/>
              </a:ext>
            </a:extLst>
          </p:cNvPr>
          <p:cNvCxnSpPr>
            <a:cxnSpLocks/>
          </p:cNvCxnSpPr>
          <p:nvPr/>
        </p:nvCxnSpPr>
        <p:spPr>
          <a:xfrm>
            <a:off x="2130358" y="3989368"/>
            <a:ext cx="510340" cy="134899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D429A3E-D0B4-053C-5B2E-EDBD0417047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4732446" y="3969124"/>
            <a:ext cx="850886" cy="1418399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65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Balanced Data Distributor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BDD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توزیع متوازن داده جهت اجرای همزمان کار بر روی جریان اطلاعات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F3431-9C7F-1993-B7E6-68F86B947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391" y="453851"/>
            <a:ext cx="438211" cy="419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36A266-8CDD-DB39-C348-089A0E28B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232" y="3092362"/>
            <a:ext cx="6163535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73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 DB Command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CMD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اجرای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Statement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در جریان داده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کندی در اجرا (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Row by Row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738B3-738C-9D38-9669-51BAFF076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970" y="453851"/>
            <a:ext cx="390580" cy="4191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201A0B-D2EB-4695-4313-993E928D8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959" y="2770346"/>
            <a:ext cx="1552792" cy="457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F089E4-3462-04EA-BF39-D4D05BF0A23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F1F1F"/>
              </a:clrFrom>
              <a:clrTo>
                <a:srgbClr val="1F1F1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4009" y="1490861"/>
            <a:ext cx="7402423" cy="474642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AB26FE-3A57-1C18-4506-CD2BA2EBFE89}"/>
              </a:ext>
            </a:extLst>
          </p:cNvPr>
          <p:cNvCxnSpPr>
            <a:cxnSpLocks/>
          </p:cNvCxnSpPr>
          <p:nvPr/>
        </p:nvCxnSpPr>
        <p:spPr>
          <a:xfrm flipH="1" flipV="1">
            <a:off x="5787957" y="2344366"/>
            <a:ext cx="1507443" cy="65461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229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File System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663447" y="1226356"/>
            <a:ext cx="4922349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FST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انجام عملیات ساخت، حذف، کپی، انتقال ... بر روی فایل ها و فولدر ها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CE283-75D2-DF3C-DD4E-B39761B82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907" y="460815"/>
            <a:ext cx="409632" cy="447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5F9ADD-26B1-A3E8-5E82-2B8193F2B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35" y="1252491"/>
            <a:ext cx="6263964" cy="48232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F8EAE6-01BC-BEEC-E68F-86DC02165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710" y="3492284"/>
            <a:ext cx="1714739" cy="21624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64B002-6538-A8E5-8A37-7EA2F7DDEB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5400" y="2808647"/>
            <a:ext cx="2057687" cy="40010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AB26FE-3A57-1C18-4506-CD2BA2EBFE89}"/>
              </a:ext>
            </a:extLst>
          </p:cNvPr>
          <p:cNvCxnSpPr>
            <a:cxnSpLocks/>
          </p:cNvCxnSpPr>
          <p:nvPr/>
        </p:nvCxnSpPr>
        <p:spPr>
          <a:xfrm flipH="1">
            <a:off x="6633603" y="2998978"/>
            <a:ext cx="661797" cy="202497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551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Cache Transform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663447" y="1226356"/>
            <a:ext cx="4922349" cy="287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CH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باهدف کاهش دفعات مراجعه به دیتابیس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ذخیره سازه اطلاعات بر روی دیسک محلی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ذخیره سازی اطلاعات بصورت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Plain Text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نامناسب برای امنیت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وابسته به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Cache Connection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8112DA-3612-3843-72A3-968CBD408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137" y="450992"/>
            <a:ext cx="438211" cy="428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4017CC-2C76-AE4B-8C3F-23027B559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74" y="2367523"/>
            <a:ext cx="6423473" cy="37389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9EC830-6B04-3149-88B4-AC9CE553D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091" y="4426747"/>
            <a:ext cx="5811061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62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Lookup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343650" y="1226356"/>
            <a:ext cx="5242146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LKP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جستجو به دنبال یک مقدار خاص در یک مجموعه رکورد و بازیابی اولین رکورد منطبق از آن مجموعه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قابلیت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Cache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کردن کل یا قسمتی از مقادیر مجموعه و یا جستجوی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Realtime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ارسال مقادیر منطبق نشده به خروجی های مختلف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DC6E8-E076-D950-6069-29F801B79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082" y="517973"/>
            <a:ext cx="323895" cy="33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E29460-66C3-FBAE-BAEE-27EA8F5A3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883" y="5074440"/>
            <a:ext cx="2353003" cy="409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4443A0-00C1-BCCA-8EA9-9A16BB95C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79" y="1452488"/>
            <a:ext cx="5449060" cy="474411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7187D7-4DEC-EFCB-B367-89189CF8023E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5959407" y="3824544"/>
            <a:ext cx="1522476" cy="145471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251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12DF62-B683-82D3-8BE5-345167A4F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41" y="1690141"/>
            <a:ext cx="5890279" cy="45210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Lookup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343650" y="1226356"/>
            <a:ext cx="5242146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استفاده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Query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به جای نام جدول بسیار بهینه تر است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DC6E8-E076-D950-6069-29F801B79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3082" y="517973"/>
            <a:ext cx="323895" cy="33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E29460-66C3-FBAE-BAEE-27EA8F5A36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883" y="5074440"/>
            <a:ext cx="2353003" cy="40963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7187D7-4DEC-EFCB-B367-89189CF8023E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5959407" y="3824544"/>
            <a:ext cx="1522476" cy="145471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559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0A08EDE-4D72-53D2-9E72-0F590727F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27" y="1788151"/>
            <a:ext cx="6773220" cy="42868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Lookup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7555230" y="1226356"/>
            <a:ext cx="4030566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Composite Join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انتخاب چندین فیلد از مجموعه مرجع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Rename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فیلدهای خروجی از مجموعه مرجع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DC6E8-E076-D950-6069-29F801B79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3082" y="517973"/>
            <a:ext cx="323895" cy="33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E29460-66C3-FBAE-BAEE-27EA8F5A36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583" y="5665367"/>
            <a:ext cx="2353003" cy="40963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7187D7-4DEC-EFCB-B367-89189CF8023E}"/>
              </a:ext>
            </a:extLst>
          </p:cNvPr>
          <p:cNvCxnSpPr>
            <a:cxnSpLocks/>
          </p:cNvCxnSpPr>
          <p:nvPr/>
        </p:nvCxnSpPr>
        <p:spPr>
          <a:xfrm flipH="1" flipV="1">
            <a:off x="7418070" y="5534319"/>
            <a:ext cx="1092513" cy="361999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18FA63-B7F9-C229-55D1-8F67F63B6F8D}"/>
              </a:ext>
            </a:extLst>
          </p:cNvPr>
          <p:cNvSpPr txBox="1"/>
          <p:nvPr/>
        </p:nvSpPr>
        <p:spPr>
          <a:xfrm>
            <a:off x="4595773" y="2505670"/>
            <a:ext cx="2755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انتخاب فیلدهای مورد نیاز از رکورد منطبق با مجموعه مرجع</a:t>
            </a:r>
            <a:endParaRPr lang="en-US" dirty="0">
              <a:solidFill>
                <a:srgbClr val="D6001C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D8E036-818F-B860-4654-D87C79E50EC8}"/>
              </a:ext>
            </a:extLst>
          </p:cNvPr>
          <p:cNvCxnSpPr>
            <a:cxnSpLocks/>
          </p:cNvCxnSpPr>
          <p:nvPr/>
        </p:nvCxnSpPr>
        <p:spPr>
          <a:xfrm flipH="1">
            <a:off x="4971695" y="3200400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48B1A33-2F03-F9E6-DA60-E83E86C542D9}"/>
              </a:ext>
            </a:extLst>
          </p:cNvPr>
          <p:cNvSpPr txBox="1"/>
          <p:nvPr/>
        </p:nvSpPr>
        <p:spPr>
          <a:xfrm>
            <a:off x="3359417" y="4600647"/>
            <a:ext cx="2472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عامل </a:t>
            </a:r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Join</a:t>
            </a:r>
            <a:r>
              <a:rPr lang="fa-IR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 بین رکورد ورودی با مجموعه مرجع</a:t>
            </a:r>
            <a:endParaRPr lang="en-US" dirty="0">
              <a:solidFill>
                <a:srgbClr val="D6001C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3F412A-8F4E-515B-C4E5-D724099095F6}"/>
              </a:ext>
            </a:extLst>
          </p:cNvPr>
          <p:cNvCxnSpPr>
            <a:cxnSpLocks/>
          </p:cNvCxnSpPr>
          <p:nvPr/>
        </p:nvCxnSpPr>
        <p:spPr>
          <a:xfrm flipH="1" flipV="1">
            <a:off x="4057650" y="4082235"/>
            <a:ext cx="207110" cy="60985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797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منابع آموزشی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7" name="Picture 16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5820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9" name="Picture 18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4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1" name="Picture 20"/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07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4" name="Picture 23"/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6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039FD25-C10E-AC82-2B7D-8DE7A7D54578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202534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A30C0C-6AF6-9D03-6A26-C7AABD442BD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8"/>
          <a:srcRect l="7152" r="5418"/>
          <a:stretch/>
        </p:blipFill>
        <p:spPr>
          <a:xfrm>
            <a:off x="975671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D269F0-F9D6-CA2E-88D0-2B98D5C7A13B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178415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0C67F7-F242-2C4C-FD55-D94A3CFC3DC9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2148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A55E08-EB95-9631-74E5-DB60F79909CE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204220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7E43775-EB95-A706-23FF-7E0082CA0944}"/>
              </a:ext>
            </a:extLst>
          </p:cNvPr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7464289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DC9690D-37A1-C8A0-D6EE-EB1245B9FA2F}"/>
              </a:ext>
            </a:extLst>
          </p:cNvPr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9399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54014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پرسش و پاسخ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b="2500"/>
          <a:stretch/>
        </p:blipFill>
        <p:spPr>
          <a:xfrm>
            <a:off x="4722157" y="2215662"/>
            <a:ext cx="2995397" cy="27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69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31CB4F-6DE8-507A-5AB0-F9B0AE6514F8}"/>
              </a:ext>
            </a:extLst>
          </p:cNvPr>
          <p:cNvSpPr txBox="1"/>
          <p:nvPr/>
        </p:nvSpPr>
        <p:spPr>
          <a:xfrm>
            <a:off x="2712415" y="3988386"/>
            <a:ext cx="6456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600" dirty="0">
                <a:solidFill>
                  <a:schemeClr val="bg1"/>
                </a:solidFill>
                <a:latin typeface="SG Kara Light" pitchFamily="2" charset="-78"/>
                <a:ea typeface="SG Kara Light" pitchFamily="2" charset="-78"/>
                <a:cs typeface="SG Kara Light" pitchFamily="2" charset="-78"/>
              </a:rPr>
              <a:t>education.systemgroup.net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79DD-E81E-93B4-D9A1-E6992AD3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411" y="2261849"/>
            <a:ext cx="4704696" cy="11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11158</TotalTime>
  <Words>555</Words>
  <Application>Microsoft Office PowerPoint</Application>
  <PresentationFormat>Widescreen</PresentationFormat>
  <Paragraphs>126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SG Kara</vt:lpstr>
      <vt:lpstr>SG Kara FaNum</vt:lpstr>
      <vt:lpstr>SG Kara FaNum Light</vt:lpstr>
      <vt:lpstr>SG Kara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Siavash Golchoobian</cp:lastModifiedBy>
  <cp:revision>450</cp:revision>
  <dcterms:created xsi:type="dcterms:W3CDTF">2023-11-29T05:27:09Z</dcterms:created>
  <dcterms:modified xsi:type="dcterms:W3CDTF">2025-05-01T04:53:38Z</dcterms:modified>
</cp:coreProperties>
</file>
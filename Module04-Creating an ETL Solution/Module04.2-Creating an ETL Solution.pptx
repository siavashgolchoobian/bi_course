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3"/>
  </p:notesMasterIdLst>
  <p:sldIdLst>
    <p:sldId id="277" r:id="rId2"/>
    <p:sldId id="312" r:id="rId3"/>
    <p:sldId id="257" r:id="rId4"/>
    <p:sldId id="327" r:id="rId5"/>
    <p:sldId id="328" r:id="rId6"/>
    <p:sldId id="329" r:id="rId7"/>
    <p:sldId id="346" r:id="rId8"/>
    <p:sldId id="330" r:id="rId9"/>
    <p:sldId id="331" r:id="rId10"/>
    <p:sldId id="332" r:id="rId11"/>
    <p:sldId id="334" r:id="rId12"/>
    <p:sldId id="335" r:id="rId13"/>
    <p:sldId id="337" r:id="rId14"/>
    <p:sldId id="338" r:id="rId15"/>
    <p:sldId id="339" r:id="rId16"/>
    <p:sldId id="341" r:id="rId17"/>
    <p:sldId id="342" r:id="rId18"/>
    <p:sldId id="340" r:id="rId19"/>
    <p:sldId id="343" r:id="rId20"/>
    <p:sldId id="344" r:id="rId21"/>
    <p:sldId id="345" r:id="rId22"/>
    <p:sldId id="347" r:id="rId23"/>
    <p:sldId id="333" r:id="rId24"/>
    <p:sldId id="348" r:id="rId25"/>
    <p:sldId id="349" r:id="rId26"/>
    <p:sldId id="350" r:id="rId27"/>
    <p:sldId id="351" r:id="rId28"/>
    <p:sldId id="352" r:id="rId29"/>
    <p:sldId id="313" r:id="rId30"/>
    <p:sldId id="294" r:id="rId31"/>
    <p:sldId id="28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" userDrawn="1">
          <p15:clr>
            <a:srgbClr val="A4A3A4"/>
          </p15:clr>
        </p15:guide>
        <p15:guide id="2" pos="7299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380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21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1C"/>
    <a:srgbClr val="ED7843"/>
    <a:srgbClr val="41B2C1"/>
    <a:srgbClr val="3974A9"/>
    <a:srgbClr val="10B5BF"/>
    <a:srgbClr val="A6A6A6"/>
    <a:srgbClr val="000F46"/>
    <a:srgbClr val="1F1C3A"/>
    <a:srgbClr val="28253A"/>
    <a:srgbClr val="020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5"/>
    <p:restoredTop sz="93149" autoAdjust="0"/>
  </p:normalViewPr>
  <p:slideViewPr>
    <p:cSldViewPr snapToGrid="0" showGuides="1">
      <p:cViewPr varScale="1">
        <p:scale>
          <a:sx n="79" d="100"/>
          <a:sy n="79" d="100"/>
        </p:scale>
        <p:origin x="1037" y="67"/>
      </p:cViewPr>
      <p:guideLst>
        <p:guide pos="381"/>
        <p:guide pos="7299"/>
        <p:guide pos="3840"/>
        <p:guide orient="horz" pos="380"/>
        <p:guide orient="horz" pos="3929"/>
        <p:guide orient="horz" pos="21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F1E61-3EC5-3B45-BB2A-F2BB00C2748A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33027-8B60-B34C-9BDA-B9F1428615EA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5510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302397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566623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096073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5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4925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6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41559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7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655610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8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58200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9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735555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10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83760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11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395563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735934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59674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54518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15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4199790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16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4178182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17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553861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18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335271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19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692591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20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773371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21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558509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7609852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795252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0647818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25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708099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26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6631539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27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7779339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28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45788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24801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3625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7038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98229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49071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5536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42038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71125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0740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80442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14418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17935-F767-D54C-8BD8-1213FC869680}" type="datetimeFigureOut">
              <a:rPr lang="en-IR" smtClean="0"/>
              <a:t>04/24/2025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69670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11" Type="http://schemas.openxmlformats.org/officeDocument/2006/relationships/image" Target="../media/image50.png"/><Relationship Id="rId5" Type="http://schemas.openxmlformats.org/officeDocument/2006/relationships/image" Target="../media/image44.jpeg"/><Relationship Id="rId10" Type="http://schemas.openxmlformats.org/officeDocument/2006/relationships/image" Target="../media/image49.png"/><Relationship Id="rId4" Type="http://schemas.openxmlformats.org/officeDocument/2006/relationships/image" Target="../media/image43.jpg"/><Relationship Id="rId9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C2355F-3C5B-AAE7-805C-4EE255EFB76D}"/>
              </a:ext>
            </a:extLst>
          </p:cNvPr>
          <p:cNvSpPr txBox="1"/>
          <p:nvPr/>
        </p:nvSpPr>
        <p:spPr>
          <a:xfrm>
            <a:off x="2904565" y="1753040"/>
            <a:ext cx="87357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72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هوش تجاری</a:t>
            </a:r>
          </a:p>
          <a:p>
            <a:pPr marL="0" algn="r" defTabSz="457200" rtl="1" eaLnBrk="1" latinLnBrk="0" hangingPunct="1"/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</a:t>
            </a:r>
            <a:r>
              <a:rPr lang="en-US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Enterprise BI</a:t>
            </a:r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  <a:endParaRPr lang="en-IR" sz="3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74B2B2-BB36-37C5-F929-69E2124A8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11" y="4686549"/>
            <a:ext cx="2413552" cy="5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40415-4FD1-4385-9485-6A31871611A9}"/>
              </a:ext>
            </a:extLst>
          </p:cNvPr>
          <p:cNvSpPr txBox="1"/>
          <p:nvPr/>
        </p:nvSpPr>
        <p:spPr>
          <a:xfrm>
            <a:off x="1429815" y="705824"/>
            <a:ext cx="1014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سیاوش گلچوبیان</a:t>
            </a:r>
            <a:endParaRPr lang="en-US" sz="2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EDB59-FE39-41C5-903A-851BB19E2FD9}"/>
              </a:ext>
            </a:extLst>
          </p:cNvPr>
          <p:cNvSpPr/>
          <p:nvPr/>
        </p:nvSpPr>
        <p:spPr>
          <a:xfrm>
            <a:off x="5478624" y="1156428"/>
            <a:ext cx="6096000" cy="9164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سرپرست واحد هوش تجاری و پایگاه داده شرکت سایپا</a:t>
            </a: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موسس تیم مشاور پایگاه داده </a:t>
            </a:r>
            <a:r>
              <a:rPr lang="en-US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SqlDeep</a:t>
            </a: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مدیر طراحی فریم‌ورک هوش تجاری </a:t>
            </a:r>
            <a:r>
              <a:rPr lang="en-US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Razan</a:t>
            </a:r>
            <a:endParaRPr lang="fa-IR" sz="14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D947E7-886A-1C01-FA26-E1ECB11BBDB1}"/>
              </a:ext>
            </a:extLst>
          </p:cNvPr>
          <p:cNvGrpSpPr/>
          <p:nvPr/>
        </p:nvGrpSpPr>
        <p:grpSpPr>
          <a:xfrm>
            <a:off x="2184873" y="904297"/>
            <a:ext cx="1343060" cy="1372257"/>
            <a:chOff x="2184873" y="2633345"/>
            <a:chExt cx="1343060" cy="137225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ED7A2B-46AC-47E7-B3E6-A8E532E397BA}"/>
                </a:ext>
              </a:extLst>
            </p:cNvPr>
            <p:cNvSpPr/>
            <p:nvPr/>
          </p:nvSpPr>
          <p:spPr>
            <a:xfrm>
              <a:off x="2201927" y="2676582"/>
              <a:ext cx="1322773" cy="13127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509C3FE-ACDD-41FE-88B2-4D7B84034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4873" y="2633345"/>
              <a:ext cx="1343060" cy="1372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893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مطالب این جلسه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560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در انتهای این جلسه انتظار میرود با استفاده از کامپوننت های زیر و رعایت قواعد نامگذاری بتوانید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Pipeline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انتقال داده طراحی کنید</a:t>
            </a:r>
          </a:p>
          <a:p>
            <a:pPr marL="228600" lvl="1" algn="justLow" rtl="1">
              <a:lnSpc>
                <a:spcPct val="130000"/>
              </a:lnSpc>
              <a:buClr>
                <a:srgbClr val="D6001C"/>
              </a:buClr>
              <a:buSzPct val="150000"/>
            </a:pP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Sequence Container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(SEQC)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به عنوان عامل کنترل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UoW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ایجاد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Precedence Constraints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حالات مختلف کانفیگ آن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 Task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(DFT)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OLEDB Connection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Share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آن در سطح پروژه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 DB Source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(OLE_SRC)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استاتیک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متغیر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Scope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بندی آن به همراه آشنایی با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 Task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(EXPR)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آشنایی با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Row Count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(CNT)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 DB Destination (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OLE_DST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آشنایی با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Breakpoints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Viewer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به منظور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Debug</a:t>
            </a:r>
            <a:endParaRPr lang="en-US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ایجاد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SQL Task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(SQL)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آشنایی با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Loop Container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(FLC)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600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605235" y="2861494"/>
            <a:ext cx="10980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طراحی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Pipeline</a:t>
            </a:r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انتقال داده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Adventure Works</a:t>
            </a:r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به منظور آشنایی با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Component</a:t>
            </a:r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Graphic 4" descr="Flask with solid fill">
            <a:extLst>
              <a:ext uri="{FF2B5EF4-FFF2-40B4-BE49-F238E27FC236}">
                <a16:creationId xmlns:a16="http://schemas.microsoft.com/office/drawing/2014/main" id="{7570A1B0-6ABA-6ACF-D188-ECA4FE049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0091" y="3323159"/>
            <a:ext cx="349092" cy="34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8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استخراج اقلام قابل تحویل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اقلام قابل تحویل</a:t>
            </a:r>
          </a:p>
          <a:p>
            <a:pPr marL="228600" lvl="1" algn="justLow" rtl="1">
              <a:lnSpc>
                <a:spcPct val="130000"/>
              </a:lnSpc>
              <a:buClr>
                <a:srgbClr val="D6001C"/>
              </a:buClr>
              <a:buSzPct val="150000"/>
            </a:pP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FACT_Sales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DIM_Date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DIM_Product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DIM_Customer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DIM_Territory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0FBDE-3C3F-DEC8-E060-CDA033A40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1303935"/>
            <a:ext cx="8207451" cy="48010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FE9911-4419-71A1-3A3E-23891E1FDD6C}"/>
              </a:ext>
            </a:extLst>
          </p:cNvPr>
          <p:cNvSpPr txBox="1"/>
          <p:nvPr/>
        </p:nvSpPr>
        <p:spPr>
          <a:xfrm>
            <a:off x="3566292" y="6080864"/>
            <a:ext cx="8625708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فرض میکنیم انشالله نیازمندیهای مشتری رو استخراج کردی و ساختار کلی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OLTP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رو هم کمی باهاش آشنا شدی و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Enterprise Bus-Matrix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ات رو کشیدی</a:t>
            </a:r>
          </a:p>
        </p:txBody>
      </p:sp>
    </p:spTree>
    <p:extLst>
      <p:ext uri="{BB962C8B-B14F-4D97-AF65-F5344CB8AC3E}">
        <p14:creationId xmlns:p14="http://schemas.microsoft.com/office/powerpoint/2010/main" val="31215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بررسی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OLTP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3DE682-4174-2E1F-AB52-1D2005B52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1093942"/>
            <a:ext cx="9093026" cy="562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0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نقشه راه پیاده سازی </a:t>
            </a:r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DIM_Products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4DAE00-A7FB-16AC-C583-078820C87566}"/>
              </a:ext>
            </a:extLst>
          </p:cNvPr>
          <p:cNvSpPr/>
          <p:nvPr/>
        </p:nvSpPr>
        <p:spPr>
          <a:xfrm>
            <a:off x="2159540" y="776855"/>
            <a:ext cx="2295728" cy="1410511"/>
          </a:xfrm>
          <a:custGeom>
            <a:avLst/>
            <a:gdLst>
              <a:gd name="connsiteX0" fmla="*/ 0 w 2295728"/>
              <a:gd name="connsiteY0" fmla="*/ 0 h 1410511"/>
              <a:gd name="connsiteX1" fmla="*/ 2295728 w 2295728"/>
              <a:gd name="connsiteY1" fmla="*/ 0 h 1410511"/>
              <a:gd name="connsiteX2" fmla="*/ 2295728 w 2295728"/>
              <a:gd name="connsiteY2" fmla="*/ 1410511 h 1410511"/>
              <a:gd name="connsiteX3" fmla="*/ 0 w 2295728"/>
              <a:gd name="connsiteY3" fmla="*/ 1410511 h 1410511"/>
              <a:gd name="connsiteX4" fmla="*/ 0 w 2295728"/>
              <a:gd name="connsiteY4" fmla="*/ 0 h 141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5728" h="1410511" extrusionOk="0">
                <a:moveTo>
                  <a:pt x="0" y="0"/>
                </a:moveTo>
                <a:cubicBezTo>
                  <a:pt x="682230" y="-32760"/>
                  <a:pt x="1971799" y="163280"/>
                  <a:pt x="2295728" y="0"/>
                </a:cubicBezTo>
                <a:cubicBezTo>
                  <a:pt x="2217732" y="584957"/>
                  <a:pt x="2410701" y="1166175"/>
                  <a:pt x="2295728" y="1410511"/>
                </a:cubicBezTo>
                <a:cubicBezTo>
                  <a:pt x="1629795" y="1485484"/>
                  <a:pt x="829594" y="1254364"/>
                  <a:pt x="0" y="1410511"/>
                </a:cubicBezTo>
                <a:cubicBezTo>
                  <a:pt x="-73446" y="932979"/>
                  <a:pt x="-53600" y="305810"/>
                  <a:pt x="0" y="0"/>
                </a:cubicBezTo>
                <a:close/>
              </a:path>
            </a:pathLst>
          </a:custGeom>
          <a:noFill/>
          <a:ln w="38100">
            <a:solidFill>
              <a:srgbClr val="D6001C"/>
            </a:solidFill>
            <a:extLst>
              <a:ext uri="{C807C97D-BFC1-408E-A445-0C87EB9F89A2}">
                <ask:lineSketchStyleProps xmlns:ask="http://schemas.microsoft.com/office/drawing/2018/sketchyshapes" sd="2110897864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dirty="0">
                <a:solidFill>
                  <a:srgbClr val="C000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1-Extract</a:t>
            </a:r>
            <a:br>
              <a:rPr lang="en-US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</a:br>
            <a:r>
              <a:rPr lang="fa-IR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استخراج داده از </a:t>
            </a:r>
            <a:r>
              <a:rPr lang="en-US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OLTP</a:t>
            </a:r>
            <a:r>
              <a:rPr lang="fa-IR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 به محیط </a:t>
            </a:r>
            <a:r>
              <a:rPr lang="en-US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77A0A-8365-71F4-AE09-9D1300CD557A}"/>
              </a:ext>
            </a:extLst>
          </p:cNvPr>
          <p:cNvSpPr/>
          <p:nvPr/>
        </p:nvSpPr>
        <p:spPr>
          <a:xfrm>
            <a:off x="2159540" y="2695197"/>
            <a:ext cx="2295728" cy="1410511"/>
          </a:xfrm>
          <a:custGeom>
            <a:avLst/>
            <a:gdLst>
              <a:gd name="connsiteX0" fmla="*/ 0 w 2295728"/>
              <a:gd name="connsiteY0" fmla="*/ 0 h 1410511"/>
              <a:gd name="connsiteX1" fmla="*/ 2295728 w 2295728"/>
              <a:gd name="connsiteY1" fmla="*/ 0 h 1410511"/>
              <a:gd name="connsiteX2" fmla="*/ 2295728 w 2295728"/>
              <a:gd name="connsiteY2" fmla="*/ 1410511 h 1410511"/>
              <a:gd name="connsiteX3" fmla="*/ 0 w 2295728"/>
              <a:gd name="connsiteY3" fmla="*/ 1410511 h 1410511"/>
              <a:gd name="connsiteX4" fmla="*/ 0 w 2295728"/>
              <a:gd name="connsiteY4" fmla="*/ 0 h 141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5728" h="1410511" extrusionOk="0">
                <a:moveTo>
                  <a:pt x="0" y="0"/>
                </a:moveTo>
                <a:cubicBezTo>
                  <a:pt x="682230" y="-32760"/>
                  <a:pt x="1971799" y="163280"/>
                  <a:pt x="2295728" y="0"/>
                </a:cubicBezTo>
                <a:cubicBezTo>
                  <a:pt x="2217732" y="584957"/>
                  <a:pt x="2410701" y="1166175"/>
                  <a:pt x="2295728" y="1410511"/>
                </a:cubicBezTo>
                <a:cubicBezTo>
                  <a:pt x="1629795" y="1485484"/>
                  <a:pt x="829594" y="1254364"/>
                  <a:pt x="0" y="1410511"/>
                </a:cubicBezTo>
                <a:cubicBezTo>
                  <a:pt x="-73446" y="932979"/>
                  <a:pt x="-53600" y="305810"/>
                  <a:pt x="0" y="0"/>
                </a:cubicBezTo>
                <a:close/>
              </a:path>
            </a:pathLst>
          </a:custGeom>
          <a:noFill/>
          <a:ln w="38100">
            <a:solidFill>
              <a:srgbClr val="D6001C"/>
            </a:solidFill>
            <a:extLst>
              <a:ext uri="{C807C97D-BFC1-408E-A445-0C87EB9F89A2}">
                <ask:lineSketchStyleProps xmlns:ask="http://schemas.microsoft.com/office/drawing/2018/sketchyshapes" sd="2110897864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dirty="0">
                <a:solidFill>
                  <a:srgbClr val="C000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2-Transform</a:t>
            </a:r>
            <a:br>
              <a:rPr lang="en-US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</a:br>
            <a:r>
              <a:rPr lang="fa-IR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پاکسازی اطلاعات در </a:t>
            </a:r>
            <a:r>
              <a:rPr lang="en-US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Stage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36CAB7-6123-983E-AB5C-E09C3CC57181}"/>
              </a:ext>
            </a:extLst>
          </p:cNvPr>
          <p:cNvSpPr/>
          <p:nvPr/>
        </p:nvSpPr>
        <p:spPr>
          <a:xfrm>
            <a:off x="2159540" y="4520755"/>
            <a:ext cx="2295728" cy="1410511"/>
          </a:xfrm>
          <a:custGeom>
            <a:avLst/>
            <a:gdLst>
              <a:gd name="connsiteX0" fmla="*/ 0 w 2295728"/>
              <a:gd name="connsiteY0" fmla="*/ 0 h 1410511"/>
              <a:gd name="connsiteX1" fmla="*/ 2295728 w 2295728"/>
              <a:gd name="connsiteY1" fmla="*/ 0 h 1410511"/>
              <a:gd name="connsiteX2" fmla="*/ 2295728 w 2295728"/>
              <a:gd name="connsiteY2" fmla="*/ 1410511 h 1410511"/>
              <a:gd name="connsiteX3" fmla="*/ 0 w 2295728"/>
              <a:gd name="connsiteY3" fmla="*/ 1410511 h 1410511"/>
              <a:gd name="connsiteX4" fmla="*/ 0 w 2295728"/>
              <a:gd name="connsiteY4" fmla="*/ 0 h 141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5728" h="1410511" extrusionOk="0">
                <a:moveTo>
                  <a:pt x="0" y="0"/>
                </a:moveTo>
                <a:cubicBezTo>
                  <a:pt x="682230" y="-32760"/>
                  <a:pt x="1971799" y="163280"/>
                  <a:pt x="2295728" y="0"/>
                </a:cubicBezTo>
                <a:cubicBezTo>
                  <a:pt x="2217732" y="584957"/>
                  <a:pt x="2410701" y="1166175"/>
                  <a:pt x="2295728" y="1410511"/>
                </a:cubicBezTo>
                <a:cubicBezTo>
                  <a:pt x="1629795" y="1485484"/>
                  <a:pt x="829594" y="1254364"/>
                  <a:pt x="0" y="1410511"/>
                </a:cubicBezTo>
                <a:cubicBezTo>
                  <a:pt x="-73446" y="932979"/>
                  <a:pt x="-53600" y="305810"/>
                  <a:pt x="0" y="0"/>
                </a:cubicBezTo>
                <a:close/>
              </a:path>
            </a:pathLst>
          </a:custGeom>
          <a:noFill/>
          <a:ln w="38100">
            <a:solidFill>
              <a:srgbClr val="D6001C"/>
            </a:solidFill>
            <a:extLst>
              <a:ext uri="{C807C97D-BFC1-408E-A445-0C87EB9F89A2}">
                <ask:lineSketchStyleProps xmlns:ask="http://schemas.microsoft.com/office/drawing/2018/sketchyshapes" sd="2110897864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dirty="0">
                <a:solidFill>
                  <a:srgbClr val="C00000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3-Load</a:t>
            </a:r>
            <a:br>
              <a:rPr lang="en-US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</a:br>
            <a:r>
              <a:rPr lang="fa-IR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ذخیره اطلاعات در </a:t>
            </a:r>
            <a:r>
              <a:rPr lang="en-US" dirty="0">
                <a:solidFill>
                  <a:schemeClr val="bg1"/>
                </a:solidFill>
                <a:latin typeface="SG Kara" panose="00000500000000000000" pitchFamily="2" charset="-78"/>
                <a:ea typeface="SG Kara" panose="00000500000000000000" pitchFamily="2" charset="-78"/>
                <a:cs typeface="SG Kara" panose="00000500000000000000" pitchFamily="2" charset="-78"/>
              </a:rPr>
              <a:t>DWH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17B88D-F0EB-075C-D3ED-C6A2C2484C29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3307404" y="2187366"/>
            <a:ext cx="0" cy="507831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AC37B6-C502-9D9B-FD4B-A03B43D34DB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3307404" y="4105708"/>
            <a:ext cx="0" cy="415047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8FB566D-3B66-57F5-C3B3-3019A612517E}"/>
              </a:ext>
            </a:extLst>
          </p:cNvPr>
          <p:cNvSpPr txBox="1"/>
          <p:nvPr/>
        </p:nvSpPr>
        <p:spPr>
          <a:xfrm>
            <a:off x="4455268" y="1284686"/>
            <a:ext cx="4562191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فقط اطلاعات مورد نیاز برای انبار داده رو سریع استخراج کن و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OLTP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بیا بیرون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4DC9E-A3F6-73BA-84EA-1BE3CDF1EADD}"/>
              </a:ext>
            </a:extLst>
          </p:cNvPr>
          <p:cNvSpPr txBox="1"/>
          <p:nvPr/>
        </p:nvSpPr>
        <p:spPr>
          <a:xfrm>
            <a:off x="4455268" y="2633500"/>
            <a:ext cx="4562192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حالا هرچقدر دلت میخواهد تومحیط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Stage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اطلاعات رو بالا پایین کن تا تمیز شده و آماده ذخیره سازی تو ساختار انبار داده بشن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E8EE8B-9CB2-F10B-4606-D217913ED57F}"/>
              </a:ext>
            </a:extLst>
          </p:cNvPr>
          <p:cNvSpPr txBox="1"/>
          <p:nvPr/>
        </p:nvSpPr>
        <p:spPr>
          <a:xfrm>
            <a:off x="4455266" y="4791275"/>
            <a:ext cx="4562193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حالا اطلاعات شسته و رفته رو بریز تو انبار داده</a:t>
            </a:r>
          </a:p>
        </p:txBody>
      </p:sp>
    </p:spTree>
    <p:extLst>
      <p:ext uri="{BB962C8B-B14F-4D97-AF65-F5344CB8AC3E}">
        <p14:creationId xmlns:p14="http://schemas.microsoft.com/office/powerpoint/2010/main" val="387702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Sequence Container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SEQC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– 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Control Flow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گروه بندی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Task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 جهت مدیریت آسان تر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238603-FF8D-D418-40FC-C160E28DE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44" y="513219"/>
            <a:ext cx="358171" cy="342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FE8E38-6D06-7478-0866-6482AAEA3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35" y="1467336"/>
            <a:ext cx="4694327" cy="42904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7109AE-523A-3B1F-6A51-A9FBFDB0D6D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3531"/>
          <a:stretch/>
        </p:blipFill>
        <p:spPr>
          <a:xfrm>
            <a:off x="6096000" y="2201696"/>
            <a:ext cx="3278063" cy="441846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64A8E6-E57A-E598-B4CE-66FA7F5851F9}"/>
              </a:ext>
            </a:extLst>
          </p:cNvPr>
          <p:cNvCxnSpPr/>
          <p:nvPr/>
        </p:nvCxnSpPr>
        <p:spPr>
          <a:xfrm>
            <a:off x="4464996" y="1717565"/>
            <a:ext cx="1677191" cy="1711435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11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Precedence Constraints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ندارد – 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Control Flow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تعیین توالی اجرای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Task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تعیین شرایط پیش نیازی اجرای یک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Task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مدیریت خطای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Task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FE8E38-6D06-7478-0866-6482AAEA3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1467336"/>
            <a:ext cx="4694327" cy="4290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2E2582-45BD-1280-839F-30A43A409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664" y="409797"/>
            <a:ext cx="784928" cy="464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4B49C9-6AAF-A8DE-EDE2-81BD0829FA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470" y="2892769"/>
            <a:ext cx="4114798" cy="351138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19BAB5-C7D0-928F-C5B6-E029B903B09E}"/>
              </a:ext>
            </a:extLst>
          </p:cNvPr>
          <p:cNvCxnSpPr>
            <a:cxnSpLocks/>
          </p:cNvCxnSpPr>
          <p:nvPr/>
        </p:nvCxnSpPr>
        <p:spPr>
          <a:xfrm>
            <a:off x="3054485" y="4126850"/>
            <a:ext cx="4358107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941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DFT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– 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Control Flow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محیط طراحی آن زبانه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میباشد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ساخت جریان انتقال داده (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ETL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B67585-DA6C-25AC-59D2-16572C905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72" y="524650"/>
            <a:ext cx="396274" cy="3200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A3AA16-3997-1E39-DB60-22518251C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35" y="1805865"/>
            <a:ext cx="6018207" cy="4405288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67F40F-B2E0-207E-B733-5C4B5A9C8793}"/>
              </a:ext>
            </a:extLst>
          </p:cNvPr>
          <p:cNvCxnSpPr>
            <a:cxnSpLocks/>
          </p:cNvCxnSpPr>
          <p:nvPr/>
        </p:nvCxnSpPr>
        <p:spPr>
          <a:xfrm>
            <a:off x="2227634" y="1361872"/>
            <a:ext cx="0" cy="44399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742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4212079" y="1226356"/>
            <a:ext cx="7373717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Control Flow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تعریف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 String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با انواع گوناگون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تعریف در سطح کل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Project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یا فقط در سطح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Package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جهت کار با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RDBMS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 درایورهای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OLEDB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سربار کمتری دارند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مشاهده از پنل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Connections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VS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BA4AB2-970B-E589-CAC2-A63726877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1040579"/>
            <a:ext cx="3894157" cy="514394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43431A-F7D1-1CF7-E3D8-E49805FF0D21}"/>
              </a:ext>
            </a:extLst>
          </p:cNvPr>
          <p:cNvCxnSpPr>
            <a:cxnSpLocks/>
          </p:cNvCxnSpPr>
          <p:nvPr/>
        </p:nvCxnSpPr>
        <p:spPr>
          <a:xfrm flipH="1">
            <a:off x="4110288" y="5353335"/>
            <a:ext cx="583657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583CF97C-E069-98FB-9805-634C92BD5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549" y="4963524"/>
            <a:ext cx="5433732" cy="779623"/>
          </a:xfrm>
          <a:prstGeom prst="rect">
            <a:avLst/>
          </a:prstGeom>
          <a:ln>
            <a:solidFill>
              <a:srgbClr val="D6001C"/>
            </a:solidFill>
          </a:ln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C1B980-92AA-7E57-EC63-820CA2E529AC}"/>
              </a:ext>
            </a:extLst>
          </p:cNvPr>
          <p:cNvCxnSpPr>
            <a:cxnSpLocks/>
          </p:cNvCxnSpPr>
          <p:nvPr/>
        </p:nvCxnSpPr>
        <p:spPr>
          <a:xfrm flipH="1">
            <a:off x="8929991" y="4610791"/>
            <a:ext cx="483141" cy="742544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60F2776-4505-3ECB-9C72-0473477819C0}"/>
              </a:ext>
            </a:extLst>
          </p:cNvPr>
          <p:cNvSpPr txBox="1"/>
          <p:nvPr/>
        </p:nvSpPr>
        <p:spPr>
          <a:xfrm>
            <a:off x="8531157" y="3586190"/>
            <a:ext cx="2354245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justLow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قابل استفاده در سطح کل پروژه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4E9D0B-3A13-2909-A6E7-64DDA9F480B0}"/>
              </a:ext>
            </a:extLst>
          </p:cNvPr>
          <p:cNvCxnSpPr>
            <a:cxnSpLocks/>
          </p:cNvCxnSpPr>
          <p:nvPr/>
        </p:nvCxnSpPr>
        <p:spPr>
          <a:xfrm flipH="1">
            <a:off x="4993956" y="4352535"/>
            <a:ext cx="483141" cy="919856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D4A7E3B-B2DA-4A89-7BA0-059FB70FD1F1}"/>
              </a:ext>
            </a:extLst>
          </p:cNvPr>
          <p:cNvSpPr txBox="1"/>
          <p:nvPr/>
        </p:nvSpPr>
        <p:spPr>
          <a:xfrm>
            <a:off x="4898226" y="3560827"/>
            <a:ext cx="2354245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justLow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قابل استفاده در سطح پکیج جاری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7849838-DB8A-5924-B0AC-6BA493CC5E93}"/>
              </a:ext>
            </a:extLst>
          </p:cNvPr>
          <p:cNvCxnSpPr>
            <a:cxnSpLocks/>
          </p:cNvCxnSpPr>
          <p:nvPr/>
        </p:nvCxnSpPr>
        <p:spPr>
          <a:xfrm>
            <a:off x="5154113" y="4938161"/>
            <a:ext cx="830155" cy="41873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951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Sources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F6DA0-BED5-D54D-1C30-192D6C334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9" y="1005938"/>
            <a:ext cx="5869641" cy="5231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EBBE5E-5156-6811-5D58-2FF0371CB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407" y="3677173"/>
            <a:ext cx="2127060" cy="2560115"/>
          </a:xfrm>
          <a:prstGeom prst="rect">
            <a:avLst/>
          </a:prstGeom>
          <a:ln>
            <a:solidFill>
              <a:srgbClr val="D6001C"/>
            </a:solidFill>
          </a:ln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67F40F-B2E0-207E-B733-5C4B5A9C8793}"/>
              </a:ext>
            </a:extLst>
          </p:cNvPr>
          <p:cNvCxnSpPr>
            <a:cxnSpLocks/>
          </p:cNvCxnSpPr>
          <p:nvPr/>
        </p:nvCxnSpPr>
        <p:spPr>
          <a:xfrm flipH="1">
            <a:off x="5836596" y="5408579"/>
            <a:ext cx="1177047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4395EE-D45F-57A6-68A8-5F7E30577468}"/>
              </a:ext>
            </a:extLst>
          </p:cNvPr>
          <p:cNvCxnSpPr>
            <a:cxnSpLocks/>
          </p:cNvCxnSpPr>
          <p:nvPr/>
        </p:nvCxnSpPr>
        <p:spPr>
          <a:xfrm flipH="1">
            <a:off x="4591304" y="3001480"/>
            <a:ext cx="262798" cy="23277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169103-6B62-33D0-72DE-012966BA81AC}"/>
              </a:ext>
            </a:extLst>
          </p:cNvPr>
          <p:cNvSpPr txBox="1"/>
          <p:nvPr/>
        </p:nvSpPr>
        <p:spPr>
          <a:xfrm>
            <a:off x="2723746" y="2597137"/>
            <a:ext cx="358464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نام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مورد استفاده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936289-7C47-9F89-9B84-97383E0C4979}"/>
              </a:ext>
            </a:extLst>
          </p:cNvPr>
          <p:cNvCxnSpPr>
            <a:cxnSpLocks/>
          </p:cNvCxnSpPr>
          <p:nvPr/>
        </p:nvCxnSpPr>
        <p:spPr>
          <a:xfrm flipH="1" flipV="1">
            <a:off x="3295043" y="5263819"/>
            <a:ext cx="262798" cy="19189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00825F-3DE5-EB79-2041-28386F636EEC}"/>
              </a:ext>
            </a:extLst>
          </p:cNvPr>
          <p:cNvSpPr txBox="1"/>
          <p:nvPr/>
        </p:nvSpPr>
        <p:spPr>
          <a:xfrm>
            <a:off x="1882251" y="5381892"/>
            <a:ext cx="358464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Query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واشکی داده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54CFF4-45F6-29E2-CEB4-B5858BBC519C}"/>
              </a:ext>
            </a:extLst>
          </p:cNvPr>
          <p:cNvCxnSpPr>
            <a:cxnSpLocks/>
          </p:cNvCxnSpPr>
          <p:nvPr/>
        </p:nvCxnSpPr>
        <p:spPr>
          <a:xfrm flipH="1" flipV="1">
            <a:off x="3557841" y="3800337"/>
            <a:ext cx="262798" cy="19189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19FE01-16B4-7C68-0985-4BA9DF9D901C}"/>
              </a:ext>
            </a:extLst>
          </p:cNvPr>
          <p:cNvSpPr txBox="1"/>
          <p:nvPr/>
        </p:nvSpPr>
        <p:spPr>
          <a:xfrm>
            <a:off x="2419758" y="3661603"/>
            <a:ext cx="358464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واشکی داده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4212079" y="1226356"/>
            <a:ext cx="7373717" cy="1989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 ها:</a:t>
            </a:r>
          </a:p>
          <a:p>
            <a:pPr marL="685800" lvl="2" algn="justLow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1600" dirty="0"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ADO_SRC, CDC_S</a:t>
            </a:r>
            <a:r>
              <a:rPr lang="en-US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RC, EX_SRC, FF_SRCC, OLE_SRC, RF_SRC, XML_SRC</a:t>
            </a:r>
            <a:endParaRPr lang="fa-IR" sz="16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واکشی اطلاعات از منابع داده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لزوم تعریف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پیش از استفاده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8ADAFED-44EC-266D-4A48-D4C627F1FA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083" y="520840"/>
            <a:ext cx="381033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21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949DB0-5C8B-C960-8848-AD508F0E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639" y="452755"/>
            <a:ext cx="7370470" cy="56969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Source Columns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67F40F-B2E0-207E-B733-5C4B5A9C8793}"/>
              </a:ext>
            </a:extLst>
          </p:cNvPr>
          <p:cNvCxnSpPr>
            <a:cxnSpLocks/>
          </p:cNvCxnSpPr>
          <p:nvPr/>
        </p:nvCxnSpPr>
        <p:spPr>
          <a:xfrm flipH="1">
            <a:off x="4961100" y="4418762"/>
            <a:ext cx="175098" cy="26024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4395EE-D45F-57A6-68A8-5F7E30577468}"/>
              </a:ext>
            </a:extLst>
          </p:cNvPr>
          <p:cNvCxnSpPr>
            <a:cxnSpLocks/>
          </p:cNvCxnSpPr>
          <p:nvPr/>
        </p:nvCxnSpPr>
        <p:spPr>
          <a:xfrm flipH="1" flipV="1">
            <a:off x="2084018" y="2141305"/>
            <a:ext cx="522988" cy="387441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169103-6B62-33D0-72DE-012966BA81AC}"/>
              </a:ext>
            </a:extLst>
          </p:cNvPr>
          <p:cNvSpPr txBox="1"/>
          <p:nvPr/>
        </p:nvSpPr>
        <p:spPr>
          <a:xfrm>
            <a:off x="1378007" y="2425198"/>
            <a:ext cx="226010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فیلدهای اطلاعاتی شناسایی شده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00825F-3DE5-EB79-2041-28386F636EEC}"/>
              </a:ext>
            </a:extLst>
          </p:cNvPr>
          <p:cNvSpPr txBox="1"/>
          <p:nvPr/>
        </p:nvSpPr>
        <p:spPr>
          <a:xfrm>
            <a:off x="3346309" y="4062512"/>
            <a:ext cx="2665326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4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نام فیلد در مبدا (</a:t>
            </a:r>
            <a:r>
              <a:rPr lang="en-US" sz="14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Read-only</a:t>
            </a:r>
            <a:r>
              <a:rPr lang="fa-IR" sz="14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54CFF4-45F6-29E2-CEB4-B5858BBC519C}"/>
              </a:ext>
            </a:extLst>
          </p:cNvPr>
          <p:cNvCxnSpPr>
            <a:cxnSpLocks/>
          </p:cNvCxnSpPr>
          <p:nvPr/>
        </p:nvCxnSpPr>
        <p:spPr>
          <a:xfrm flipH="1">
            <a:off x="7364622" y="2130476"/>
            <a:ext cx="271591" cy="288338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19FE01-16B4-7C68-0985-4BA9DF9D901C}"/>
              </a:ext>
            </a:extLst>
          </p:cNvPr>
          <p:cNvSpPr txBox="1"/>
          <p:nvPr/>
        </p:nvSpPr>
        <p:spPr>
          <a:xfrm>
            <a:off x="3638114" y="1268244"/>
            <a:ext cx="5139520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لیست فیلدهای اطلاعاتی در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Source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با قابلیت انتخاب فیلد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7B00E0-9024-2D27-806A-0AED5BF273ED}"/>
              </a:ext>
            </a:extLst>
          </p:cNvPr>
          <p:cNvSpPr txBox="1"/>
          <p:nvPr/>
        </p:nvSpPr>
        <p:spPr>
          <a:xfrm>
            <a:off x="5856045" y="4062511"/>
            <a:ext cx="3017155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4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نام فیلد در جریان داده (</a:t>
            </a:r>
            <a:r>
              <a:rPr lang="en-US" sz="14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Writable</a:t>
            </a:r>
            <a:r>
              <a:rPr lang="fa-IR" sz="14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FEEDA5-0972-F001-AB45-F32B27F2C2EC}"/>
              </a:ext>
            </a:extLst>
          </p:cNvPr>
          <p:cNvCxnSpPr>
            <a:cxnSpLocks/>
          </p:cNvCxnSpPr>
          <p:nvPr/>
        </p:nvCxnSpPr>
        <p:spPr>
          <a:xfrm flipH="1">
            <a:off x="8093463" y="4418762"/>
            <a:ext cx="175098" cy="26024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8DE2DE7-E85D-7EC2-80B9-862958EFC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457" y="927959"/>
            <a:ext cx="381033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46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5AB7C8-ADAC-50CC-D536-FB5CC8966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1141700"/>
            <a:ext cx="9086470" cy="4435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Source Error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4395EE-D45F-57A6-68A8-5F7E30577468}"/>
              </a:ext>
            </a:extLst>
          </p:cNvPr>
          <p:cNvCxnSpPr>
            <a:cxnSpLocks/>
          </p:cNvCxnSpPr>
          <p:nvPr/>
        </p:nvCxnSpPr>
        <p:spPr>
          <a:xfrm flipH="1" flipV="1">
            <a:off x="1209821" y="3506577"/>
            <a:ext cx="522988" cy="387441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169103-6B62-33D0-72DE-012966BA81AC}"/>
              </a:ext>
            </a:extLst>
          </p:cNvPr>
          <p:cNvSpPr txBox="1"/>
          <p:nvPr/>
        </p:nvSpPr>
        <p:spPr>
          <a:xfrm>
            <a:off x="382487" y="3839251"/>
            <a:ext cx="2260107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نحوه مدیریت خطا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54CFF4-45F6-29E2-CEB4-B5858BBC519C}"/>
              </a:ext>
            </a:extLst>
          </p:cNvPr>
          <p:cNvCxnSpPr>
            <a:cxnSpLocks/>
          </p:cNvCxnSpPr>
          <p:nvPr/>
        </p:nvCxnSpPr>
        <p:spPr>
          <a:xfrm>
            <a:off x="7695362" y="2227634"/>
            <a:ext cx="0" cy="45608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19FE01-16B4-7C68-0985-4BA9DF9D901C}"/>
              </a:ext>
            </a:extLst>
          </p:cNvPr>
          <p:cNvSpPr txBox="1"/>
          <p:nvPr/>
        </p:nvSpPr>
        <p:spPr>
          <a:xfrm>
            <a:off x="605236" y="1901413"/>
            <a:ext cx="7267726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برخورد با اطلاعات نا سازگار با نوع داده یا </a:t>
            </a:r>
            <a:r>
              <a:rPr lang="en-US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Constraint</a:t>
            </a:r>
            <a:r>
              <a:rPr lang="fa-IR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 (مانند </a:t>
            </a:r>
            <a:r>
              <a:rPr lang="en-US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Duplicate value</a:t>
            </a:r>
            <a:r>
              <a:rPr lang="fa-IR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در </a:t>
            </a:r>
            <a:r>
              <a:rPr lang="en-US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Unique Constraint</a:t>
            </a:r>
            <a:r>
              <a:rPr lang="fa-IR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FEEDA5-0972-F001-AB45-F32B27F2C2EC}"/>
              </a:ext>
            </a:extLst>
          </p:cNvPr>
          <p:cNvCxnSpPr>
            <a:cxnSpLocks/>
          </p:cNvCxnSpPr>
          <p:nvPr/>
        </p:nvCxnSpPr>
        <p:spPr>
          <a:xfrm>
            <a:off x="9375721" y="1827210"/>
            <a:ext cx="0" cy="880498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0C6C16D-75DD-77A6-6CCD-9A07006CFD19}"/>
              </a:ext>
            </a:extLst>
          </p:cNvPr>
          <p:cNvSpPr txBox="1"/>
          <p:nvPr/>
        </p:nvSpPr>
        <p:spPr>
          <a:xfrm>
            <a:off x="2743200" y="1357851"/>
            <a:ext cx="6948505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برخورد با اطلاعات سازگار ولی فراتر از محدوده نوع داده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CA7054A-3F8F-4439-B247-CB4A98F28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8461" y="520840"/>
            <a:ext cx="381033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07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F9963D-6A78-0097-CB07-B117E6DDF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18" y="2609023"/>
            <a:ext cx="10773943" cy="20872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Variables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4395EE-D45F-57A6-68A8-5F7E30577468}"/>
              </a:ext>
            </a:extLst>
          </p:cNvPr>
          <p:cNvCxnSpPr>
            <a:cxnSpLocks/>
          </p:cNvCxnSpPr>
          <p:nvPr/>
        </p:nvCxnSpPr>
        <p:spPr>
          <a:xfrm flipV="1">
            <a:off x="2830599" y="4692254"/>
            <a:ext cx="0" cy="482861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169103-6B62-33D0-72DE-012966BA81AC}"/>
              </a:ext>
            </a:extLst>
          </p:cNvPr>
          <p:cNvSpPr txBox="1"/>
          <p:nvPr/>
        </p:nvSpPr>
        <p:spPr>
          <a:xfrm>
            <a:off x="927700" y="5142159"/>
            <a:ext cx="380579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مشاهده از پنل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Variables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936289-7C47-9F89-9B84-97383E0C4979}"/>
              </a:ext>
            </a:extLst>
          </p:cNvPr>
          <p:cNvCxnSpPr>
            <a:cxnSpLocks/>
          </p:cNvCxnSpPr>
          <p:nvPr/>
        </p:nvCxnSpPr>
        <p:spPr>
          <a:xfrm>
            <a:off x="4464996" y="3293781"/>
            <a:ext cx="0" cy="61460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00825F-3DE5-EB79-2041-28386F636EEC}"/>
              </a:ext>
            </a:extLst>
          </p:cNvPr>
          <p:cNvSpPr txBox="1"/>
          <p:nvPr/>
        </p:nvSpPr>
        <p:spPr>
          <a:xfrm>
            <a:off x="3638146" y="2842979"/>
            <a:ext cx="1857983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محدوده موثر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54CFF4-45F6-29E2-CEB4-B5858BBC519C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692699" y="3312338"/>
            <a:ext cx="1" cy="570959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19FE01-16B4-7C68-0985-4BA9DF9D901C}"/>
              </a:ext>
            </a:extLst>
          </p:cNvPr>
          <p:cNvSpPr txBox="1"/>
          <p:nvPr/>
        </p:nvSpPr>
        <p:spPr>
          <a:xfrm>
            <a:off x="1951535" y="2842979"/>
            <a:ext cx="148232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نام متغیر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4212079" y="1226356"/>
            <a:ext cx="7373717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Control Flow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ذخیره سازی و بازیابی مقادیر داخل حافظه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قابلیت تعریف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علاوه بر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Static Value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B4E3723-CC04-9B06-152C-369519933A99}"/>
              </a:ext>
            </a:extLst>
          </p:cNvPr>
          <p:cNvCxnSpPr>
            <a:cxnSpLocks/>
          </p:cNvCxnSpPr>
          <p:nvPr/>
        </p:nvCxnSpPr>
        <p:spPr>
          <a:xfrm>
            <a:off x="6611845" y="3286773"/>
            <a:ext cx="0" cy="61460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2BE5486-2D97-9384-DBC0-3AC4A76D3610}"/>
              </a:ext>
            </a:extLst>
          </p:cNvPr>
          <p:cNvSpPr txBox="1"/>
          <p:nvPr/>
        </p:nvSpPr>
        <p:spPr>
          <a:xfrm>
            <a:off x="5291848" y="2842979"/>
            <a:ext cx="1536730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نوع داده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CC447E-A532-4944-36BA-0AB32FEA0B81}"/>
              </a:ext>
            </a:extLst>
          </p:cNvPr>
          <p:cNvCxnSpPr>
            <a:cxnSpLocks/>
          </p:cNvCxnSpPr>
          <p:nvPr/>
        </p:nvCxnSpPr>
        <p:spPr>
          <a:xfrm>
            <a:off x="8084521" y="3261208"/>
            <a:ext cx="0" cy="61460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88AF4BB-C8A2-1C47-6F94-0FEA256BFDF4}"/>
              </a:ext>
            </a:extLst>
          </p:cNvPr>
          <p:cNvSpPr txBox="1"/>
          <p:nvPr/>
        </p:nvSpPr>
        <p:spPr>
          <a:xfrm>
            <a:off x="6764523" y="2817414"/>
            <a:ext cx="1717753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مقدار متغیر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3498806-1AAB-EAF4-D78F-D35AFC596BFD}"/>
              </a:ext>
            </a:extLst>
          </p:cNvPr>
          <p:cNvCxnSpPr>
            <a:cxnSpLocks/>
          </p:cNvCxnSpPr>
          <p:nvPr/>
        </p:nvCxnSpPr>
        <p:spPr>
          <a:xfrm>
            <a:off x="10045307" y="3289651"/>
            <a:ext cx="0" cy="61460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E7FDD77-95C9-105D-5399-1C0C952D6105}"/>
              </a:ext>
            </a:extLst>
          </p:cNvPr>
          <p:cNvSpPr txBox="1"/>
          <p:nvPr/>
        </p:nvSpPr>
        <p:spPr>
          <a:xfrm>
            <a:off x="8301252" y="2845857"/>
            <a:ext cx="336220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فرمول محاسبه مقدار متغیر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3D42C6-8C41-52D0-F739-302A79058E75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533161" y="2217641"/>
            <a:ext cx="1024325" cy="83445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2A96CC3-478E-ACD2-BEF9-D2CE94D3C3FA}"/>
              </a:ext>
            </a:extLst>
          </p:cNvPr>
          <p:cNvSpPr txBox="1"/>
          <p:nvPr/>
        </p:nvSpPr>
        <p:spPr>
          <a:xfrm>
            <a:off x="605235" y="1916020"/>
            <a:ext cx="1904501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افزودن متغیر جدید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A3EB03-21A6-36BF-ADC3-DA206040F337}"/>
              </a:ext>
            </a:extLst>
          </p:cNvPr>
          <p:cNvCxnSpPr>
            <a:cxnSpLocks/>
          </p:cNvCxnSpPr>
          <p:nvPr/>
        </p:nvCxnSpPr>
        <p:spPr>
          <a:xfrm flipH="1">
            <a:off x="987954" y="2634867"/>
            <a:ext cx="537834" cy="417226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8DBE21-B19F-571E-A362-6F718870A853}"/>
              </a:ext>
            </a:extLst>
          </p:cNvPr>
          <p:cNvSpPr txBox="1"/>
          <p:nvPr/>
        </p:nvSpPr>
        <p:spPr>
          <a:xfrm>
            <a:off x="1215894" y="2290604"/>
            <a:ext cx="2152157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تعیین محدوده موثر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6499DF-E720-CACA-3882-8A82524045EE}"/>
              </a:ext>
            </a:extLst>
          </p:cNvPr>
          <p:cNvSpPr txBox="1"/>
          <p:nvPr/>
        </p:nvSpPr>
        <p:spPr>
          <a:xfrm>
            <a:off x="546871" y="2686504"/>
            <a:ext cx="2152157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حذف متغیر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907581A-8D41-0318-8E85-5D16EE03B4EC}"/>
              </a:ext>
            </a:extLst>
          </p:cNvPr>
          <p:cNvCxnSpPr>
            <a:cxnSpLocks/>
          </p:cNvCxnSpPr>
          <p:nvPr/>
        </p:nvCxnSpPr>
        <p:spPr>
          <a:xfrm flipH="1">
            <a:off x="1295783" y="2989426"/>
            <a:ext cx="263171" cy="218841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5E2BB56-FDAC-84E1-8355-DE449667A6EC}"/>
              </a:ext>
            </a:extLst>
          </p:cNvPr>
          <p:cNvCxnSpPr>
            <a:cxnSpLocks/>
          </p:cNvCxnSpPr>
          <p:nvPr/>
        </p:nvCxnSpPr>
        <p:spPr>
          <a:xfrm flipV="1">
            <a:off x="10768518" y="3970848"/>
            <a:ext cx="0" cy="63818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C4D218C-2BEB-CA73-BFFD-2CA4725AB493}"/>
              </a:ext>
            </a:extLst>
          </p:cNvPr>
          <p:cNvSpPr txBox="1"/>
          <p:nvPr/>
        </p:nvSpPr>
        <p:spPr>
          <a:xfrm>
            <a:off x="7947814" y="4521477"/>
            <a:ext cx="336220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تعریف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15736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Variables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4212079" y="1226356"/>
            <a:ext cx="737371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نحوه تعریف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45396-2686-0E85-E779-620464391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937" y="381551"/>
            <a:ext cx="6095237" cy="5669053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C0AA54-3400-7177-1D8B-9349BD408F75}"/>
              </a:ext>
            </a:extLst>
          </p:cNvPr>
          <p:cNvCxnSpPr>
            <a:cxnSpLocks/>
          </p:cNvCxnSpPr>
          <p:nvPr/>
        </p:nvCxnSpPr>
        <p:spPr>
          <a:xfrm>
            <a:off x="525294" y="5882719"/>
            <a:ext cx="975353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7D31A9C-C282-7EA0-EEE9-52DEE31B2A29}"/>
              </a:ext>
            </a:extLst>
          </p:cNvPr>
          <p:cNvSpPr txBox="1"/>
          <p:nvPr/>
        </p:nvSpPr>
        <p:spPr>
          <a:xfrm>
            <a:off x="3009230" y="5366565"/>
            <a:ext cx="4315837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پنل پیش نمایش نتیجه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41D5AF-72E9-1044-BC8A-A558EFC00AED}"/>
              </a:ext>
            </a:extLst>
          </p:cNvPr>
          <p:cNvSpPr txBox="1"/>
          <p:nvPr/>
        </p:nvSpPr>
        <p:spPr>
          <a:xfrm>
            <a:off x="3009229" y="4658802"/>
            <a:ext cx="4315837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پنل تعریف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337BF-4A13-6250-B786-37FA1E9605CC}"/>
              </a:ext>
            </a:extLst>
          </p:cNvPr>
          <p:cNvSpPr txBox="1"/>
          <p:nvPr/>
        </p:nvSpPr>
        <p:spPr>
          <a:xfrm>
            <a:off x="1081064" y="1718521"/>
            <a:ext cx="2603927" cy="11772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لیست متغیرها و پارامترهای قابل استفاده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A95A86-AD34-9B14-9823-0BBA6259947F}"/>
              </a:ext>
            </a:extLst>
          </p:cNvPr>
          <p:cNvSpPr txBox="1"/>
          <p:nvPr/>
        </p:nvSpPr>
        <p:spPr>
          <a:xfrm>
            <a:off x="5015505" y="2123759"/>
            <a:ext cx="2160990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لیست توابع استاندارد</a:t>
            </a:r>
          </a:p>
        </p:txBody>
      </p:sp>
    </p:spTree>
    <p:extLst>
      <p:ext uri="{BB962C8B-B14F-4D97-AF65-F5344CB8AC3E}">
        <p14:creationId xmlns:p14="http://schemas.microsoft.com/office/powerpoint/2010/main" val="2350072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8AC3FAA-93F4-41DC-920B-7F6F723E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321" y="381551"/>
            <a:ext cx="5728049" cy="5799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 Task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7415559" y="1226356"/>
            <a:ext cx="4170237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Control Flow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تغییر مقدار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Variable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 بصورت استاتیک یا بواسطه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D31A9C-C282-7EA0-EEE9-52DEE31B2A29}"/>
              </a:ext>
            </a:extLst>
          </p:cNvPr>
          <p:cNvSpPr txBox="1"/>
          <p:nvPr/>
        </p:nvSpPr>
        <p:spPr>
          <a:xfrm>
            <a:off x="2590939" y="5356837"/>
            <a:ext cx="4315837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پنل پیش نمایش نتیجه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41D5AF-72E9-1044-BC8A-A558EFC00AED}"/>
              </a:ext>
            </a:extLst>
          </p:cNvPr>
          <p:cNvSpPr txBox="1"/>
          <p:nvPr/>
        </p:nvSpPr>
        <p:spPr>
          <a:xfrm>
            <a:off x="1440987" y="4552226"/>
            <a:ext cx="5485245" cy="6217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پنل مقدار دهی متغیر به صورت دستی یا با استفاده از 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Expression</a:t>
            </a:r>
            <a:endParaRPr lang="fa-IR" sz="16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337BF-4A13-6250-B786-37FA1E9605CC}"/>
              </a:ext>
            </a:extLst>
          </p:cNvPr>
          <p:cNvSpPr txBox="1"/>
          <p:nvPr/>
        </p:nvSpPr>
        <p:spPr>
          <a:xfrm>
            <a:off x="990083" y="1718799"/>
            <a:ext cx="2603927" cy="11772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لیست متغیرها و پارامترهای قابل استفاده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A95A86-AD34-9B14-9823-0BBA6259947F}"/>
              </a:ext>
            </a:extLst>
          </p:cNvPr>
          <p:cNvSpPr txBox="1"/>
          <p:nvPr/>
        </p:nvSpPr>
        <p:spPr>
          <a:xfrm>
            <a:off x="4745786" y="2118908"/>
            <a:ext cx="2160990" cy="777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لیست توابع استاندارد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F6DA18-0C9B-0E79-1FF4-070046604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487" y="520840"/>
            <a:ext cx="381033" cy="327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6B6E08-37F7-7EF8-3DF5-D3E03B95FB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397" y="5630128"/>
            <a:ext cx="1852332" cy="505182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C0AA54-3400-7177-1D8B-9349BD408F75}"/>
              </a:ext>
            </a:extLst>
          </p:cNvPr>
          <p:cNvCxnSpPr>
            <a:cxnSpLocks/>
          </p:cNvCxnSpPr>
          <p:nvPr/>
        </p:nvCxnSpPr>
        <p:spPr>
          <a:xfrm flipH="1">
            <a:off x="7159558" y="5733863"/>
            <a:ext cx="798461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54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8F1075-321F-69FA-CBF1-8EA0371C3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2884859"/>
            <a:ext cx="7335274" cy="31722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Row Count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169103-6B62-33D0-72DE-012966BA81AC}"/>
              </a:ext>
            </a:extLst>
          </p:cNvPr>
          <p:cNvSpPr txBox="1"/>
          <p:nvPr/>
        </p:nvSpPr>
        <p:spPr>
          <a:xfrm>
            <a:off x="7898937" y="4130962"/>
            <a:ext cx="3584642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نام متغیری که تعداد شمارش شده را نگهداری خواهد کرد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936289-7C47-9F89-9B84-97383E0C4979}"/>
              </a:ext>
            </a:extLst>
          </p:cNvPr>
          <p:cNvCxnSpPr>
            <a:cxnSpLocks/>
          </p:cNvCxnSpPr>
          <p:nvPr/>
        </p:nvCxnSpPr>
        <p:spPr>
          <a:xfrm flipH="1" flipV="1">
            <a:off x="3411774" y="4565696"/>
            <a:ext cx="1568788" cy="1323573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00825F-3DE5-EB79-2041-28386F636EEC}"/>
              </a:ext>
            </a:extLst>
          </p:cNvPr>
          <p:cNvSpPr txBox="1"/>
          <p:nvPr/>
        </p:nvSpPr>
        <p:spPr>
          <a:xfrm>
            <a:off x="4212079" y="5767929"/>
            <a:ext cx="2930404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کامپوننت شمارش رکورد جابجا شده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4212079" y="1226356"/>
            <a:ext cx="7373717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CNT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شمارش تعداد رکورد منتقل شده در جریان داده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لزوم تعریف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Variable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پیش از استفاده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B6029-8BA3-2BD1-ADEE-A28398D41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2617" y="500300"/>
            <a:ext cx="388654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3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472B88-0B40-B588-BA8B-F65901BA4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1006749"/>
            <a:ext cx="5703153" cy="52570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Destinations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67F40F-B2E0-207E-B733-5C4B5A9C8793}"/>
              </a:ext>
            </a:extLst>
          </p:cNvPr>
          <p:cNvCxnSpPr>
            <a:cxnSpLocks/>
          </p:cNvCxnSpPr>
          <p:nvPr/>
        </p:nvCxnSpPr>
        <p:spPr>
          <a:xfrm flipH="1">
            <a:off x="5836596" y="5408579"/>
            <a:ext cx="1177047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169103-6B62-33D0-72DE-012966BA81AC}"/>
              </a:ext>
            </a:extLst>
          </p:cNvPr>
          <p:cNvSpPr txBox="1"/>
          <p:nvPr/>
        </p:nvSpPr>
        <p:spPr>
          <a:xfrm>
            <a:off x="2930382" y="2282580"/>
            <a:ext cx="358464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نام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مورد استفاده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00825F-3DE5-EB79-2041-28386F636EEC}"/>
              </a:ext>
            </a:extLst>
          </p:cNvPr>
          <p:cNvSpPr txBox="1"/>
          <p:nvPr/>
        </p:nvSpPr>
        <p:spPr>
          <a:xfrm>
            <a:off x="2966852" y="3806939"/>
            <a:ext cx="358464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محل ذخیره سازی داده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54CFF4-45F6-29E2-CEB4-B5858BBC519C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280566" y="3400597"/>
            <a:ext cx="445128" cy="1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19FE01-16B4-7C68-0985-4BA9DF9D901C}"/>
              </a:ext>
            </a:extLst>
          </p:cNvPr>
          <p:cNvSpPr txBox="1"/>
          <p:nvPr/>
        </p:nvSpPr>
        <p:spPr>
          <a:xfrm>
            <a:off x="3725694" y="3165918"/>
            <a:ext cx="2825800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ذخیره سازی داده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3820639" y="1226356"/>
            <a:ext cx="7765157" cy="1989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 ها:</a:t>
            </a:r>
          </a:p>
          <a:p>
            <a:pPr marL="685800" lvl="2" algn="justLow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1600" dirty="0"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ADO_DST, DS_DST, EX_</a:t>
            </a:r>
            <a:r>
              <a:rPr lang="en-US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DST, FF_DST, OLE_DST, RF_DST, RS_DST, SS_DST</a:t>
            </a:r>
            <a:endParaRPr lang="fa-IR" sz="16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ذخیره سازی اطلاعات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لزوم تعریف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پیش از استفاده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E8D51-E92A-6E80-0966-E55998AD3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964" y="508922"/>
            <a:ext cx="381033" cy="350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F1E025-19E1-E6AE-310B-F44ED1457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6622" y="3589251"/>
            <a:ext cx="2419752" cy="3101373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49DE75-7701-47A2-119A-ABD75FA8769E}"/>
              </a:ext>
            </a:extLst>
          </p:cNvPr>
          <p:cNvCxnSpPr>
            <a:cxnSpLocks/>
          </p:cNvCxnSpPr>
          <p:nvPr/>
        </p:nvCxnSpPr>
        <p:spPr>
          <a:xfrm flipH="1">
            <a:off x="4328657" y="2673149"/>
            <a:ext cx="262798" cy="23277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0D9113C-B886-3AFE-DB3A-49F6995693FF}"/>
              </a:ext>
            </a:extLst>
          </p:cNvPr>
          <p:cNvCxnSpPr>
            <a:cxnSpLocks/>
          </p:cNvCxnSpPr>
          <p:nvPr/>
        </p:nvCxnSpPr>
        <p:spPr>
          <a:xfrm flipH="1" flipV="1">
            <a:off x="3500799" y="4031980"/>
            <a:ext cx="357743" cy="103555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547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472B88-0B40-B588-BA8B-F65901BA4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1006749"/>
            <a:ext cx="5703153" cy="52570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Destinations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169103-6B62-33D0-72DE-012966BA81AC}"/>
              </a:ext>
            </a:extLst>
          </p:cNvPr>
          <p:cNvSpPr txBox="1"/>
          <p:nvPr/>
        </p:nvSpPr>
        <p:spPr>
          <a:xfrm>
            <a:off x="2930382" y="2282580"/>
            <a:ext cx="358464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نام </a:t>
            </a:r>
            <a:r>
              <a:rPr lang="en-US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مورد استفاده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00825F-3DE5-EB79-2041-28386F636EEC}"/>
              </a:ext>
            </a:extLst>
          </p:cNvPr>
          <p:cNvSpPr txBox="1"/>
          <p:nvPr/>
        </p:nvSpPr>
        <p:spPr>
          <a:xfrm>
            <a:off x="2966852" y="3806939"/>
            <a:ext cx="358464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محل ذخیره سازی داده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54CFF4-45F6-29E2-CEB4-B5858BBC519C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280566" y="3400597"/>
            <a:ext cx="445128" cy="1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19FE01-16B4-7C68-0985-4BA9DF9D901C}"/>
              </a:ext>
            </a:extLst>
          </p:cNvPr>
          <p:cNvSpPr txBox="1"/>
          <p:nvPr/>
        </p:nvSpPr>
        <p:spPr>
          <a:xfrm>
            <a:off x="3725694" y="3165918"/>
            <a:ext cx="2825800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روش ذخیره سازی داده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308388" y="1226356"/>
            <a:ext cx="5277408" cy="287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Access Mode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Table or View (row by row)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Table or View – fast load (batch)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command (row by row)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Rollback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در محدوده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Insert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سرعت بالا در حالت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batch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اجرای تریگر در حالت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row by row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E8D51-E92A-6E80-0966-E55998AD3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964" y="508922"/>
            <a:ext cx="381033" cy="35055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49DE75-7701-47A2-119A-ABD75FA8769E}"/>
              </a:ext>
            </a:extLst>
          </p:cNvPr>
          <p:cNvCxnSpPr>
            <a:cxnSpLocks/>
          </p:cNvCxnSpPr>
          <p:nvPr/>
        </p:nvCxnSpPr>
        <p:spPr>
          <a:xfrm flipH="1">
            <a:off x="4328657" y="2673149"/>
            <a:ext cx="262798" cy="23277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0D9113C-B886-3AFE-DB3A-49F6995693FF}"/>
              </a:ext>
            </a:extLst>
          </p:cNvPr>
          <p:cNvCxnSpPr>
            <a:cxnSpLocks/>
          </p:cNvCxnSpPr>
          <p:nvPr/>
        </p:nvCxnSpPr>
        <p:spPr>
          <a:xfrm flipH="1" flipV="1">
            <a:off x="3500799" y="4031980"/>
            <a:ext cx="357743" cy="103555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10531F-29FC-68AC-93F2-44110006FF78}"/>
              </a:ext>
            </a:extLst>
          </p:cNvPr>
          <p:cNvCxnSpPr>
            <a:cxnSpLocks/>
          </p:cNvCxnSpPr>
          <p:nvPr/>
        </p:nvCxnSpPr>
        <p:spPr>
          <a:xfrm flipH="1">
            <a:off x="4961106" y="4529605"/>
            <a:ext cx="1552285" cy="188307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DF8567-E405-175E-79B2-CB21185F9216}"/>
              </a:ext>
            </a:extLst>
          </p:cNvPr>
          <p:cNvSpPr txBox="1"/>
          <p:nvPr/>
        </p:nvSpPr>
        <p:spPr>
          <a:xfrm>
            <a:off x="6308388" y="4060246"/>
            <a:ext cx="5883612" cy="941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فقط یک 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hint</a:t>
            </a: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به 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optimizer</a:t>
            </a: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است، 0 یعنی خود 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</a:t>
            </a: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تعیین میکند، برای تعداد رکورد کم عدد بیم 1000-5000 مناسب بوده و برای بیش از چند میلیون ردیف عدد 50.000-100.000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509771-94A1-8B0A-DA53-8F83954B4E61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4972955" y="5068198"/>
            <a:ext cx="1403733" cy="64646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4AABF7E-B424-F9BC-1A8C-5926D3BEEC39}"/>
              </a:ext>
            </a:extLst>
          </p:cNvPr>
          <p:cNvSpPr txBox="1"/>
          <p:nvPr/>
        </p:nvSpPr>
        <p:spPr>
          <a:xfrm>
            <a:off x="605235" y="5132844"/>
            <a:ext cx="11542906" cy="941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کاهش نرخ رشد 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Log file</a:t>
            </a: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با تنظیم مناسب 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MICS</a:t>
            </a: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، مقدار 0 یعنی کل اطلاعات در یک تراکنش واحد قرار خواهد گیرد که فقط مناسب جداول کوپک است. اگر حجم داده زیاد است مقدار 100.000 – 500.0000 رکورد جهت ممانعت از رشد بیش از حد لاگ میتواند مناسب باشد، اگر نیاز به کنترل تراکنش ها دارید مقدار 10.000 – 50.000 میتواند تعادلی بین عملکرد و کنترل داده ها ایجاد کند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7D90BD-B0A5-8476-86A2-CE50C74047CB}"/>
              </a:ext>
            </a:extLst>
          </p:cNvPr>
          <p:cNvSpPr txBox="1"/>
          <p:nvPr/>
        </p:nvSpPr>
        <p:spPr>
          <a:xfrm>
            <a:off x="2704290" y="6218659"/>
            <a:ext cx="9524190" cy="6217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اگر </a:t>
            </a:r>
            <a:r>
              <a:rPr lang="en-US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Log</a:t>
            </a:r>
            <a:r>
              <a:rPr lang="fa-IR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بیش از حد رشد میکند </a:t>
            </a:r>
            <a:r>
              <a:rPr lang="en-US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MICS</a:t>
            </a:r>
            <a:r>
              <a:rPr lang="fa-IR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را کاهش دهید، اگر </a:t>
            </a:r>
            <a:r>
              <a:rPr lang="en-US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Query Performance</a:t>
            </a:r>
            <a:r>
              <a:rPr lang="fa-IR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پایین است مقدار </a:t>
            </a:r>
            <a:r>
              <a:rPr lang="en-US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Rows per batch</a:t>
            </a:r>
            <a:r>
              <a:rPr lang="fa-IR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را افزایش دهید. برای استخراج بهترین ترکیب با </a:t>
            </a:r>
            <a:r>
              <a:rPr lang="en-US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Profiler</a:t>
            </a:r>
            <a:r>
              <a:rPr lang="fa-IR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Execution Plan</a:t>
            </a:r>
            <a:r>
              <a:rPr lang="fa-IR" sz="16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تنظیمات مختلف را مانیتور کنید</a:t>
            </a:r>
          </a:p>
        </p:txBody>
      </p:sp>
    </p:spTree>
    <p:extLst>
      <p:ext uri="{BB962C8B-B14F-4D97-AF65-F5344CB8AC3E}">
        <p14:creationId xmlns:p14="http://schemas.microsoft.com/office/powerpoint/2010/main" val="1669957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Breakpoint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05235" y="1226356"/>
            <a:ext cx="10980561" cy="287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امکانی جهت ایجاد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Interrupt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Control Flow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در هنگام اجرای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Package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با هدف بررسی وضعیت عوامل موثر در اجرای پکیج</a:t>
            </a:r>
          </a:p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محیط توسعه</a:t>
            </a:r>
          </a:p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در صورت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Package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فقط اعمال میشود، نه در حالت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Container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یا در حالت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Task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17CA6-9BAE-ACB5-2198-BF28ED2DF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04" y="2283175"/>
            <a:ext cx="6953156" cy="389747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67F40F-B2E0-207E-B733-5C4B5A9C8793}"/>
              </a:ext>
            </a:extLst>
          </p:cNvPr>
          <p:cNvCxnSpPr>
            <a:cxnSpLocks/>
          </p:cNvCxnSpPr>
          <p:nvPr/>
        </p:nvCxnSpPr>
        <p:spPr>
          <a:xfrm flipH="1">
            <a:off x="7354111" y="4852014"/>
            <a:ext cx="1177047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169103-6B62-33D0-72DE-012966BA81AC}"/>
              </a:ext>
            </a:extLst>
          </p:cNvPr>
          <p:cNvSpPr txBox="1"/>
          <p:nvPr/>
        </p:nvSpPr>
        <p:spPr>
          <a:xfrm>
            <a:off x="1211501" y="2998518"/>
            <a:ext cx="3127035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شرایط اعمال توقف موقت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49DE75-7701-47A2-119A-ABD75FA8769E}"/>
              </a:ext>
            </a:extLst>
          </p:cNvPr>
          <p:cNvCxnSpPr>
            <a:cxnSpLocks/>
          </p:cNvCxnSpPr>
          <p:nvPr/>
        </p:nvCxnSpPr>
        <p:spPr>
          <a:xfrm>
            <a:off x="4108378" y="3335824"/>
            <a:ext cx="0" cy="364825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D2B00E85-4291-99AC-B840-0F644EFA2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158" y="4599423"/>
            <a:ext cx="1852332" cy="505182"/>
          </a:xfrm>
          <a:prstGeom prst="rect">
            <a:avLst/>
          </a:prstGeom>
        </p:spPr>
      </p:pic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EB47BE96-BF09-50ED-FE41-936D010F75A3}"/>
              </a:ext>
            </a:extLst>
          </p:cNvPr>
          <p:cNvSpPr/>
          <p:nvPr/>
        </p:nvSpPr>
        <p:spPr>
          <a:xfrm>
            <a:off x="9183004" y="547524"/>
            <a:ext cx="274320" cy="274320"/>
          </a:xfrm>
          <a:prstGeom prst="flowChartConnector">
            <a:avLst/>
          </a:prstGeom>
          <a:solidFill>
            <a:srgbClr val="D6001C"/>
          </a:solidFill>
          <a:ln>
            <a:solidFill>
              <a:srgbClr val="D600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96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Viewer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05235" y="1226356"/>
            <a:ext cx="10980561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امکانی جهت ایجاد بررسی اطلاعات در حال جابجایی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در هنگام اجرای جریان داده با هدف بررسی داده 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Pipeline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محیط توسعه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r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تنها بر روی مسیرها (فلش های)</a:t>
            </a:r>
            <a:b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</a:b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جریان داده قابل اعمال است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1D784D-8460-1473-3E78-0CB10E22D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65" y="1878537"/>
            <a:ext cx="4896533" cy="423921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67F40F-B2E0-207E-B733-5C4B5A9C8793}"/>
              </a:ext>
            </a:extLst>
          </p:cNvPr>
          <p:cNvCxnSpPr>
            <a:cxnSpLocks/>
          </p:cNvCxnSpPr>
          <p:nvPr/>
        </p:nvCxnSpPr>
        <p:spPr>
          <a:xfrm flipH="1">
            <a:off x="2172807" y="2614652"/>
            <a:ext cx="5385584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49DE75-7701-47A2-119A-ABD75FA8769E}"/>
              </a:ext>
            </a:extLst>
          </p:cNvPr>
          <p:cNvCxnSpPr>
            <a:cxnSpLocks/>
          </p:cNvCxnSpPr>
          <p:nvPr/>
        </p:nvCxnSpPr>
        <p:spPr>
          <a:xfrm flipH="1">
            <a:off x="3920242" y="3518961"/>
            <a:ext cx="545419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5558B0D-12BD-0003-086C-E06CAE0A5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487" y="5017532"/>
            <a:ext cx="6616269" cy="17033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C8AB90E-2FE2-A01F-AE8A-E8DA83278348}"/>
              </a:ext>
            </a:extLst>
          </p:cNvPr>
          <p:cNvSpPr txBox="1"/>
          <p:nvPr/>
        </p:nvSpPr>
        <p:spPr>
          <a:xfrm>
            <a:off x="7558391" y="4059447"/>
            <a:ext cx="1230124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20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نتیجه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410B2A-25D2-3A7B-2659-7F376C416EB0}"/>
              </a:ext>
            </a:extLst>
          </p:cNvPr>
          <p:cNvCxnSpPr>
            <a:cxnSpLocks/>
          </p:cNvCxnSpPr>
          <p:nvPr/>
        </p:nvCxnSpPr>
        <p:spPr>
          <a:xfrm>
            <a:off x="8174558" y="4596137"/>
            <a:ext cx="0" cy="364825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511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SQL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71651" y="1226356"/>
            <a:ext cx="4614145" cy="2469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اجرای یک دستور پایگاه داده با دستور زبان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Native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همان پایگاه داده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قابلیت اجرای دستورات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DML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DDL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لزوم تعریف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پیش از استفاده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6FF1C-C887-9453-AB51-3B8916C8D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334" y="524650"/>
            <a:ext cx="327688" cy="320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C6F198-8260-29E9-6326-17DCE110E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32" y="1108138"/>
            <a:ext cx="6873919" cy="48841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0ADE65-BEDF-FE92-3034-72BFD9951970}"/>
              </a:ext>
            </a:extLst>
          </p:cNvPr>
          <p:cNvCxnSpPr>
            <a:cxnSpLocks/>
          </p:cNvCxnSpPr>
          <p:nvPr/>
        </p:nvCxnSpPr>
        <p:spPr>
          <a:xfrm flipH="1">
            <a:off x="3949430" y="4126642"/>
            <a:ext cx="1274323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8DB09D-F5C8-C96F-C679-F05DEB0BA74A}"/>
              </a:ext>
            </a:extLst>
          </p:cNvPr>
          <p:cNvSpPr txBox="1"/>
          <p:nvPr/>
        </p:nvSpPr>
        <p:spPr>
          <a:xfrm>
            <a:off x="4961107" y="3881631"/>
            <a:ext cx="214981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نام </a:t>
            </a:r>
            <a:r>
              <a:rPr lang="en-US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endParaRPr lang="fa-IR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E55CCB-F815-81DE-A710-A68DCBF7D191}"/>
              </a:ext>
            </a:extLst>
          </p:cNvPr>
          <p:cNvCxnSpPr>
            <a:cxnSpLocks/>
          </p:cNvCxnSpPr>
          <p:nvPr/>
        </p:nvCxnSpPr>
        <p:spPr>
          <a:xfrm flipH="1">
            <a:off x="4744015" y="3945750"/>
            <a:ext cx="2512819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9F1DEA-6D01-3212-29C6-4CD458BBBC47}"/>
              </a:ext>
            </a:extLst>
          </p:cNvPr>
          <p:cNvSpPr txBox="1"/>
          <p:nvPr/>
        </p:nvSpPr>
        <p:spPr>
          <a:xfrm>
            <a:off x="7065427" y="3714194"/>
            <a:ext cx="214981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نوع </a:t>
            </a:r>
            <a:r>
              <a:rPr lang="en-US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endParaRPr lang="fa-IR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74D1BF-008E-312D-69B6-659DF98364EA}"/>
              </a:ext>
            </a:extLst>
          </p:cNvPr>
          <p:cNvCxnSpPr>
            <a:cxnSpLocks/>
          </p:cNvCxnSpPr>
          <p:nvPr/>
        </p:nvCxnSpPr>
        <p:spPr>
          <a:xfrm flipH="1">
            <a:off x="6725215" y="4457639"/>
            <a:ext cx="1047185" cy="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FB52FF0-A574-1EC8-52D8-8BF23A228F98}"/>
              </a:ext>
            </a:extLst>
          </p:cNvPr>
          <p:cNvSpPr txBox="1"/>
          <p:nvPr/>
        </p:nvSpPr>
        <p:spPr>
          <a:xfrm>
            <a:off x="7636117" y="4241810"/>
            <a:ext cx="214981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دستور پایگاه داده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A3E614-A23D-0B20-6FB8-4048F8C88C44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3771667" y="3557888"/>
            <a:ext cx="3339253" cy="27832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4381A26-30BF-A011-2562-4C0277CC1A41}"/>
              </a:ext>
            </a:extLst>
          </p:cNvPr>
          <p:cNvSpPr txBox="1"/>
          <p:nvPr/>
        </p:nvSpPr>
        <p:spPr>
          <a:xfrm>
            <a:off x="7110920" y="3342059"/>
            <a:ext cx="3057566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ذخیره مقدار بازگشتی دستور</a:t>
            </a:r>
          </a:p>
        </p:txBody>
      </p:sp>
    </p:spTree>
    <p:extLst>
      <p:ext uri="{BB962C8B-B14F-4D97-AF65-F5344CB8AC3E}">
        <p14:creationId xmlns:p14="http://schemas.microsoft.com/office/powerpoint/2010/main" val="2708405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SQL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71651" y="1226356"/>
            <a:ext cx="4614145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Source Type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Direct Input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File Connection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Variable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6FF1C-C887-9453-AB51-3B8916C8D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334" y="524650"/>
            <a:ext cx="327688" cy="320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C6F198-8260-29E9-6326-17DCE110E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32" y="1108138"/>
            <a:ext cx="6873919" cy="488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08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SQL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71651" y="1226356"/>
            <a:ext cx="4614145" cy="287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برای دستورات پارامتریک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؟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OLEDB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ODBC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@ParamName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ADO.NET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مپ کردن متغیرها به پارامترها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0و1و2و... به جای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ParamName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OLEDB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ODBC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@ParamName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ADO.NET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6FF1C-C887-9453-AB51-3B8916C8D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334" y="524650"/>
            <a:ext cx="327688" cy="320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C6F198-8260-29E9-6326-17DCE110E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647" y="1055525"/>
            <a:ext cx="5641749" cy="40086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905242-F83C-E47F-7F70-842A46FCE38E}"/>
              </a:ext>
            </a:extLst>
          </p:cNvPr>
          <p:cNvSpPr txBox="1"/>
          <p:nvPr/>
        </p:nvSpPr>
        <p:spPr>
          <a:xfrm>
            <a:off x="243647" y="5201649"/>
            <a:ext cx="5022259" cy="941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1600" u="sng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OLEDB or ODB</a:t>
            </a:r>
            <a:endParaRPr lang="fa-IR" sz="1600" u="sng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228600" lvl="1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SELECT * FROM Customers WHERE </a:t>
            </a:r>
            <a:r>
              <a:rPr lang="en-US" sz="1600" dirty="0" err="1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CustomerID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= ?</a:t>
            </a:r>
          </a:p>
          <a:p>
            <a:pPr marL="228600" lvl="1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 </a:t>
            </a:r>
            <a:r>
              <a:rPr lang="en-US" sz="1600" dirty="0" err="1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dbo.MyProcedure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?</a:t>
            </a:r>
            <a:endParaRPr lang="fa-IR" sz="16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CCF9A-04DD-D27D-A5BB-0CF8FF47A7CB}"/>
              </a:ext>
            </a:extLst>
          </p:cNvPr>
          <p:cNvSpPr txBox="1"/>
          <p:nvPr/>
        </p:nvSpPr>
        <p:spPr>
          <a:xfrm>
            <a:off x="5885396" y="5201649"/>
            <a:ext cx="6245086" cy="941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1600" u="sng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ADO.NET</a:t>
            </a:r>
            <a:endParaRPr lang="fa-IR" sz="1600" u="sng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228600" lvl="1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SELECT * FROM Customers WHERE </a:t>
            </a:r>
            <a:r>
              <a:rPr lang="en-US" sz="1600" dirty="0" err="1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CustomerID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= @CustomerID</a:t>
            </a:r>
          </a:p>
          <a:p>
            <a:pPr marL="228600" lvl="1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 </a:t>
            </a:r>
            <a:r>
              <a:rPr lang="en-US" sz="1600" dirty="0" err="1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dbo.MyProcedure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@Param1, @Param2 OUTPUT</a:t>
            </a:r>
            <a:endParaRPr lang="fa-IR" sz="16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2891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SQL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71651" y="1226356"/>
            <a:ext cx="4614145" cy="2469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فعال سازی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ResultSet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برای ذخیره مقادیر بازگشتی و تنظیم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Tab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مرتبط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None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Single row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Full result set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XML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6FF1C-C887-9453-AB51-3B8916C8D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334" y="524650"/>
            <a:ext cx="327688" cy="3200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491057-715C-B168-F209-5E8768B08C5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F1F1F"/>
              </a:clrFrom>
              <a:clrTo>
                <a:srgbClr val="1F1F1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877" y="2513433"/>
            <a:ext cx="11634281" cy="35807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048912-18B7-EED9-783C-CBD16568227B}"/>
              </a:ext>
            </a:extLst>
          </p:cNvPr>
          <p:cNvSpPr txBox="1"/>
          <p:nvPr/>
        </p:nvSpPr>
        <p:spPr>
          <a:xfrm>
            <a:off x="-122908" y="4407491"/>
            <a:ext cx="4614145" cy="6217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درصورت استفاده از 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Full result set</a:t>
            </a: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XML</a:t>
            </a: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باید </a:t>
            </a:r>
            <a:r>
              <a:rPr lang="en-US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Result Name</a:t>
            </a: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را با 0 مقدار دهی کنید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D8F3B3-ACDD-F640-0718-9544C202E8DB}"/>
              </a:ext>
            </a:extLst>
          </p:cNvPr>
          <p:cNvCxnSpPr>
            <a:cxnSpLocks/>
          </p:cNvCxnSpPr>
          <p:nvPr/>
        </p:nvCxnSpPr>
        <p:spPr>
          <a:xfrm>
            <a:off x="4601183" y="4124528"/>
            <a:ext cx="1916349" cy="1809344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675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Loop Container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4883285" y="1226356"/>
            <a:ext cx="6702511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بررسی کلیه اعضای یک مجموعه از اطلاعات بصورت ترتیبی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D831C-98CF-2E86-55F3-7B50289C0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651" y="505598"/>
            <a:ext cx="381033" cy="3581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BA300E-96FB-0853-C5AF-D5C786D2E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46" y="1585640"/>
            <a:ext cx="2895099" cy="20177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61BF03-DB5A-8199-A6FA-BA57C7F41C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674" y="2102315"/>
            <a:ext cx="6990652" cy="45928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048912-18B7-EED9-783C-CBD16568227B}"/>
              </a:ext>
            </a:extLst>
          </p:cNvPr>
          <p:cNvSpPr txBox="1"/>
          <p:nvPr/>
        </p:nvSpPr>
        <p:spPr>
          <a:xfrm>
            <a:off x="5495773" y="3285959"/>
            <a:ext cx="1480274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نوع مجموعه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9EE17E-CE2C-C778-B182-936611F92F27}"/>
              </a:ext>
            </a:extLst>
          </p:cNvPr>
          <p:cNvSpPr txBox="1"/>
          <p:nvPr/>
        </p:nvSpPr>
        <p:spPr>
          <a:xfrm>
            <a:off x="5495773" y="5088806"/>
            <a:ext cx="1480274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lvl="1" algn="r" rtl="1">
              <a:lnSpc>
                <a:spcPct val="130000"/>
              </a:lnSpc>
              <a:buClr>
                <a:srgbClr val="D6001C"/>
              </a:buClr>
              <a:buSzPct val="150000"/>
            </a:pPr>
            <a:r>
              <a:rPr lang="fa-IR" sz="1600" dirty="0">
                <a:solidFill>
                  <a:srgbClr val="D6001C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نام مجموعه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2D52CB-08DF-8AC3-D77E-F06D83BFE8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2684" y="4699242"/>
            <a:ext cx="4745571" cy="21245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8961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Loop Container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264767" y="1226356"/>
            <a:ext cx="11321029" cy="3670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انواع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Enumerator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Item Enumerator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پردازش مجموعه ای از مقادیر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Static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(قابل تعریف در داخل پنل)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File Enumerator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پردازش فایل های موجود در یک پوشه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ADO Enumerator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پردازش رکوردهای موجود در یک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ADO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Recordset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ADO.NET Schema Enumerator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پردازش فراداده های یک پایگاه داده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From Variable Enumerator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پردازش داده های ذخیره شده در یک متغیر از نوع آرایه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NodeList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Enumerator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پردازش نتایج یک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XPath Query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SMO Enumerator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پردازش اشیا یک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 Server Instance</a:t>
            </a:r>
          </a:p>
          <a:p>
            <a:pPr marL="971550" lvl="2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Foreach HDFS File Enumerator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پردازش فایل های ذخیره شده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HDFS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D831C-98CF-2E86-55F3-7B50289C0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651" y="505598"/>
            <a:ext cx="381033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5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منابع آموزشی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7" name="Picture 16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5820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9" name="Picture 18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4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1" name="Picture 20"/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07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4" name="Picture 23"/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6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039FD25-C10E-AC82-2B7D-8DE7A7D54578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202534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A30C0C-6AF6-9D03-6A26-C7AABD442BD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8"/>
          <a:srcRect l="7152" r="5418"/>
          <a:stretch/>
        </p:blipFill>
        <p:spPr>
          <a:xfrm>
            <a:off x="975671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D269F0-F9D6-CA2E-88D0-2B98D5C7A13B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178415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0C67F7-F242-2C4C-FD55-D94A3CFC3DC9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2148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A55E08-EB95-9631-74E5-DB60F79909CE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204220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7E43775-EB95-A706-23FF-7E0082CA0944}"/>
              </a:ext>
            </a:extLst>
          </p:cNvPr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7464289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DC9690D-37A1-C8A0-D6EE-EB1245B9FA2F}"/>
              </a:ext>
            </a:extLst>
          </p:cNvPr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9399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54014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پرسش و پاسخ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b="2500"/>
          <a:stretch/>
        </p:blipFill>
        <p:spPr>
          <a:xfrm>
            <a:off x="4722157" y="2215662"/>
            <a:ext cx="2995397" cy="27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69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31CB4F-6DE8-507A-5AB0-F9B0AE6514F8}"/>
              </a:ext>
            </a:extLst>
          </p:cNvPr>
          <p:cNvSpPr txBox="1"/>
          <p:nvPr/>
        </p:nvSpPr>
        <p:spPr>
          <a:xfrm>
            <a:off x="2712415" y="3988386"/>
            <a:ext cx="6456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600" dirty="0">
                <a:solidFill>
                  <a:schemeClr val="bg1"/>
                </a:solidFill>
                <a:latin typeface="SG Kara Light" pitchFamily="2" charset="-78"/>
                <a:ea typeface="SG Kara Light" pitchFamily="2" charset="-78"/>
                <a:cs typeface="SG Kara Light" pitchFamily="2" charset="-78"/>
              </a:rPr>
              <a:t>education.systemgroup.net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79DD-E81E-93B4-D9A1-E6992AD3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411" y="2261849"/>
            <a:ext cx="4704696" cy="11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8522</TotalTime>
  <Words>1521</Words>
  <Application>Microsoft Office PowerPoint</Application>
  <PresentationFormat>Widescreen</PresentationFormat>
  <Paragraphs>251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SG Kara</vt:lpstr>
      <vt:lpstr>SG Kara FaNum</vt:lpstr>
      <vt:lpstr>SG Kara FaNum Light</vt:lpstr>
      <vt:lpstr>SG Kara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Siavash Golchoobian</cp:lastModifiedBy>
  <cp:revision>413</cp:revision>
  <dcterms:created xsi:type="dcterms:W3CDTF">2023-11-29T05:27:09Z</dcterms:created>
  <dcterms:modified xsi:type="dcterms:W3CDTF">2025-04-24T20:30:10Z</dcterms:modified>
</cp:coreProperties>
</file>
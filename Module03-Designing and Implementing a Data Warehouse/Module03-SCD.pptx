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9"/>
  </p:notesMasterIdLst>
  <p:sldIdLst>
    <p:sldId id="277" r:id="rId2"/>
    <p:sldId id="332" r:id="rId3"/>
    <p:sldId id="324" r:id="rId4"/>
    <p:sldId id="315" r:id="rId5"/>
    <p:sldId id="351" r:id="rId6"/>
    <p:sldId id="352" r:id="rId7"/>
    <p:sldId id="353" r:id="rId8"/>
    <p:sldId id="357" r:id="rId9"/>
    <p:sldId id="354" r:id="rId10"/>
    <p:sldId id="355" r:id="rId11"/>
    <p:sldId id="358" r:id="rId12"/>
    <p:sldId id="360" r:id="rId13"/>
    <p:sldId id="359" r:id="rId14"/>
    <p:sldId id="361" r:id="rId15"/>
    <p:sldId id="313" r:id="rId16"/>
    <p:sldId id="294" r:id="rId17"/>
    <p:sldId id="28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" userDrawn="1">
          <p15:clr>
            <a:srgbClr val="A4A3A4"/>
          </p15:clr>
        </p15:guide>
        <p15:guide id="2" pos="7299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380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21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2C1"/>
    <a:srgbClr val="D6001C"/>
    <a:srgbClr val="4472C4"/>
    <a:srgbClr val="10B5BF"/>
    <a:srgbClr val="3974A9"/>
    <a:srgbClr val="ED7843"/>
    <a:srgbClr val="A6A6A6"/>
    <a:srgbClr val="000F46"/>
    <a:srgbClr val="1F1C3A"/>
    <a:srgbClr val="2825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5"/>
    <p:restoredTop sz="94694"/>
  </p:normalViewPr>
  <p:slideViewPr>
    <p:cSldViewPr snapToGrid="0" showGuides="1">
      <p:cViewPr varScale="1">
        <p:scale>
          <a:sx n="80" d="100"/>
          <a:sy n="80" d="100"/>
        </p:scale>
        <p:origin x="974" y="58"/>
      </p:cViewPr>
      <p:guideLst>
        <p:guide pos="381"/>
        <p:guide pos="7299"/>
        <p:guide pos="3840"/>
        <p:guide orient="horz" pos="380"/>
        <p:guide orient="horz" pos="3929"/>
        <p:guide orient="horz" pos="2172"/>
      </p:guideLst>
    </p:cSldViewPr>
  </p:slideViewPr>
  <p:notesTextViewPr>
    <p:cViewPr>
      <p:scale>
        <a:sx n="1" d="1"/>
        <a:sy n="1" d="1"/>
      </p:scale>
      <p:origin x="0" y="-3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F1E61-3EC5-3B45-BB2A-F2BB00C2748A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33027-8B60-B34C-9BDA-B9F1428615EA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55101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https://en.wikipedia.org/wiki/Slowly_changing_dimension</a:t>
            </a:r>
            <a:endParaRPr lang="fa-IR" dirty="0"/>
          </a:p>
          <a:p>
            <a:r>
              <a:rPr lang="en-US" dirty="0"/>
              <a:t>https://www.sqlshack.com/implementing-slowly-changing-dimensions-scds-in-data-warehouses/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743864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302397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3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469367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4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550386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5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4233023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6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45661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7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810347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8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653229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9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678893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10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967789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11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875915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12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854463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13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325309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14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259502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248019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43625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7038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98229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490712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05536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42038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71125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90740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80442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14418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17935-F767-D54C-8BD8-1213FC869680}" type="datetimeFigureOut">
              <a:rPr lang="en-IR" smtClean="0"/>
              <a:t>09/05/2025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69670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golchoobian/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www.sqldeep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emf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11" Type="http://schemas.openxmlformats.org/officeDocument/2006/relationships/image" Target="../media/image22.png"/><Relationship Id="rId5" Type="http://schemas.openxmlformats.org/officeDocument/2006/relationships/image" Target="../media/image16.jpeg"/><Relationship Id="rId10" Type="http://schemas.openxmlformats.org/officeDocument/2006/relationships/image" Target="../media/image21.png"/><Relationship Id="rId4" Type="http://schemas.openxmlformats.org/officeDocument/2006/relationships/image" Target="../media/image15.jp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C2355F-3C5B-AAE7-805C-4EE255EFB76D}"/>
              </a:ext>
            </a:extLst>
          </p:cNvPr>
          <p:cNvSpPr txBox="1"/>
          <p:nvPr/>
        </p:nvSpPr>
        <p:spPr>
          <a:xfrm>
            <a:off x="2904565" y="1753040"/>
            <a:ext cx="873571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fa-IR" sz="72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هوش تجاری</a:t>
            </a:r>
          </a:p>
          <a:p>
            <a:pPr marL="0" algn="r" defTabSz="457200" rtl="1" eaLnBrk="1" latinLnBrk="0" hangingPunct="1"/>
            <a:r>
              <a:rPr lang="fa-IR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</a:t>
            </a:r>
            <a:r>
              <a:rPr lang="en-US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Enterprise BI</a:t>
            </a:r>
            <a:r>
              <a:rPr lang="fa-IR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  <a:endParaRPr lang="en-IR" sz="30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74B2B2-BB36-37C5-F929-69E2124A8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611" y="4686549"/>
            <a:ext cx="2413552" cy="59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3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C40415-4FD1-4385-9485-6A31871611A9}"/>
              </a:ext>
            </a:extLst>
          </p:cNvPr>
          <p:cNvSpPr txBox="1"/>
          <p:nvPr/>
        </p:nvSpPr>
        <p:spPr>
          <a:xfrm>
            <a:off x="1429815" y="705824"/>
            <a:ext cx="10144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سیاوش گلچوبیان</a:t>
            </a:r>
            <a:endParaRPr lang="en-US" sz="20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5EDB59-FE39-41C5-903A-851BB19E2FD9}"/>
              </a:ext>
            </a:extLst>
          </p:cNvPr>
          <p:cNvSpPr/>
          <p:nvPr/>
        </p:nvSpPr>
        <p:spPr>
          <a:xfrm>
            <a:off x="5478624" y="1156428"/>
            <a:ext cx="6096000" cy="126957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سرپرست واحد هوش تجاری و پایگاه داده شرکت سایپا</a:t>
            </a:r>
          </a:p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موسس تیم مشاور پایگاه داده </a:t>
            </a:r>
            <a:r>
              <a:rPr lang="en-US" sz="20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SqlDeep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مدیر طراحی فریم‌ورک هوش تجاری </a:t>
            </a:r>
            <a:r>
              <a:rPr lang="en-US" sz="20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Razan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D947E7-886A-1C01-FA26-E1ECB11BBDB1}"/>
              </a:ext>
            </a:extLst>
          </p:cNvPr>
          <p:cNvGrpSpPr/>
          <p:nvPr/>
        </p:nvGrpSpPr>
        <p:grpSpPr>
          <a:xfrm>
            <a:off x="2127722" y="1168045"/>
            <a:ext cx="2234727" cy="2353253"/>
            <a:chOff x="2184873" y="2633345"/>
            <a:chExt cx="1343060" cy="137225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ED7A2B-46AC-47E7-B3E6-A8E532E397BA}"/>
                </a:ext>
              </a:extLst>
            </p:cNvPr>
            <p:cNvSpPr/>
            <p:nvPr/>
          </p:nvSpPr>
          <p:spPr>
            <a:xfrm>
              <a:off x="2201927" y="2676582"/>
              <a:ext cx="1322773" cy="13127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509C3FE-ACDD-41FE-88B2-4D7B84034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84873" y="2633345"/>
              <a:ext cx="1343060" cy="1372257"/>
            </a:xfrm>
            <a:prstGeom prst="rect">
              <a:avLst/>
            </a:prstGeom>
          </p:spPr>
        </p:pic>
      </p:grpSp>
      <p:pic>
        <p:nvPicPr>
          <p:cNvPr id="4" name="Picture 3">
            <a:hlinkClick r:id="rId6"/>
            <a:extLst>
              <a:ext uri="{FF2B5EF4-FFF2-40B4-BE49-F238E27FC236}">
                <a16:creationId xmlns:a16="http://schemas.microsoft.com/office/drawing/2014/main" id="{A2D15381-A7F0-F0E3-2349-D99DDBAD23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7122" y="3190090"/>
            <a:ext cx="276999" cy="276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886B32-A970-D1F9-2A9F-AED49650F794}"/>
              </a:ext>
            </a:extLst>
          </p:cNvPr>
          <p:cNvSpPr txBox="1"/>
          <p:nvPr/>
        </p:nvSpPr>
        <p:spPr>
          <a:xfrm flipH="1">
            <a:off x="1874409" y="3567594"/>
            <a:ext cx="3381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https://linkedin.com/in/golchoobian</a:t>
            </a:r>
            <a:endParaRPr lang="en-US" sz="1200" dirty="0">
              <a:solidFill>
                <a:schemeClr val="bg1"/>
              </a:solidFill>
              <a:latin typeface="SG Kara" panose="00000500000000000000" pitchFamily="2" charset="-78"/>
              <a:ea typeface="SG Kara" panose="00000500000000000000" pitchFamily="2" charset="-78"/>
              <a:cs typeface="SG Kara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56024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انواع </a:t>
            </a:r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05235" y="5211463"/>
            <a:ext cx="10980561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انتخاب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مناسب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Trade-off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ای است بین دقت تاریخی ، پیچیدگی داده ها، عملکرد سیستم و قابلیت پشتیبانی از نیازهای مختلف تحلیلی و گزارشگیری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05CF01-2777-70C9-B64E-178DBDF7B255}"/>
              </a:ext>
            </a:extLst>
          </p:cNvPr>
          <p:cNvSpPr txBox="1"/>
          <p:nvPr/>
        </p:nvSpPr>
        <p:spPr>
          <a:xfrm>
            <a:off x="1069782" y="988231"/>
            <a:ext cx="10887217" cy="327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0 (Fixed Dimension)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: بدون تغییر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1 (Overwrite)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: جایگزینی مقدار جدید با مقدار قبل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2 (Row Version)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: ایجاد سطر جدید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3 (Previous Value Column)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: ایجاد ستون جدید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4 (History Table)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: ایجاد جدول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History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برای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جهت حفظ سوابق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5 (Current Profile  Mini Dim Key)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1 + 4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6 (Combined)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2 + 3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7 (Hybrid)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: استفاده از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2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یا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6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همچنین اضافه کردن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Natural Key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به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Fact</a:t>
            </a:r>
          </a:p>
        </p:txBody>
      </p:sp>
    </p:spTree>
    <p:extLst>
      <p:ext uri="{BB962C8B-B14F-4D97-AF65-F5344CB8AC3E}">
        <p14:creationId xmlns:p14="http://schemas.microsoft.com/office/powerpoint/2010/main" val="3457352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 Type 1 - Overwrite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3725B4-DE88-8C9B-E8BF-3544C1F00A06}"/>
              </a:ext>
            </a:extLst>
          </p:cNvPr>
          <p:cNvSpPr txBox="1"/>
          <p:nvPr/>
        </p:nvSpPr>
        <p:spPr>
          <a:xfrm>
            <a:off x="698579" y="1226356"/>
            <a:ext cx="10887217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Update Old Value to New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E1F4D-4036-BA2C-2D8C-9E2802D2B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31" y="2028768"/>
            <a:ext cx="6001588" cy="819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22745A-6C99-73A0-8E75-3088317F0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31" y="4009969"/>
            <a:ext cx="6001588" cy="8192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B8C0E4-E658-197A-2F55-4529BAF388FA}"/>
              </a:ext>
            </a:extLst>
          </p:cNvPr>
          <p:cNvSpPr/>
          <p:nvPr/>
        </p:nvSpPr>
        <p:spPr>
          <a:xfrm>
            <a:off x="605235" y="2025985"/>
            <a:ext cx="1404540" cy="819263"/>
          </a:xfrm>
          <a:custGeom>
            <a:avLst/>
            <a:gdLst>
              <a:gd name="connsiteX0" fmla="*/ 0 w 1404540"/>
              <a:gd name="connsiteY0" fmla="*/ 0 h 819263"/>
              <a:gd name="connsiteX1" fmla="*/ 454135 w 1404540"/>
              <a:gd name="connsiteY1" fmla="*/ 0 h 819263"/>
              <a:gd name="connsiteX2" fmla="*/ 894224 w 1404540"/>
              <a:gd name="connsiteY2" fmla="*/ 0 h 819263"/>
              <a:gd name="connsiteX3" fmla="*/ 1404540 w 1404540"/>
              <a:gd name="connsiteY3" fmla="*/ 0 h 819263"/>
              <a:gd name="connsiteX4" fmla="*/ 1404540 w 1404540"/>
              <a:gd name="connsiteY4" fmla="*/ 393246 h 819263"/>
              <a:gd name="connsiteX5" fmla="*/ 1404540 w 1404540"/>
              <a:gd name="connsiteY5" fmla="*/ 819263 h 819263"/>
              <a:gd name="connsiteX6" fmla="*/ 908269 w 1404540"/>
              <a:gd name="connsiteY6" fmla="*/ 819263 h 819263"/>
              <a:gd name="connsiteX7" fmla="*/ 468180 w 1404540"/>
              <a:gd name="connsiteY7" fmla="*/ 819263 h 819263"/>
              <a:gd name="connsiteX8" fmla="*/ 0 w 1404540"/>
              <a:gd name="connsiteY8" fmla="*/ 819263 h 819263"/>
              <a:gd name="connsiteX9" fmla="*/ 0 w 1404540"/>
              <a:gd name="connsiteY9" fmla="*/ 426017 h 819263"/>
              <a:gd name="connsiteX10" fmla="*/ 0 w 1404540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4540" h="819263" fill="none" extrusionOk="0">
                <a:moveTo>
                  <a:pt x="0" y="0"/>
                </a:moveTo>
                <a:cubicBezTo>
                  <a:pt x="109103" y="-5501"/>
                  <a:pt x="314297" y="8861"/>
                  <a:pt x="454135" y="0"/>
                </a:cubicBezTo>
                <a:cubicBezTo>
                  <a:pt x="593973" y="-8861"/>
                  <a:pt x="767411" y="-7062"/>
                  <a:pt x="894224" y="0"/>
                </a:cubicBezTo>
                <a:cubicBezTo>
                  <a:pt x="1021037" y="7062"/>
                  <a:pt x="1159307" y="-14286"/>
                  <a:pt x="1404540" y="0"/>
                </a:cubicBezTo>
                <a:cubicBezTo>
                  <a:pt x="1403711" y="130454"/>
                  <a:pt x="1393562" y="270976"/>
                  <a:pt x="1404540" y="393246"/>
                </a:cubicBezTo>
                <a:cubicBezTo>
                  <a:pt x="1415518" y="515516"/>
                  <a:pt x="1387967" y="723865"/>
                  <a:pt x="1404540" y="819263"/>
                </a:cubicBezTo>
                <a:cubicBezTo>
                  <a:pt x="1160423" y="836894"/>
                  <a:pt x="1077225" y="836128"/>
                  <a:pt x="908269" y="819263"/>
                </a:cubicBezTo>
                <a:cubicBezTo>
                  <a:pt x="739313" y="802398"/>
                  <a:pt x="623481" y="833354"/>
                  <a:pt x="468180" y="819263"/>
                </a:cubicBezTo>
                <a:cubicBezTo>
                  <a:pt x="312879" y="805172"/>
                  <a:pt x="162956" y="841345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04540" h="819263" stroke="0" extrusionOk="0">
                <a:moveTo>
                  <a:pt x="0" y="0"/>
                </a:moveTo>
                <a:cubicBezTo>
                  <a:pt x="223706" y="20372"/>
                  <a:pt x="293407" y="-13308"/>
                  <a:pt x="468180" y="0"/>
                </a:cubicBezTo>
                <a:cubicBezTo>
                  <a:pt x="642953" y="13308"/>
                  <a:pt x="695331" y="11879"/>
                  <a:pt x="894224" y="0"/>
                </a:cubicBezTo>
                <a:cubicBezTo>
                  <a:pt x="1093117" y="-11879"/>
                  <a:pt x="1184561" y="15172"/>
                  <a:pt x="1404540" y="0"/>
                </a:cubicBezTo>
                <a:cubicBezTo>
                  <a:pt x="1389910" y="94709"/>
                  <a:pt x="1391238" y="296150"/>
                  <a:pt x="1404540" y="385054"/>
                </a:cubicBezTo>
                <a:cubicBezTo>
                  <a:pt x="1417842" y="473958"/>
                  <a:pt x="1389819" y="690407"/>
                  <a:pt x="1404540" y="819263"/>
                </a:cubicBezTo>
                <a:cubicBezTo>
                  <a:pt x="1164521" y="801922"/>
                  <a:pt x="1148369" y="826422"/>
                  <a:pt x="908269" y="819263"/>
                </a:cubicBezTo>
                <a:cubicBezTo>
                  <a:pt x="668169" y="812104"/>
                  <a:pt x="579697" y="824619"/>
                  <a:pt x="411998" y="819263"/>
                </a:cubicBezTo>
                <a:cubicBezTo>
                  <a:pt x="244299" y="813907"/>
                  <a:pt x="183996" y="810855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41B2C1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2C14B7-AAC0-624B-5AAC-FD04E537D5AA}"/>
              </a:ext>
            </a:extLst>
          </p:cNvPr>
          <p:cNvSpPr/>
          <p:nvPr/>
        </p:nvSpPr>
        <p:spPr>
          <a:xfrm>
            <a:off x="2024878" y="2025985"/>
            <a:ext cx="1499371" cy="819263"/>
          </a:xfrm>
          <a:custGeom>
            <a:avLst/>
            <a:gdLst>
              <a:gd name="connsiteX0" fmla="*/ 0 w 1499371"/>
              <a:gd name="connsiteY0" fmla="*/ 0 h 819263"/>
              <a:gd name="connsiteX1" fmla="*/ 484797 w 1499371"/>
              <a:gd name="connsiteY1" fmla="*/ 0 h 819263"/>
              <a:gd name="connsiteX2" fmla="*/ 954600 w 1499371"/>
              <a:gd name="connsiteY2" fmla="*/ 0 h 819263"/>
              <a:gd name="connsiteX3" fmla="*/ 1499371 w 1499371"/>
              <a:gd name="connsiteY3" fmla="*/ 0 h 819263"/>
              <a:gd name="connsiteX4" fmla="*/ 1499371 w 1499371"/>
              <a:gd name="connsiteY4" fmla="*/ 393246 h 819263"/>
              <a:gd name="connsiteX5" fmla="*/ 1499371 w 1499371"/>
              <a:gd name="connsiteY5" fmla="*/ 819263 h 819263"/>
              <a:gd name="connsiteX6" fmla="*/ 969593 w 1499371"/>
              <a:gd name="connsiteY6" fmla="*/ 819263 h 819263"/>
              <a:gd name="connsiteX7" fmla="*/ 499790 w 1499371"/>
              <a:gd name="connsiteY7" fmla="*/ 819263 h 819263"/>
              <a:gd name="connsiteX8" fmla="*/ 0 w 1499371"/>
              <a:gd name="connsiteY8" fmla="*/ 819263 h 819263"/>
              <a:gd name="connsiteX9" fmla="*/ 0 w 1499371"/>
              <a:gd name="connsiteY9" fmla="*/ 426017 h 819263"/>
              <a:gd name="connsiteX10" fmla="*/ 0 w 1499371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99371" h="819263" fill="none" extrusionOk="0">
                <a:moveTo>
                  <a:pt x="0" y="0"/>
                </a:moveTo>
                <a:cubicBezTo>
                  <a:pt x="127309" y="-22164"/>
                  <a:pt x="269641" y="-11460"/>
                  <a:pt x="484797" y="0"/>
                </a:cubicBezTo>
                <a:cubicBezTo>
                  <a:pt x="699953" y="11460"/>
                  <a:pt x="754620" y="-8362"/>
                  <a:pt x="954600" y="0"/>
                </a:cubicBezTo>
                <a:cubicBezTo>
                  <a:pt x="1154580" y="8362"/>
                  <a:pt x="1278143" y="8860"/>
                  <a:pt x="1499371" y="0"/>
                </a:cubicBezTo>
                <a:cubicBezTo>
                  <a:pt x="1498542" y="130454"/>
                  <a:pt x="1488393" y="270976"/>
                  <a:pt x="1499371" y="393246"/>
                </a:cubicBezTo>
                <a:cubicBezTo>
                  <a:pt x="1510349" y="515516"/>
                  <a:pt x="1482798" y="723865"/>
                  <a:pt x="1499371" y="819263"/>
                </a:cubicBezTo>
                <a:cubicBezTo>
                  <a:pt x="1310693" y="842665"/>
                  <a:pt x="1207687" y="815169"/>
                  <a:pt x="969593" y="819263"/>
                </a:cubicBezTo>
                <a:cubicBezTo>
                  <a:pt x="731499" y="823357"/>
                  <a:pt x="699085" y="812244"/>
                  <a:pt x="499790" y="819263"/>
                </a:cubicBezTo>
                <a:cubicBezTo>
                  <a:pt x="300495" y="826282"/>
                  <a:pt x="149069" y="800506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99371" h="819263" stroke="0" extrusionOk="0">
                <a:moveTo>
                  <a:pt x="0" y="0"/>
                </a:moveTo>
                <a:cubicBezTo>
                  <a:pt x="119261" y="-12316"/>
                  <a:pt x="258821" y="-336"/>
                  <a:pt x="499790" y="0"/>
                </a:cubicBezTo>
                <a:cubicBezTo>
                  <a:pt x="740759" y="336"/>
                  <a:pt x="749698" y="8947"/>
                  <a:pt x="954600" y="0"/>
                </a:cubicBezTo>
                <a:cubicBezTo>
                  <a:pt x="1159502" y="-8947"/>
                  <a:pt x="1379461" y="-22357"/>
                  <a:pt x="1499371" y="0"/>
                </a:cubicBezTo>
                <a:cubicBezTo>
                  <a:pt x="1484741" y="94709"/>
                  <a:pt x="1486069" y="296150"/>
                  <a:pt x="1499371" y="385054"/>
                </a:cubicBezTo>
                <a:cubicBezTo>
                  <a:pt x="1512673" y="473958"/>
                  <a:pt x="1484650" y="690407"/>
                  <a:pt x="1499371" y="819263"/>
                </a:cubicBezTo>
                <a:cubicBezTo>
                  <a:pt x="1299224" y="838654"/>
                  <a:pt x="1104095" y="803757"/>
                  <a:pt x="969593" y="819263"/>
                </a:cubicBezTo>
                <a:cubicBezTo>
                  <a:pt x="835091" y="834769"/>
                  <a:pt x="595354" y="839718"/>
                  <a:pt x="439815" y="819263"/>
                </a:cubicBezTo>
                <a:cubicBezTo>
                  <a:pt x="284276" y="798808"/>
                  <a:pt x="107437" y="832168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D6001C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9C209-9970-C6D0-E5DB-6A2B5DB69A79}"/>
              </a:ext>
            </a:extLst>
          </p:cNvPr>
          <p:cNvSpPr txBox="1"/>
          <p:nvPr/>
        </p:nvSpPr>
        <p:spPr>
          <a:xfrm>
            <a:off x="469775" y="1590946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Surrogate Key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9C003-0B2A-09A3-FF1C-D3DFEA49D135}"/>
              </a:ext>
            </a:extLst>
          </p:cNvPr>
          <p:cNvSpPr txBox="1"/>
          <p:nvPr/>
        </p:nvSpPr>
        <p:spPr>
          <a:xfrm>
            <a:off x="2024878" y="16171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Natural Key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65EDA41-9DE0-237E-6C57-6EFD73DC1382}"/>
              </a:ext>
            </a:extLst>
          </p:cNvPr>
          <p:cNvSpPr/>
          <p:nvPr/>
        </p:nvSpPr>
        <p:spPr>
          <a:xfrm>
            <a:off x="5624512" y="2943225"/>
            <a:ext cx="314325" cy="990600"/>
          </a:xfrm>
          <a:custGeom>
            <a:avLst/>
            <a:gdLst>
              <a:gd name="connsiteX0" fmla="*/ 0 w 314325"/>
              <a:gd name="connsiteY0" fmla="*/ 833438 h 990600"/>
              <a:gd name="connsiteX1" fmla="*/ 78581 w 314325"/>
              <a:gd name="connsiteY1" fmla="*/ 833438 h 990600"/>
              <a:gd name="connsiteX2" fmla="*/ 78581 w 314325"/>
              <a:gd name="connsiteY2" fmla="*/ 408385 h 990600"/>
              <a:gd name="connsiteX3" fmla="*/ 78581 w 314325"/>
              <a:gd name="connsiteY3" fmla="*/ 0 h 990600"/>
              <a:gd name="connsiteX4" fmla="*/ 235744 w 314325"/>
              <a:gd name="connsiteY4" fmla="*/ 0 h 990600"/>
              <a:gd name="connsiteX5" fmla="*/ 235744 w 314325"/>
              <a:gd name="connsiteY5" fmla="*/ 433388 h 990600"/>
              <a:gd name="connsiteX6" fmla="*/ 235744 w 314325"/>
              <a:gd name="connsiteY6" fmla="*/ 833438 h 990600"/>
              <a:gd name="connsiteX7" fmla="*/ 314325 w 314325"/>
              <a:gd name="connsiteY7" fmla="*/ 833438 h 990600"/>
              <a:gd name="connsiteX8" fmla="*/ 157163 w 314325"/>
              <a:gd name="connsiteY8" fmla="*/ 990600 h 990600"/>
              <a:gd name="connsiteX9" fmla="*/ 0 w 314325"/>
              <a:gd name="connsiteY9" fmla="*/ 833438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4325" h="990600" fill="none" extrusionOk="0">
                <a:moveTo>
                  <a:pt x="0" y="833438"/>
                </a:moveTo>
                <a:cubicBezTo>
                  <a:pt x="30952" y="827762"/>
                  <a:pt x="42566" y="833672"/>
                  <a:pt x="78581" y="833438"/>
                </a:cubicBezTo>
                <a:cubicBezTo>
                  <a:pt x="45208" y="738400"/>
                  <a:pt x="112292" y="618562"/>
                  <a:pt x="78581" y="408385"/>
                </a:cubicBezTo>
                <a:cubicBezTo>
                  <a:pt x="44870" y="198208"/>
                  <a:pt x="94552" y="117389"/>
                  <a:pt x="78581" y="0"/>
                </a:cubicBezTo>
                <a:cubicBezTo>
                  <a:pt x="150971" y="-13445"/>
                  <a:pt x="178266" y="14064"/>
                  <a:pt x="235744" y="0"/>
                </a:cubicBezTo>
                <a:cubicBezTo>
                  <a:pt x="255996" y="185885"/>
                  <a:pt x="187336" y="278714"/>
                  <a:pt x="235744" y="433388"/>
                </a:cubicBezTo>
                <a:cubicBezTo>
                  <a:pt x="284152" y="588062"/>
                  <a:pt x="204165" y="729358"/>
                  <a:pt x="235744" y="833438"/>
                </a:cubicBezTo>
                <a:cubicBezTo>
                  <a:pt x="254796" y="827922"/>
                  <a:pt x="287950" y="833573"/>
                  <a:pt x="314325" y="833438"/>
                </a:cubicBezTo>
                <a:cubicBezTo>
                  <a:pt x="254316" y="908869"/>
                  <a:pt x="178615" y="947747"/>
                  <a:pt x="157163" y="990600"/>
                </a:cubicBezTo>
                <a:cubicBezTo>
                  <a:pt x="73961" y="924183"/>
                  <a:pt x="84918" y="880890"/>
                  <a:pt x="0" y="833438"/>
                </a:cubicBezTo>
                <a:close/>
              </a:path>
              <a:path w="314325" h="990600" stroke="0" extrusionOk="0">
                <a:moveTo>
                  <a:pt x="0" y="833438"/>
                </a:moveTo>
                <a:cubicBezTo>
                  <a:pt x="36107" y="828729"/>
                  <a:pt x="55952" y="836914"/>
                  <a:pt x="78581" y="833438"/>
                </a:cubicBezTo>
                <a:cubicBezTo>
                  <a:pt x="60918" y="727812"/>
                  <a:pt x="80101" y="604349"/>
                  <a:pt x="78581" y="425053"/>
                </a:cubicBezTo>
                <a:cubicBezTo>
                  <a:pt x="77061" y="245757"/>
                  <a:pt x="113368" y="187718"/>
                  <a:pt x="78581" y="0"/>
                </a:cubicBezTo>
                <a:cubicBezTo>
                  <a:pt x="144611" y="-11253"/>
                  <a:pt x="159131" y="15603"/>
                  <a:pt x="235744" y="0"/>
                </a:cubicBezTo>
                <a:cubicBezTo>
                  <a:pt x="283628" y="84583"/>
                  <a:pt x="210277" y="323839"/>
                  <a:pt x="235744" y="408385"/>
                </a:cubicBezTo>
                <a:cubicBezTo>
                  <a:pt x="261211" y="492931"/>
                  <a:pt x="221072" y="665017"/>
                  <a:pt x="235744" y="833438"/>
                </a:cubicBezTo>
                <a:cubicBezTo>
                  <a:pt x="267111" y="830662"/>
                  <a:pt x="286184" y="836359"/>
                  <a:pt x="314325" y="833438"/>
                </a:cubicBezTo>
                <a:cubicBezTo>
                  <a:pt x="269991" y="907758"/>
                  <a:pt x="222980" y="914730"/>
                  <a:pt x="157163" y="990600"/>
                </a:cubicBezTo>
                <a:cubicBezTo>
                  <a:pt x="96258" y="940503"/>
                  <a:pt x="69016" y="868560"/>
                  <a:pt x="0" y="833438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2218962">
                  <a:prstGeom prst="down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C20D63C7-1611-8EAA-83B3-D775D775C0D5}"/>
              </a:ext>
            </a:extLst>
          </p:cNvPr>
          <p:cNvSpPr/>
          <p:nvPr/>
        </p:nvSpPr>
        <p:spPr>
          <a:xfrm>
            <a:off x="6394432" y="4438651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889B3D-028C-2D87-9AFD-B93E45AFB6D0}"/>
              </a:ext>
            </a:extLst>
          </p:cNvPr>
          <p:cNvSpPr txBox="1"/>
          <p:nvPr/>
        </p:nvSpPr>
        <p:spPr>
          <a:xfrm>
            <a:off x="3395661" y="3276714"/>
            <a:ext cx="229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“CA” updated to “IL”</a:t>
            </a:r>
          </a:p>
        </p:txBody>
      </p:sp>
    </p:spTree>
    <p:extLst>
      <p:ext uri="{BB962C8B-B14F-4D97-AF65-F5344CB8AC3E}">
        <p14:creationId xmlns:p14="http://schemas.microsoft.com/office/powerpoint/2010/main" val="5089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 Type 2 – Row Version | New Row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3725B4-DE88-8C9B-E8BF-3544C1F00A06}"/>
              </a:ext>
            </a:extLst>
          </p:cNvPr>
          <p:cNvSpPr txBox="1"/>
          <p:nvPr/>
        </p:nvSpPr>
        <p:spPr>
          <a:xfrm>
            <a:off x="698579" y="1226356"/>
            <a:ext cx="10887217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روش اول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New Record + Version Number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E1F4D-4036-BA2C-2D8C-9E2802D2B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31" y="2028768"/>
            <a:ext cx="6001588" cy="8192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B8C0E4-E658-197A-2F55-4529BAF388FA}"/>
              </a:ext>
            </a:extLst>
          </p:cNvPr>
          <p:cNvSpPr/>
          <p:nvPr/>
        </p:nvSpPr>
        <p:spPr>
          <a:xfrm>
            <a:off x="605235" y="2025985"/>
            <a:ext cx="1404540" cy="819263"/>
          </a:xfrm>
          <a:custGeom>
            <a:avLst/>
            <a:gdLst>
              <a:gd name="connsiteX0" fmla="*/ 0 w 1404540"/>
              <a:gd name="connsiteY0" fmla="*/ 0 h 819263"/>
              <a:gd name="connsiteX1" fmla="*/ 454135 w 1404540"/>
              <a:gd name="connsiteY1" fmla="*/ 0 h 819263"/>
              <a:gd name="connsiteX2" fmla="*/ 894224 w 1404540"/>
              <a:gd name="connsiteY2" fmla="*/ 0 h 819263"/>
              <a:gd name="connsiteX3" fmla="*/ 1404540 w 1404540"/>
              <a:gd name="connsiteY3" fmla="*/ 0 h 819263"/>
              <a:gd name="connsiteX4" fmla="*/ 1404540 w 1404540"/>
              <a:gd name="connsiteY4" fmla="*/ 393246 h 819263"/>
              <a:gd name="connsiteX5" fmla="*/ 1404540 w 1404540"/>
              <a:gd name="connsiteY5" fmla="*/ 819263 h 819263"/>
              <a:gd name="connsiteX6" fmla="*/ 908269 w 1404540"/>
              <a:gd name="connsiteY6" fmla="*/ 819263 h 819263"/>
              <a:gd name="connsiteX7" fmla="*/ 468180 w 1404540"/>
              <a:gd name="connsiteY7" fmla="*/ 819263 h 819263"/>
              <a:gd name="connsiteX8" fmla="*/ 0 w 1404540"/>
              <a:gd name="connsiteY8" fmla="*/ 819263 h 819263"/>
              <a:gd name="connsiteX9" fmla="*/ 0 w 1404540"/>
              <a:gd name="connsiteY9" fmla="*/ 426017 h 819263"/>
              <a:gd name="connsiteX10" fmla="*/ 0 w 1404540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4540" h="819263" fill="none" extrusionOk="0">
                <a:moveTo>
                  <a:pt x="0" y="0"/>
                </a:moveTo>
                <a:cubicBezTo>
                  <a:pt x="109103" y="-5501"/>
                  <a:pt x="314297" y="8861"/>
                  <a:pt x="454135" y="0"/>
                </a:cubicBezTo>
                <a:cubicBezTo>
                  <a:pt x="593973" y="-8861"/>
                  <a:pt x="767411" y="-7062"/>
                  <a:pt x="894224" y="0"/>
                </a:cubicBezTo>
                <a:cubicBezTo>
                  <a:pt x="1021037" y="7062"/>
                  <a:pt x="1159307" y="-14286"/>
                  <a:pt x="1404540" y="0"/>
                </a:cubicBezTo>
                <a:cubicBezTo>
                  <a:pt x="1403711" y="130454"/>
                  <a:pt x="1393562" y="270976"/>
                  <a:pt x="1404540" y="393246"/>
                </a:cubicBezTo>
                <a:cubicBezTo>
                  <a:pt x="1415518" y="515516"/>
                  <a:pt x="1387967" y="723865"/>
                  <a:pt x="1404540" y="819263"/>
                </a:cubicBezTo>
                <a:cubicBezTo>
                  <a:pt x="1160423" y="836894"/>
                  <a:pt x="1077225" y="836128"/>
                  <a:pt x="908269" y="819263"/>
                </a:cubicBezTo>
                <a:cubicBezTo>
                  <a:pt x="739313" y="802398"/>
                  <a:pt x="623481" y="833354"/>
                  <a:pt x="468180" y="819263"/>
                </a:cubicBezTo>
                <a:cubicBezTo>
                  <a:pt x="312879" y="805172"/>
                  <a:pt x="162956" y="841345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04540" h="819263" stroke="0" extrusionOk="0">
                <a:moveTo>
                  <a:pt x="0" y="0"/>
                </a:moveTo>
                <a:cubicBezTo>
                  <a:pt x="223706" y="20372"/>
                  <a:pt x="293407" y="-13308"/>
                  <a:pt x="468180" y="0"/>
                </a:cubicBezTo>
                <a:cubicBezTo>
                  <a:pt x="642953" y="13308"/>
                  <a:pt x="695331" y="11879"/>
                  <a:pt x="894224" y="0"/>
                </a:cubicBezTo>
                <a:cubicBezTo>
                  <a:pt x="1093117" y="-11879"/>
                  <a:pt x="1184561" y="15172"/>
                  <a:pt x="1404540" y="0"/>
                </a:cubicBezTo>
                <a:cubicBezTo>
                  <a:pt x="1389910" y="94709"/>
                  <a:pt x="1391238" y="296150"/>
                  <a:pt x="1404540" y="385054"/>
                </a:cubicBezTo>
                <a:cubicBezTo>
                  <a:pt x="1417842" y="473958"/>
                  <a:pt x="1389819" y="690407"/>
                  <a:pt x="1404540" y="819263"/>
                </a:cubicBezTo>
                <a:cubicBezTo>
                  <a:pt x="1164521" y="801922"/>
                  <a:pt x="1148369" y="826422"/>
                  <a:pt x="908269" y="819263"/>
                </a:cubicBezTo>
                <a:cubicBezTo>
                  <a:pt x="668169" y="812104"/>
                  <a:pt x="579697" y="824619"/>
                  <a:pt x="411998" y="819263"/>
                </a:cubicBezTo>
                <a:cubicBezTo>
                  <a:pt x="244299" y="813907"/>
                  <a:pt x="183996" y="810855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41B2C1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2C14B7-AAC0-624B-5AAC-FD04E537D5AA}"/>
              </a:ext>
            </a:extLst>
          </p:cNvPr>
          <p:cNvSpPr/>
          <p:nvPr/>
        </p:nvSpPr>
        <p:spPr>
          <a:xfrm>
            <a:off x="2024878" y="2025985"/>
            <a:ext cx="1499371" cy="819263"/>
          </a:xfrm>
          <a:custGeom>
            <a:avLst/>
            <a:gdLst>
              <a:gd name="connsiteX0" fmla="*/ 0 w 1499371"/>
              <a:gd name="connsiteY0" fmla="*/ 0 h 819263"/>
              <a:gd name="connsiteX1" fmla="*/ 484797 w 1499371"/>
              <a:gd name="connsiteY1" fmla="*/ 0 h 819263"/>
              <a:gd name="connsiteX2" fmla="*/ 954600 w 1499371"/>
              <a:gd name="connsiteY2" fmla="*/ 0 h 819263"/>
              <a:gd name="connsiteX3" fmla="*/ 1499371 w 1499371"/>
              <a:gd name="connsiteY3" fmla="*/ 0 h 819263"/>
              <a:gd name="connsiteX4" fmla="*/ 1499371 w 1499371"/>
              <a:gd name="connsiteY4" fmla="*/ 393246 h 819263"/>
              <a:gd name="connsiteX5" fmla="*/ 1499371 w 1499371"/>
              <a:gd name="connsiteY5" fmla="*/ 819263 h 819263"/>
              <a:gd name="connsiteX6" fmla="*/ 969593 w 1499371"/>
              <a:gd name="connsiteY6" fmla="*/ 819263 h 819263"/>
              <a:gd name="connsiteX7" fmla="*/ 499790 w 1499371"/>
              <a:gd name="connsiteY7" fmla="*/ 819263 h 819263"/>
              <a:gd name="connsiteX8" fmla="*/ 0 w 1499371"/>
              <a:gd name="connsiteY8" fmla="*/ 819263 h 819263"/>
              <a:gd name="connsiteX9" fmla="*/ 0 w 1499371"/>
              <a:gd name="connsiteY9" fmla="*/ 426017 h 819263"/>
              <a:gd name="connsiteX10" fmla="*/ 0 w 1499371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99371" h="819263" fill="none" extrusionOk="0">
                <a:moveTo>
                  <a:pt x="0" y="0"/>
                </a:moveTo>
                <a:cubicBezTo>
                  <a:pt x="127309" y="-22164"/>
                  <a:pt x="269641" y="-11460"/>
                  <a:pt x="484797" y="0"/>
                </a:cubicBezTo>
                <a:cubicBezTo>
                  <a:pt x="699953" y="11460"/>
                  <a:pt x="754620" y="-8362"/>
                  <a:pt x="954600" y="0"/>
                </a:cubicBezTo>
                <a:cubicBezTo>
                  <a:pt x="1154580" y="8362"/>
                  <a:pt x="1278143" y="8860"/>
                  <a:pt x="1499371" y="0"/>
                </a:cubicBezTo>
                <a:cubicBezTo>
                  <a:pt x="1498542" y="130454"/>
                  <a:pt x="1488393" y="270976"/>
                  <a:pt x="1499371" y="393246"/>
                </a:cubicBezTo>
                <a:cubicBezTo>
                  <a:pt x="1510349" y="515516"/>
                  <a:pt x="1482798" y="723865"/>
                  <a:pt x="1499371" y="819263"/>
                </a:cubicBezTo>
                <a:cubicBezTo>
                  <a:pt x="1310693" y="842665"/>
                  <a:pt x="1207687" y="815169"/>
                  <a:pt x="969593" y="819263"/>
                </a:cubicBezTo>
                <a:cubicBezTo>
                  <a:pt x="731499" y="823357"/>
                  <a:pt x="699085" y="812244"/>
                  <a:pt x="499790" y="819263"/>
                </a:cubicBezTo>
                <a:cubicBezTo>
                  <a:pt x="300495" y="826282"/>
                  <a:pt x="149069" y="800506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99371" h="819263" stroke="0" extrusionOk="0">
                <a:moveTo>
                  <a:pt x="0" y="0"/>
                </a:moveTo>
                <a:cubicBezTo>
                  <a:pt x="119261" y="-12316"/>
                  <a:pt x="258821" y="-336"/>
                  <a:pt x="499790" y="0"/>
                </a:cubicBezTo>
                <a:cubicBezTo>
                  <a:pt x="740759" y="336"/>
                  <a:pt x="749698" y="8947"/>
                  <a:pt x="954600" y="0"/>
                </a:cubicBezTo>
                <a:cubicBezTo>
                  <a:pt x="1159502" y="-8947"/>
                  <a:pt x="1379461" y="-22357"/>
                  <a:pt x="1499371" y="0"/>
                </a:cubicBezTo>
                <a:cubicBezTo>
                  <a:pt x="1484741" y="94709"/>
                  <a:pt x="1486069" y="296150"/>
                  <a:pt x="1499371" y="385054"/>
                </a:cubicBezTo>
                <a:cubicBezTo>
                  <a:pt x="1512673" y="473958"/>
                  <a:pt x="1484650" y="690407"/>
                  <a:pt x="1499371" y="819263"/>
                </a:cubicBezTo>
                <a:cubicBezTo>
                  <a:pt x="1299224" y="838654"/>
                  <a:pt x="1104095" y="803757"/>
                  <a:pt x="969593" y="819263"/>
                </a:cubicBezTo>
                <a:cubicBezTo>
                  <a:pt x="835091" y="834769"/>
                  <a:pt x="595354" y="839718"/>
                  <a:pt x="439815" y="819263"/>
                </a:cubicBezTo>
                <a:cubicBezTo>
                  <a:pt x="284276" y="798808"/>
                  <a:pt x="107437" y="832168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D6001C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9C209-9970-C6D0-E5DB-6A2B5DB69A79}"/>
              </a:ext>
            </a:extLst>
          </p:cNvPr>
          <p:cNvSpPr txBox="1"/>
          <p:nvPr/>
        </p:nvSpPr>
        <p:spPr>
          <a:xfrm>
            <a:off x="469775" y="1590946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Surrogate Key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9C003-0B2A-09A3-FF1C-D3DFEA49D135}"/>
              </a:ext>
            </a:extLst>
          </p:cNvPr>
          <p:cNvSpPr txBox="1"/>
          <p:nvPr/>
        </p:nvSpPr>
        <p:spPr>
          <a:xfrm>
            <a:off x="2024878" y="16171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Natural Key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65EDA41-9DE0-237E-6C57-6EFD73DC1382}"/>
              </a:ext>
            </a:extLst>
          </p:cNvPr>
          <p:cNvSpPr/>
          <p:nvPr/>
        </p:nvSpPr>
        <p:spPr>
          <a:xfrm>
            <a:off x="5624512" y="2943225"/>
            <a:ext cx="314325" cy="990600"/>
          </a:xfrm>
          <a:custGeom>
            <a:avLst/>
            <a:gdLst>
              <a:gd name="connsiteX0" fmla="*/ 0 w 314325"/>
              <a:gd name="connsiteY0" fmla="*/ 833438 h 990600"/>
              <a:gd name="connsiteX1" fmla="*/ 78581 w 314325"/>
              <a:gd name="connsiteY1" fmla="*/ 833438 h 990600"/>
              <a:gd name="connsiteX2" fmla="*/ 78581 w 314325"/>
              <a:gd name="connsiteY2" fmla="*/ 408385 h 990600"/>
              <a:gd name="connsiteX3" fmla="*/ 78581 w 314325"/>
              <a:gd name="connsiteY3" fmla="*/ 0 h 990600"/>
              <a:gd name="connsiteX4" fmla="*/ 235744 w 314325"/>
              <a:gd name="connsiteY4" fmla="*/ 0 h 990600"/>
              <a:gd name="connsiteX5" fmla="*/ 235744 w 314325"/>
              <a:gd name="connsiteY5" fmla="*/ 433388 h 990600"/>
              <a:gd name="connsiteX6" fmla="*/ 235744 w 314325"/>
              <a:gd name="connsiteY6" fmla="*/ 833438 h 990600"/>
              <a:gd name="connsiteX7" fmla="*/ 314325 w 314325"/>
              <a:gd name="connsiteY7" fmla="*/ 833438 h 990600"/>
              <a:gd name="connsiteX8" fmla="*/ 157163 w 314325"/>
              <a:gd name="connsiteY8" fmla="*/ 990600 h 990600"/>
              <a:gd name="connsiteX9" fmla="*/ 0 w 314325"/>
              <a:gd name="connsiteY9" fmla="*/ 833438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4325" h="990600" fill="none" extrusionOk="0">
                <a:moveTo>
                  <a:pt x="0" y="833438"/>
                </a:moveTo>
                <a:cubicBezTo>
                  <a:pt x="30952" y="827762"/>
                  <a:pt x="42566" y="833672"/>
                  <a:pt x="78581" y="833438"/>
                </a:cubicBezTo>
                <a:cubicBezTo>
                  <a:pt x="45208" y="738400"/>
                  <a:pt x="112292" y="618562"/>
                  <a:pt x="78581" y="408385"/>
                </a:cubicBezTo>
                <a:cubicBezTo>
                  <a:pt x="44870" y="198208"/>
                  <a:pt x="94552" y="117389"/>
                  <a:pt x="78581" y="0"/>
                </a:cubicBezTo>
                <a:cubicBezTo>
                  <a:pt x="150971" y="-13445"/>
                  <a:pt x="178266" y="14064"/>
                  <a:pt x="235744" y="0"/>
                </a:cubicBezTo>
                <a:cubicBezTo>
                  <a:pt x="255996" y="185885"/>
                  <a:pt x="187336" y="278714"/>
                  <a:pt x="235744" y="433388"/>
                </a:cubicBezTo>
                <a:cubicBezTo>
                  <a:pt x="284152" y="588062"/>
                  <a:pt x="204165" y="729358"/>
                  <a:pt x="235744" y="833438"/>
                </a:cubicBezTo>
                <a:cubicBezTo>
                  <a:pt x="254796" y="827922"/>
                  <a:pt x="287950" y="833573"/>
                  <a:pt x="314325" y="833438"/>
                </a:cubicBezTo>
                <a:cubicBezTo>
                  <a:pt x="254316" y="908869"/>
                  <a:pt x="178615" y="947747"/>
                  <a:pt x="157163" y="990600"/>
                </a:cubicBezTo>
                <a:cubicBezTo>
                  <a:pt x="73961" y="924183"/>
                  <a:pt x="84918" y="880890"/>
                  <a:pt x="0" y="833438"/>
                </a:cubicBezTo>
                <a:close/>
              </a:path>
              <a:path w="314325" h="990600" stroke="0" extrusionOk="0">
                <a:moveTo>
                  <a:pt x="0" y="833438"/>
                </a:moveTo>
                <a:cubicBezTo>
                  <a:pt x="36107" y="828729"/>
                  <a:pt x="55952" y="836914"/>
                  <a:pt x="78581" y="833438"/>
                </a:cubicBezTo>
                <a:cubicBezTo>
                  <a:pt x="60918" y="727812"/>
                  <a:pt x="80101" y="604349"/>
                  <a:pt x="78581" y="425053"/>
                </a:cubicBezTo>
                <a:cubicBezTo>
                  <a:pt x="77061" y="245757"/>
                  <a:pt x="113368" y="187718"/>
                  <a:pt x="78581" y="0"/>
                </a:cubicBezTo>
                <a:cubicBezTo>
                  <a:pt x="144611" y="-11253"/>
                  <a:pt x="159131" y="15603"/>
                  <a:pt x="235744" y="0"/>
                </a:cubicBezTo>
                <a:cubicBezTo>
                  <a:pt x="283628" y="84583"/>
                  <a:pt x="210277" y="323839"/>
                  <a:pt x="235744" y="408385"/>
                </a:cubicBezTo>
                <a:cubicBezTo>
                  <a:pt x="261211" y="492931"/>
                  <a:pt x="221072" y="665017"/>
                  <a:pt x="235744" y="833438"/>
                </a:cubicBezTo>
                <a:cubicBezTo>
                  <a:pt x="267111" y="830662"/>
                  <a:pt x="286184" y="836359"/>
                  <a:pt x="314325" y="833438"/>
                </a:cubicBezTo>
                <a:cubicBezTo>
                  <a:pt x="269991" y="907758"/>
                  <a:pt x="222980" y="914730"/>
                  <a:pt x="157163" y="990600"/>
                </a:cubicBezTo>
                <a:cubicBezTo>
                  <a:pt x="96258" y="940503"/>
                  <a:pt x="69016" y="868560"/>
                  <a:pt x="0" y="833438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2218962">
                  <a:prstGeom prst="down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C2D33C-7181-2534-F6EF-1CA20B1A5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31" y="3971868"/>
            <a:ext cx="6849431" cy="1209844"/>
          </a:xfrm>
          <a:prstGeom prst="rect">
            <a:avLst/>
          </a:prstGeom>
        </p:spPr>
      </p:pic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3D673E28-837D-6FC1-2C23-DAE27E1F1284}"/>
              </a:ext>
            </a:extLst>
          </p:cNvPr>
          <p:cNvSpPr/>
          <p:nvPr/>
        </p:nvSpPr>
        <p:spPr>
          <a:xfrm>
            <a:off x="7242157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EFABC578-38B9-FBB0-1716-118248B8474A}"/>
              </a:ext>
            </a:extLst>
          </p:cNvPr>
          <p:cNvSpPr/>
          <p:nvPr/>
        </p:nvSpPr>
        <p:spPr>
          <a:xfrm>
            <a:off x="6394432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3538DF52-2B52-3FA8-6273-9608F5C0B41C}"/>
              </a:ext>
            </a:extLst>
          </p:cNvPr>
          <p:cNvSpPr/>
          <p:nvPr/>
        </p:nvSpPr>
        <p:spPr>
          <a:xfrm>
            <a:off x="1812907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6DCA2F-4DBB-B0F3-D1C2-A9E8581AACFD}"/>
              </a:ext>
            </a:extLst>
          </p:cNvPr>
          <p:cNvSpPr txBox="1"/>
          <p:nvPr/>
        </p:nvSpPr>
        <p:spPr>
          <a:xfrm>
            <a:off x="3395661" y="3276714"/>
            <a:ext cx="229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“CA” updated to “IL”</a:t>
            </a:r>
          </a:p>
        </p:txBody>
      </p:sp>
    </p:spTree>
    <p:extLst>
      <p:ext uri="{BB962C8B-B14F-4D97-AF65-F5344CB8AC3E}">
        <p14:creationId xmlns:p14="http://schemas.microsoft.com/office/powerpoint/2010/main" val="19463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1D6A96A-0C0D-3D89-F0BA-7BDB88DCB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77" y="3962344"/>
            <a:ext cx="9993120" cy="1228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 Type 2 – Row Version | New Row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3725B4-DE88-8C9B-E8BF-3544C1F00A06}"/>
              </a:ext>
            </a:extLst>
          </p:cNvPr>
          <p:cNvSpPr txBox="1"/>
          <p:nvPr/>
        </p:nvSpPr>
        <p:spPr>
          <a:xfrm>
            <a:off x="698579" y="1226356"/>
            <a:ext cx="10887217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روش دوم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New Record + Start Date + End 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E1F4D-4036-BA2C-2D8C-9E2802D2B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31" y="2028768"/>
            <a:ext cx="6001588" cy="8192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B8C0E4-E658-197A-2F55-4529BAF388FA}"/>
              </a:ext>
            </a:extLst>
          </p:cNvPr>
          <p:cNvSpPr/>
          <p:nvPr/>
        </p:nvSpPr>
        <p:spPr>
          <a:xfrm>
            <a:off x="605235" y="2025985"/>
            <a:ext cx="1404540" cy="819263"/>
          </a:xfrm>
          <a:custGeom>
            <a:avLst/>
            <a:gdLst>
              <a:gd name="connsiteX0" fmla="*/ 0 w 1404540"/>
              <a:gd name="connsiteY0" fmla="*/ 0 h 819263"/>
              <a:gd name="connsiteX1" fmla="*/ 454135 w 1404540"/>
              <a:gd name="connsiteY1" fmla="*/ 0 h 819263"/>
              <a:gd name="connsiteX2" fmla="*/ 894224 w 1404540"/>
              <a:gd name="connsiteY2" fmla="*/ 0 h 819263"/>
              <a:gd name="connsiteX3" fmla="*/ 1404540 w 1404540"/>
              <a:gd name="connsiteY3" fmla="*/ 0 h 819263"/>
              <a:gd name="connsiteX4" fmla="*/ 1404540 w 1404540"/>
              <a:gd name="connsiteY4" fmla="*/ 393246 h 819263"/>
              <a:gd name="connsiteX5" fmla="*/ 1404540 w 1404540"/>
              <a:gd name="connsiteY5" fmla="*/ 819263 h 819263"/>
              <a:gd name="connsiteX6" fmla="*/ 908269 w 1404540"/>
              <a:gd name="connsiteY6" fmla="*/ 819263 h 819263"/>
              <a:gd name="connsiteX7" fmla="*/ 468180 w 1404540"/>
              <a:gd name="connsiteY7" fmla="*/ 819263 h 819263"/>
              <a:gd name="connsiteX8" fmla="*/ 0 w 1404540"/>
              <a:gd name="connsiteY8" fmla="*/ 819263 h 819263"/>
              <a:gd name="connsiteX9" fmla="*/ 0 w 1404540"/>
              <a:gd name="connsiteY9" fmla="*/ 426017 h 819263"/>
              <a:gd name="connsiteX10" fmla="*/ 0 w 1404540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4540" h="819263" fill="none" extrusionOk="0">
                <a:moveTo>
                  <a:pt x="0" y="0"/>
                </a:moveTo>
                <a:cubicBezTo>
                  <a:pt x="109103" y="-5501"/>
                  <a:pt x="314297" y="8861"/>
                  <a:pt x="454135" y="0"/>
                </a:cubicBezTo>
                <a:cubicBezTo>
                  <a:pt x="593973" y="-8861"/>
                  <a:pt x="767411" y="-7062"/>
                  <a:pt x="894224" y="0"/>
                </a:cubicBezTo>
                <a:cubicBezTo>
                  <a:pt x="1021037" y="7062"/>
                  <a:pt x="1159307" y="-14286"/>
                  <a:pt x="1404540" y="0"/>
                </a:cubicBezTo>
                <a:cubicBezTo>
                  <a:pt x="1403711" y="130454"/>
                  <a:pt x="1393562" y="270976"/>
                  <a:pt x="1404540" y="393246"/>
                </a:cubicBezTo>
                <a:cubicBezTo>
                  <a:pt x="1415518" y="515516"/>
                  <a:pt x="1387967" y="723865"/>
                  <a:pt x="1404540" y="819263"/>
                </a:cubicBezTo>
                <a:cubicBezTo>
                  <a:pt x="1160423" y="836894"/>
                  <a:pt x="1077225" y="836128"/>
                  <a:pt x="908269" y="819263"/>
                </a:cubicBezTo>
                <a:cubicBezTo>
                  <a:pt x="739313" y="802398"/>
                  <a:pt x="623481" y="833354"/>
                  <a:pt x="468180" y="819263"/>
                </a:cubicBezTo>
                <a:cubicBezTo>
                  <a:pt x="312879" y="805172"/>
                  <a:pt x="162956" y="841345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04540" h="819263" stroke="0" extrusionOk="0">
                <a:moveTo>
                  <a:pt x="0" y="0"/>
                </a:moveTo>
                <a:cubicBezTo>
                  <a:pt x="223706" y="20372"/>
                  <a:pt x="293407" y="-13308"/>
                  <a:pt x="468180" y="0"/>
                </a:cubicBezTo>
                <a:cubicBezTo>
                  <a:pt x="642953" y="13308"/>
                  <a:pt x="695331" y="11879"/>
                  <a:pt x="894224" y="0"/>
                </a:cubicBezTo>
                <a:cubicBezTo>
                  <a:pt x="1093117" y="-11879"/>
                  <a:pt x="1184561" y="15172"/>
                  <a:pt x="1404540" y="0"/>
                </a:cubicBezTo>
                <a:cubicBezTo>
                  <a:pt x="1389910" y="94709"/>
                  <a:pt x="1391238" y="296150"/>
                  <a:pt x="1404540" y="385054"/>
                </a:cubicBezTo>
                <a:cubicBezTo>
                  <a:pt x="1417842" y="473958"/>
                  <a:pt x="1389819" y="690407"/>
                  <a:pt x="1404540" y="819263"/>
                </a:cubicBezTo>
                <a:cubicBezTo>
                  <a:pt x="1164521" y="801922"/>
                  <a:pt x="1148369" y="826422"/>
                  <a:pt x="908269" y="819263"/>
                </a:cubicBezTo>
                <a:cubicBezTo>
                  <a:pt x="668169" y="812104"/>
                  <a:pt x="579697" y="824619"/>
                  <a:pt x="411998" y="819263"/>
                </a:cubicBezTo>
                <a:cubicBezTo>
                  <a:pt x="244299" y="813907"/>
                  <a:pt x="183996" y="810855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41B2C1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2C14B7-AAC0-624B-5AAC-FD04E537D5AA}"/>
              </a:ext>
            </a:extLst>
          </p:cNvPr>
          <p:cNvSpPr/>
          <p:nvPr/>
        </p:nvSpPr>
        <p:spPr>
          <a:xfrm>
            <a:off x="2024878" y="2025985"/>
            <a:ext cx="1499371" cy="819263"/>
          </a:xfrm>
          <a:custGeom>
            <a:avLst/>
            <a:gdLst>
              <a:gd name="connsiteX0" fmla="*/ 0 w 1499371"/>
              <a:gd name="connsiteY0" fmla="*/ 0 h 819263"/>
              <a:gd name="connsiteX1" fmla="*/ 484797 w 1499371"/>
              <a:gd name="connsiteY1" fmla="*/ 0 h 819263"/>
              <a:gd name="connsiteX2" fmla="*/ 954600 w 1499371"/>
              <a:gd name="connsiteY2" fmla="*/ 0 h 819263"/>
              <a:gd name="connsiteX3" fmla="*/ 1499371 w 1499371"/>
              <a:gd name="connsiteY3" fmla="*/ 0 h 819263"/>
              <a:gd name="connsiteX4" fmla="*/ 1499371 w 1499371"/>
              <a:gd name="connsiteY4" fmla="*/ 393246 h 819263"/>
              <a:gd name="connsiteX5" fmla="*/ 1499371 w 1499371"/>
              <a:gd name="connsiteY5" fmla="*/ 819263 h 819263"/>
              <a:gd name="connsiteX6" fmla="*/ 969593 w 1499371"/>
              <a:gd name="connsiteY6" fmla="*/ 819263 h 819263"/>
              <a:gd name="connsiteX7" fmla="*/ 499790 w 1499371"/>
              <a:gd name="connsiteY7" fmla="*/ 819263 h 819263"/>
              <a:gd name="connsiteX8" fmla="*/ 0 w 1499371"/>
              <a:gd name="connsiteY8" fmla="*/ 819263 h 819263"/>
              <a:gd name="connsiteX9" fmla="*/ 0 w 1499371"/>
              <a:gd name="connsiteY9" fmla="*/ 426017 h 819263"/>
              <a:gd name="connsiteX10" fmla="*/ 0 w 1499371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99371" h="819263" fill="none" extrusionOk="0">
                <a:moveTo>
                  <a:pt x="0" y="0"/>
                </a:moveTo>
                <a:cubicBezTo>
                  <a:pt x="127309" y="-22164"/>
                  <a:pt x="269641" y="-11460"/>
                  <a:pt x="484797" y="0"/>
                </a:cubicBezTo>
                <a:cubicBezTo>
                  <a:pt x="699953" y="11460"/>
                  <a:pt x="754620" y="-8362"/>
                  <a:pt x="954600" y="0"/>
                </a:cubicBezTo>
                <a:cubicBezTo>
                  <a:pt x="1154580" y="8362"/>
                  <a:pt x="1278143" y="8860"/>
                  <a:pt x="1499371" y="0"/>
                </a:cubicBezTo>
                <a:cubicBezTo>
                  <a:pt x="1498542" y="130454"/>
                  <a:pt x="1488393" y="270976"/>
                  <a:pt x="1499371" y="393246"/>
                </a:cubicBezTo>
                <a:cubicBezTo>
                  <a:pt x="1510349" y="515516"/>
                  <a:pt x="1482798" y="723865"/>
                  <a:pt x="1499371" y="819263"/>
                </a:cubicBezTo>
                <a:cubicBezTo>
                  <a:pt x="1310693" y="842665"/>
                  <a:pt x="1207687" y="815169"/>
                  <a:pt x="969593" y="819263"/>
                </a:cubicBezTo>
                <a:cubicBezTo>
                  <a:pt x="731499" y="823357"/>
                  <a:pt x="699085" y="812244"/>
                  <a:pt x="499790" y="819263"/>
                </a:cubicBezTo>
                <a:cubicBezTo>
                  <a:pt x="300495" y="826282"/>
                  <a:pt x="149069" y="800506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99371" h="819263" stroke="0" extrusionOk="0">
                <a:moveTo>
                  <a:pt x="0" y="0"/>
                </a:moveTo>
                <a:cubicBezTo>
                  <a:pt x="119261" y="-12316"/>
                  <a:pt x="258821" y="-336"/>
                  <a:pt x="499790" y="0"/>
                </a:cubicBezTo>
                <a:cubicBezTo>
                  <a:pt x="740759" y="336"/>
                  <a:pt x="749698" y="8947"/>
                  <a:pt x="954600" y="0"/>
                </a:cubicBezTo>
                <a:cubicBezTo>
                  <a:pt x="1159502" y="-8947"/>
                  <a:pt x="1379461" y="-22357"/>
                  <a:pt x="1499371" y="0"/>
                </a:cubicBezTo>
                <a:cubicBezTo>
                  <a:pt x="1484741" y="94709"/>
                  <a:pt x="1486069" y="296150"/>
                  <a:pt x="1499371" y="385054"/>
                </a:cubicBezTo>
                <a:cubicBezTo>
                  <a:pt x="1512673" y="473958"/>
                  <a:pt x="1484650" y="690407"/>
                  <a:pt x="1499371" y="819263"/>
                </a:cubicBezTo>
                <a:cubicBezTo>
                  <a:pt x="1299224" y="838654"/>
                  <a:pt x="1104095" y="803757"/>
                  <a:pt x="969593" y="819263"/>
                </a:cubicBezTo>
                <a:cubicBezTo>
                  <a:pt x="835091" y="834769"/>
                  <a:pt x="595354" y="839718"/>
                  <a:pt x="439815" y="819263"/>
                </a:cubicBezTo>
                <a:cubicBezTo>
                  <a:pt x="284276" y="798808"/>
                  <a:pt x="107437" y="832168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D6001C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9C209-9970-C6D0-E5DB-6A2B5DB69A79}"/>
              </a:ext>
            </a:extLst>
          </p:cNvPr>
          <p:cNvSpPr txBox="1"/>
          <p:nvPr/>
        </p:nvSpPr>
        <p:spPr>
          <a:xfrm>
            <a:off x="469775" y="1590946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Surrogate Key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9C003-0B2A-09A3-FF1C-D3DFEA49D135}"/>
              </a:ext>
            </a:extLst>
          </p:cNvPr>
          <p:cNvSpPr txBox="1"/>
          <p:nvPr/>
        </p:nvSpPr>
        <p:spPr>
          <a:xfrm>
            <a:off x="2024878" y="16171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Natural Key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65EDA41-9DE0-237E-6C57-6EFD73DC1382}"/>
              </a:ext>
            </a:extLst>
          </p:cNvPr>
          <p:cNvSpPr/>
          <p:nvPr/>
        </p:nvSpPr>
        <p:spPr>
          <a:xfrm>
            <a:off x="5624512" y="2943225"/>
            <a:ext cx="314325" cy="990600"/>
          </a:xfrm>
          <a:custGeom>
            <a:avLst/>
            <a:gdLst>
              <a:gd name="connsiteX0" fmla="*/ 0 w 314325"/>
              <a:gd name="connsiteY0" fmla="*/ 833438 h 990600"/>
              <a:gd name="connsiteX1" fmla="*/ 78581 w 314325"/>
              <a:gd name="connsiteY1" fmla="*/ 833438 h 990600"/>
              <a:gd name="connsiteX2" fmla="*/ 78581 w 314325"/>
              <a:gd name="connsiteY2" fmla="*/ 408385 h 990600"/>
              <a:gd name="connsiteX3" fmla="*/ 78581 w 314325"/>
              <a:gd name="connsiteY3" fmla="*/ 0 h 990600"/>
              <a:gd name="connsiteX4" fmla="*/ 235744 w 314325"/>
              <a:gd name="connsiteY4" fmla="*/ 0 h 990600"/>
              <a:gd name="connsiteX5" fmla="*/ 235744 w 314325"/>
              <a:gd name="connsiteY5" fmla="*/ 433388 h 990600"/>
              <a:gd name="connsiteX6" fmla="*/ 235744 w 314325"/>
              <a:gd name="connsiteY6" fmla="*/ 833438 h 990600"/>
              <a:gd name="connsiteX7" fmla="*/ 314325 w 314325"/>
              <a:gd name="connsiteY7" fmla="*/ 833438 h 990600"/>
              <a:gd name="connsiteX8" fmla="*/ 157163 w 314325"/>
              <a:gd name="connsiteY8" fmla="*/ 990600 h 990600"/>
              <a:gd name="connsiteX9" fmla="*/ 0 w 314325"/>
              <a:gd name="connsiteY9" fmla="*/ 833438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4325" h="990600" fill="none" extrusionOk="0">
                <a:moveTo>
                  <a:pt x="0" y="833438"/>
                </a:moveTo>
                <a:cubicBezTo>
                  <a:pt x="30952" y="827762"/>
                  <a:pt x="42566" y="833672"/>
                  <a:pt x="78581" y="833438"/>
                </a:cubicBezTo>
                <a:cubicBezTo>
                  <a:pt x="45208" y="738400"/>
                  <a:pt x="112292" y="618562"/>
                  <a:pt x="78581" y="408385"/>
                </a:cubicBezTo>
                <a:cubicBezTo>
                  <a:pt x="44870" y="198208"/>
                  <a:pt x="94552" y="117389"/>
                  <a:pt x="78581" y="0"/>
                </a:cubicBezTo>
                <a:cubicBezTo>
                  <a:pt x="150971" y="-13445"/>
                  <a:pt x="178266" y="14064"/>
                  <a:pt x="235744" y="0"/>
                </a:cubicBezTo>
                <a:cubicBezTo>
                  <a:pt x="255996" y="185885"/>
                  <a:pt x="187336" y="278714"/>
                  <a:pt x="235744" y="433388"/>
                </a:cubicBezTo>
                <a:cubicBezTo>
                  <a:pt x="284152" y="588062"/>
                  <a:pt x="204165" y="729358"/>
                  <a:pt x="235744" y="833438"/>
                </a:cubicBezTo>
                <a:cubicBezTo>
                  <a:pt x="254796" y="827922"/>
                  <a:pt x="287950" y="833573"/>
                  <a:pt x="314325" y="833438"/>
                </a:cubicBezTo>
                <a:cubicBezTo>
                  <a:pt x="254316" y="908869"/>
                  <a:pt x="178615" y="947747"/>
                  <a:pt x="157163" y="990600"/>
                </a:cubicBezTo>
                <a:cubicBezTo>
                  <a:pt x="73961" y="924183"/>
                  <a:pt x="84918" y="880890"/>
                  <a:pt x="0" y="833438"/>
                </a:cubicBezTo>
                <a:close/>
              </a:path>
              <a:path w="314325" h="990600" stroke="0" extrusionOk="0">
                <a:moveTo>
                  <a:pt x="0" y="833438"/>
                </a:moveTo>
                <a:cubicBezTo>
                  <a:pt x="36107" y="828729"/>
                  <a:pt x="55952" y="836914"/>
                  <a:pt x="78581" y="833438"/>
                </a:cubicBezTo>
                <a:cubicBezTo>
                  <a:pt x="60918" y="727812"/>
                  <a:pt x="80101" y="604349"/>
                  <a:pt x="78581" y="425053"/>
                </a:cubicBezTo>
                <a:cubicBezTo>
                  <a:pt x="77061" y="245757"/>
                  <a:pt x="113368" y="187718"/>
                  <a:pt x="78581" y="0"/>
                </a:cubicBezTo>
                <a:cubicBezTo>
                  <a:pt x="144611" y="-11253"/>
                  <a:pt x="159131" y="15603"/>
                  <a:pt x="235744" y="0"/>
                </a:cubicBezTo>
                <a:cubicBezTo>
                  <a:pt x="283628" y="84583"/>
                  <a:pt x="210277" y="323839"/>
                  <a:pt x="235744" y="408385"/>
                </a:cubicBezTo>
                <a:cubicBezTo>
                  <a:pt x="261211" y="492931"/>
                  <a:pt x="221072" y="665017"/>
                  <a:pt x="235744" y="833438"/>
                </a:cubicBezTo>
                <a:cubicBezTo>
                  <a:pt x="267111" y="830662"/>
                  <a:pt x="286184" y="836359"/>
                  <a:pt x="314325" y="833438"/>
                </a:cubicBezTo>
                <a:cubicBezTo>
                  <a:pt x="269991" y="907758"/>
                  <a:pt x="222980" y="914730"/>
                  <a:pt x="157163" y="990600"/>
                </a:cubicBezTo>
                <a:cubicBezTo>
                  <a:pt x="96258" y="940503"/>
                  <a:pt x="69016" y="868560"/>
                  <a:pt x="0" y="833438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2218962">
                  <a:prstGeom prst="down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3D673E28-837D-6FC1-2C23-DAE27E1F1284}"/>
              </a:ext>
            </a:extLst>
          </p:cNvPr>
          <p:cNvSpPr/>
          <p:nvPr/>
        </p:nvSpPr>
        <p:spPr>
          <a:xfrm>
            <a:off x="8394682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EFABC578-38B9-FBB0-1716-118248B8474A}"/>
              </a:ext>
            </a:extLst>
          </p:cNvPr>
          <p:cNvSpPr/>
          <p:nvPr/>
        </p:nvSpPr>
        <p:spPr>
          <a:xfrm>
            <a:off x="6394432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3538DF52-2B52-3FA8-6273-9608F5C0B41C}"/>
              </a:ext>
            </a:extLst>
          </p:cNvPr>
          <p:cNvSpPr/>
          <p:nvPr/>
        </p:nvSpPr>
        <p:spPr>
          <a:xfrm>
            <a:off x="1812907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5A83FD9-D4F7-41BC-F3EA-502EE6533E50}"/>
              </a:ext>
            </a:extLst>
          </p:cNvPr>
          <p:cNvSpPr/>
          <p:nvPr/>
        </p:nvSpPr>
        <p:spPr>
          <a:xfrm>
            <a:off x="10394932" y="4400551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80C1E3-C10D-AF70-E582-B3BE371581E8}"/>
              </a:ext>
            </a:extLst>
          </p:cNvPr>
          <p:cNvSpPr txBox="1"/>
          <p:nvPr/>
        </p:nvSpPr>
        <p:spPr>
          <a:xfrm>
            <a:off x="3395661" y="3276714"/>
            <a:ext cx="229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“CA” updated to “IL”</a:t>
            </a:r>
          </a:p>
        </p:txBody>
      </p:sp>
    </p:spTree>
    <p:extLst>
      <p:ext uri="{BB962C8B-B14F-4D97-AF65-F5344CB8AC3E}">
        <p14:creationId xmlns:p14="http://schemas.microsoft.com/office/powerpoint/2010/main" val="176504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C89681-9E6A-28B2-7EB4-D0F4099566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"/>
          <a:stretch/>
        </p:blipFill>
        <p:spPr>
          <a:xfrm>
            <a:off x="604337" y="3960428"/>
            <a:ext cx="9344444" cy="1228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 Type 2 – Row Version | New Row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3725B4-DE88-8C9B-E8BF-3544C1F00A06}"/>
              </a:ext>
            </a:extLst>
          </p:cNvPr>
          <p:cNvSpPr txBox="1"/>
          <p:nvPr/>
        </p:nvSpPr>
        <p:spPr>
          <a:xfrm>
            <a:off x="698579" y="1226356"/>
            <a:ext cx="10887217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روش سوم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New Record + Effective Date + Flag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E1F4D-4036-BA2C-2D8C-9E2802D2B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31" y="2028768"/>
            <a:ext cx="6001588" cy="8192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B8C0E4-E658-197A-2F55-4529BAF388FA}"/>
              </a:ext>
            </a:extLst>
          </p:cNvPr>
          <p:cNvSpPr/>
          <p:nvPr/>
        </p:nvSpPr>
        <p:spPr>
          <a:xfrm>
            <a:off x="605235" y="2025985"/>
            <a:ext cx="1404540" cy="819263"/>
          </a:xfrm>
          <a:custGeom>
            <a:avLst/>
            <a:gdLst>
              <a:gd name="connsiteX0" fmla="*/ 0 w 1404540"/>
              <a:gd name="connsiteY0" fmla="*/ 0 h 819263"/>
              <a:gd name="connsiteX1" fmla="*/ 454135 w 1404540"/>
              <a:gd name="connsiteY1" fmla="*/ 0 h 819263"/>
              <a:gd name="connsiteX2" fmla="*/ 894224 w 1404540"/>
              <a:gd name="connsiteY2" fmla="*/ 0 h 819263"/>
              <a:gd name="connsiteX3" fmla="*/ 1404540 w 1404540"/>
              <a:gd name="connsiteY3" fmla="*/ 0 h 819263"/>
              <a:gd name="connsiteX4" fmla="*/ 1404540 w 1404540"/>
              <a:gd name="connsiteY4" fmla="*/ 393246 h 819263"/>
              <a:gd name="connsiteX5" fmla="*/ 1404540 w 1404540"/>
              <a:gd name="connsiteY5" fmla="*/ 819263 h 819263"/>
              <a:gd name="connsiteX6" fmla="*/ 908269 w 1404540"/>
              <a:gd name="connsiteY6" fmla="*/ 819263 h 819263"/>
              <a:gd name="connsiteX7" fmla="*/ 468180 w 1404540"/>
              <a:gd name="connsiteY7" fmla="*/ 819263 h 819263"/>
              <a:gd name="connsiteX8" fmla="*/ 0 w 1404540"/>
              <a:gd name="connsiteY8" fmla="*/ 819263 h 819263"/>
              <a:gd name="connsiteX9" fmla="*/ 0 w 1404540"/>
              <a:gd name="connsiteY9" fmla="*/ 426017 h 819263"/>
              <a:gd name="connsiteX10" fmla="*/ 0 w 1404540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4540" h="819263" fill="none" extrusionOk="0">
                <a:moveTo>
                  <a:pt x="0" y="0"/>
                </a:moveTo>
                <a:cubicBezTo>
                  <a:pt x="109103" y="-5501"/>
                  <a:pt x="314297" y="8861"/>
                  <a:pt x="454135" y="0"/>
                </a:cubicBezTo>
                <a:cubicBezTo>
                  <a:pt x="593973" y="-8861"/>
                  <a:pt x="767411" y="-7062"/>
                  <a:pt x="894224" y="0"/>
                </a:cubicBezTo>
                <a:cubicBezTo>
                  <a:pt x="1021037" y="7062"/>
                  <a:pt x="1159307" y="-14286"/>
                  <a:pt x="1404540" y="0"/>
                </a:cubicBezTo>
                <a:cubicBezTo>
                  <a:pt x="1403711" y="130454"/>
                  <a:pt x="1393562" y="270976"/>
                  <a:pt x="1404540" y="393246"/>
                </a:cubicBezTo>
                <a:cubicBezTo>
                  <a:pt x="1415518" y="515516"/>
                  <a:pt x="1387967" y="723865"/>
                  <a:pt x="1404540" y="819263"/>
                </a:cubicBezTo>
                <a:cubicBezTo>
                  <a:pt x="1160423" y="836894"/>
                  <a:pt x="1077225" y="836128"/>
                  <a:pt x="908269" y="819263"/>
                </a:cubicBezTo>
                <a:cubicBezTo>
                  <a:pt x="739313" y="802398"/>
                  <a:pt x="623481" y="833354"/>
                  <a:pt x="468180" y="819263"/>
                </a:cubicBezTo>
                <a:cubicBezTo>
                  <a:pt x="312879" y="805172"/>
                  <a:pt x="162956" y="841345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04540" h="819263" stroke="0" extrusionOk="0">
                <a:moveTo>
                  <a:pt x="0" y="0"/>
                </a:moveTo>
                <a:cubicBezTo>
                  <a:pt x="223706" y="20372"/>
                  <a:pt x="293407" y="-13308"/>
                  <a:pt x="468180" y="0"/>
                </a:cubicBezTo>
                <a:cubicBezTo>
                  <a:pt x="642953" y="13308"/>
                  <a:pt x="695331" y="11879"/>
                  <a:pt x="894224" y="0"/>
                </a:cubicBezTo>
                <a:cubicBezTo>
                  <a:pt x="1093117" y="-11879"/>
                  <a:pt x="1184561" y="15172"/>
                  <a:pt x="1404540" y="0"/>
                </a:cubicBezTo>
                <a:cubicBezTo>
                  <a:pt x="1389910" y="94709"/>
                  <a:pt x="1391238" y="296150"/>
                  <a:pt x="1404540" y="385054"/>
                </a:cubicBezTo>
                <a:cubicBezTo>
                  <a:pt x="1417842" y="473958"/>
                  <a:pt x="1389819" y="690407"/>
                  <a:pt x="1404540" y="819263"/>
                </a:cubicBezTo>
                <a:cubicBezTo>
                  <a:pt x="1164521" y="801922"/>
                  <a:pt x="1148369" y="826422"/>
                  <a:pt x="908269" y="819263"/>
                </a:cubicBezTo>
                <a:cubicBezTo>
                  <a:pt x="668169" y="812104"/>
                  <a:pt x="579697" y="824619"/>
                  <a:pt x="411998" y="819263"/>
                </a:cubicBezTo>
                <a:cubicBezTo>
                  <a:pt x="244299" y="813907"/>
                  <a:pt x="183996" y="810855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41B2C1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2C14B7-AAC0-624B-5AAC-FD04E537D5AA}"/>
              </a:ext>
            </a:extLst>
          </p:cNvPr>
          <p:cNvSpPr/>
          <p:nvPr/>
        </p:nvSpPr>
        <p:spPr>
          <a:xfrm>
            <a:off x="2024878" y="2025985"/>
            <a:ext cx="1499371" cy="819263"/>
          </a:xfrm>
          <a:custGeom>
            <a:avLst/>
            <a:gdLst>
              <a:gd name="connsiteX0" fmla="*/ 0 w 1499371"/>
              <a:gd name="connsiteY0" fmla="*/ 0 h 819263"/>
              <a:gd name="connsiteX1" fmla="*/ 484797 w 1499371"/>
              <a:gd name="connsiteY1" fmla="*/ 0 h 819263"/>
              <a:gd name="connsiteX2" fmla="*/ 954600 w 1499371"/>
              <a:gd name="connsiteY2" fmla="*/ 0 h 819263"/>
              <a:gd name="connsiteX3" fmla="*/ 1499371 w 1499371"/>
              <a:gd name="connsiteY3" fmla="*/ 0 h 819263"/>
              <a:gd name="connsiteX4" fmla="*/ 1499371 w 1499371"/>
              <a:gd name="connsiteY4" fmla="*/ 393246 h 819263"/>
              <a:gd name="connsiteX5" fmla="*/ 1499371 w 1499371"/>
              <a:gd name="connsiteY5" fmla="*/ 819263 h 819263"/>
              <a:gd name="connsiteX6" fmla="*/ 969593 w 1499371"/>
              <a:gd name="connsiteY6" fmla="*/ 819263 h 819263"/>
              <a:gd name="connsiteX7" fmla="*/ 499790 w 1499371"/>
              <a:gd name="connsiteY7" fmla="*/ 819263 h 819263"/>
              <a:gd name="connsiteX8" fmla="*/ 0 w 1499371"/>
              <a:gd name="connsiteY8" fmla="*/ 819263 h 819263"/>
              <a:gd name="connsiteX9" fmla="*/ 0 w 1499371"/>
              <a:gd name="connsiteY9" fmla="*/ 426017 h 819263"/>
              <a:gd name="connsiteX10" fmla="*/ 0 w 1499371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99371" h="819263" fill="none" extrusionOk="0">
                <a:moveTo>
                  <a:pt x="0" y="0"/>
                </a:moveTo>
                <a:cubicBezTo>
                  <a:pt x="127309" y="-22164"/>
                  <a:pt x="269641" y="-11460"/>
                  <a:pt x="484797" y="0"/>
                </a:cubicBezTo>
                <a:cubicBezTo>
                  <a:pt x="699953" y="11460"/>
                  <a:pt x="754620" y="-8362"/>
                  <a:pt x="954600" y="0"/>
                </a:cubicBezTo>
                <a:cubicBezTo>
                  <a:pt x="1154580" y="8362"/>
                  <a:pt x="1278143" y="8860"/>
                  <a:pt x="1499371" y="0"/>
                </a:cubicBezTo>
                <a:cubicBezTo>
                  <a:pt x="1498542" y="130454"/>
                  <a:pt x="1488393" y="270976"/>
                  <a:pt x="1499371" y="393246"/>
                </a:cubicBezTo>
                <a:cubicBezTo>
                  <a:pt x="1510349" y="515516"/>
                  <a:pt x="1482798" y="723865"/>
                  <a:pt x="1499371" y="819263"/>
                </a:cubicBezTo>
                <a:cubicBezTo>
                  <a:pt x="1310693" y="842665"/>
                  <a:pt x="1207687" y="815169"/>
                  <a:pt x="969593" y="819263"/>
                </a:cubicBezTo>
                <a:cubicBezTo>
                  <a:pt x="731499" y="823357"/>
                  <a:pt x="699085" y="812244"/>
                  <a:pt x="499790" y="819263"/>
                </a:cubicBezTo>
                <a:cubicBezTo>
                  <a:pt x="300495" y="826282"/>
                  <a:pt x="149069" y="800506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99371" h="819263" stroke="0" extrusionOk="0">
                <a:moveTo>
                  <a:pt x="0" y="0"/>
                </a:moveTo>
                <a:cubicBezTo>
                  <a:pt x="119261" y="-12316"/>
                  <a:pt x="258821" y="-336"/>
                  <a:pt x="499790" y="0"/>
                </a:cubicBezTo>
                <a:cubicBezTo>
                  <a:pt x="740759" y="336"/>
                  <a:pt x="749698" y="8947"/>
                  <a:pt x="954600" y="0"/>
                </a:cubicBezTo>
                <a:cubicBezTo>
                  <a:pt x="1159502" y="-8947"/>
                  <a:pt x="1379461" y="-22357"/>
                  <a:pt x="1499371" y="0"/>
                </a:cubicBezTo>
                <a:cubicBezTo>
                  <a:pt x="1484741" y="94709"/>
                  <a:pt x="1486069" y="296150"/>
                  <a:pt x="1499371" y="385054"/>
                </a:cubicBezTo>
                <a:cubicBezTo>
                  <a:pt x="1512673" y="473958"/>
                  <a:pt x="1484650" y="690407"/>
                  <a:pt x="1499371" y="819263"/>
                </a:cubicBezTo>
                <a:cubicBezTo>
                  <a:pt x="1299224" y="838654"/>
                  <a:pt x="1104095" y="803757"/>
                  <a:pt x="969593" y="819263"/>
                </a:cubicBezTo>
                <a:cubicBezTo>
                  <a:pt x="835091" y="834769"/>
                  <a:pt x="595354" y="839718"/>
                  <a:pt x="439815" y="819263"/>
                </a:cubicBezTo>
                <a:cubicBezTo>
                  <a:pt x="284276" y="798808"/>
                  <a:pt x="107437" y="832168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D6001C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9C209-9970-C6D0-E5DB-6A2B5DB69A79}"/>
              </a:ext>
            </a:extLst>
          </p:cNvPr>
          <p:cNvSpPr txBox="1"/>
          <p:nvPr/>
        </p:nvSpPr>
        <p:spPr>
          <a:xfrm>
            <a:off x="469775" y="1590946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Surrogate Key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9C003-0B2A-09A3-FF1C-D3DFEA49D135}"/>
              </a:ext>
            </a:extLst>
          </p:cNvPr>
          <p:cNvSpPr txBox="1"/>
          <p:nvPr/>
        </p:nvSpPr>
        <p:spPr>
          <a:xfrm>
            <a:off x="2024878" y="16171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Natural Key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65EDA41-9DE0-237E-6C57-6EFD73DC1382}"/>
              </a:ext>
            </a:extLst>
          </p:cNvPr>
          <p:cNvSpPr/>
          <p:nvPr/>
        </p:nvSpPr>
        <p:spPr>
          <a:xfrm>
            <a:off x="5624512" y="2943225"/>
            <a:ext cx="314325" cy="990600"/>
          </a:xfrm>
          <a:custGeom>
            <a:avLst/>
            <a:gdLst>
              <a:gd name="connsiteX0" fmla="*/ 0 w 314325"/>
              <a:gd name="connsiteY0" fmla="*/ 833438 h 990600"/>
              <a:gd name="connsiteX1" fmla="*/ 78581 w 314325"/>
              <a:gd name="connsiteY1" fmla="*/ 833438 h 990600"/>
              <a:gd name="connsiteX2" fmla="*/ 78581 w 314325"/>
              <a:gd name="connsiteY2" fmla="*/ 408385 h 990600"/>
              <a:gd name="connsiteX3" fmla="*/ 78581 w 314325"/>
              <a:gd name="connsiteY3" fmla="*/ 0 h 990600"/>
              <a:gd name="connsiteX4" fmla="*/ 235744 w 314325"/>
              <a:gd name="connsiteY4" fmla="*/ 0 h 990600"/>
              <a:gd name="connsiteX5" fmla="*/ 235744 w 314325"/>
              <a:gd name="connsiteY5" fmla="*/ 433388 h 990600"/>
              <a:gd name="connsiteX6" fmla="*/ 235744 w 314325"/>
              <a:gd name="connsiteY6" fmla="*/ 833438 h 990600"/>
              <a:gd name="connsiteX7" fmla="*/ 314325 w 314325"/>
              <a:gd name="connsiteY7" fmla="*/ 833438 h 990600"/>
              <a:gd name="connsiteX8" fmla="*/ 157163 w 314325"/>
              <a:gd name="connsiteY8" fmla="*/ 990600 h 990600"/>
              <a:gd name="connsiteX9" fmla="*/ 0 w 314325"/>
              <a:gd name="connsiteY9" fmla="*/ 833438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4325" h="990600" fill="none" extrusionOk="0">
                <a:moveTo>
                  <a:pt x="0" y="833438"/>
                </a:moveTo>
                <a:cubicBezTo>
                  <a:pt x="30952" y="827762"/>
                  <a:pt x="42566" y="833672"/>
                  <a:pt x="78581" y="833438"/>
                </a:cubicBezTo>
                <a:cubicBezTo>
                  <a:pt x="45208" y="738400"/>
                  <a:pt x="112292" y="618562"/>
                  <a:pt x="78581" y="408385"/>
                </a:cubicBezTo>
                <a:cubicBezTo>
                  <a:pt x="44870" y="198208"/>
                  <a:pt x="94552" y="117389"/>
                  <a:pt x="78581" y="0"/>
                </a:cubicBezTo>
                <a:cubicBezTo>
                  <a:pt x="150971" y="-13445"/>
                  <a:pt x="178266" y="14064"/>
                  <a:pt x="235744" y="0"/>
                </a:cubicBezTo>
                <a:cubicBezTo>
                  <a:pt x="255996" y="185885"/>
                  <a:pt x="187336" y="278714"/>
                  <a:pt x="235744" y="433388"/>
                </a:cubicBezTo>
                <a:cubicBezTo>
                  <a:pt x="284152" y="588062"/>
                  <a:pt x="204165" y="729358"/>
                  <a:pt x="235744" y="833438"/>
                </a:cubicBezTo>
                <a:cubicBezTo>
                  <a:pt x="254796" y="827922"/>
                  <a:pt x="287950" y="833573"/>
                  <a:pt x="314325" y="833438"/>
                </a:cubicBezTo>
                <a:cubicBezTo>
                  <a:pt x="254316" y="908869"/>
                  <a:pt x="178615" y="947747"/>
                  <a:pt x="157163" y="990600"/>
                </a:cubicBezTo>
                <a:cubicBezTo>
                  <a:pt x="73961" y="924183"/>
                  <a:pt x="84918" y="880890"/>
                  <a:pt x="0" y="833438"/>
                </a:cubicBezTo>
                <a:close/>
              </a:path>
              <a:path w="314325" h="990600" stroke="0" extrusionOk="0">
                <a:moveTo>
                  <a:pt x="0" y="833438"/>
                </a:moveTo>
                <a:cubicBezTo>
                  <a:pt x="36107" y="828729"/>
                  <a:pt x="55952" y="836914"/>
                  <a:pt x="78581" y="833438"/>
                </a:cubicBezTo>
                <a:cubicBezTo>
                  <a:pt x="60918" y="727812"/>
                  <a:pt x="80101" y="604349"/>
                  <a:pt x="78581" y="425053"/>
                </a:cubicBezTo>
                <a:cubicBezTo>
                  <a:pt x="77061" y="245757"/>
                  <a:pt x="113368" y="187718"/>
                  <a:pt x="78581" y="0"/>
                </a:cubicBezTo>
                <a:cubicBezTo>
                  <a:pt x="144611" y="-11253"/>
                  <a:pt x="159131" y="15603"/>
                  <a:pt x="235744" y="0"/>
                </a:cubicBezTo>
                <a:cubicBezTo>
                  <a:pt x="283628" y="84583"/>
                  <a:pt x="210277" y="323839"/>
                  <a:pt x="235744" y="408385"/>
                </a:cubicBezTo>
                <a:cubicBezTo>
                  <a:pt x="261211" y="492931"/>
                  <a:pt x="221072" y="665017"/>
                  <a:pt x="235744" y="833438"/>
                </a:cubicBezTo>
                <a:cubicBezTo>
                  <a:pt x="267111" y="830662"/>
                  <a:pt x="286184" y="836359"/>
                  <a:pt x="314325" y="833438"/>
                </a:cubicBezTo>
                <a:cubicBezTo>
                  <a:pt x="269991" y="907758"/>
                  <a:pt x="222980" y="914730"/>
                  <a:pt x="157163" y="990600"/>
                </a:cubicBezTo>
                <a:cubicBezTo>
                  <a:pt x="96258" y="940503"/>
                  <a:pt x="69016" y="868560"/>
                  <a:pt x="0" y="833438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2218962">
                  <a:prstGeom prst="down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3D673E28-837D-6FC1-2C23-DAE27E1F1284}"/>
              </a:ext>
            </a:extLst>
          </p:cNvPr>
          <p:cNvSpPr/>
          <p:nvPr/>
        </p:nvSpPr>
        <p:spPr>
          <a:xfrm>
            <a:off x="8394682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EFABC578-38B9-FBB0-1716-118248B8474A}"/>
              </a:ext>
            </a:extLst>
          </p:cNvPr>
          <p:cNvSpPr/>
          <p:nvPr/>
        </p:nvSpPr>
        <p:spPr>
          <a:xfrm>
            <a:off x="6394432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3538DF52-2B52-3FA8-6273-9608F5C0B41C}"/>
              </a:ext>
            </a:extLst>
          </p:cNvPr>
          <p:cNvSpPr/>
          <p:nvPr/>
        </p:nvSpPr>
        <p:spPr>
          <a:xfrm>
            <a:off x="1812907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5A83FD9-D4F7-41BC-F3EA-502EE6533E50}"/>
              </a:ext>
            </a:extLst>
          </p:cNvPr>
          <p:cNvSpPr/>
          <p:nvPr/>
        </p:nvSpPr>
        <p:spPr>
          <a:xfrm>
            <a:off x="9756757" y="4400551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80C1E3-C10D-AF70-E582-B3BE371581E8}"/>
              </a:ext>
            </a:extLst>
          </p:cNvPr>
          <p:cNvSpPr txBox="1"/>
          <p:nvPr/>
        </p:nvSpPr>
        <p:spPr>
          <a:xfrm>
            <a:off x="3395661" y="3276714"/>
            <a:ext cx="229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“CA” updated to “IL”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DB08B92-5A5D-1CAA-2360-EACE650FE6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"/>
          <a:stretch/>
        </p:blipFill>
        <p:spPr>
          <a:xfrm>
            <a:off x="604337" y="3967078"/>
            <a:ext cx="9344444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77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2DCB4B-F4DB-ADC4-B018-D0468174DA46}"/>
              </a:ext>
            </a:extLst>
          </p:cNvPr>
          <p:cNvGrpSpPr/>
          <p:nvPr/>
        </p:nvGrpSpPr>
        <p:grpSpPr>
          <a:xfrm>
            <a:off x="604337" y="3960428"/>
            <a:ext cx="11367786" cy="1231594"/>
            <a:chOff x="604337" y="3960428"/>
            <a:chExt cx="11367786" cy="123159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9A7511-E0F6-E35B-F7E2-36711FE37FCA}"/>
                </a:ext>
              </a:extLst>
            </p:cNvPr>
            <p:cNvGrpSpPr/>
            <p:nvPr/>
          </p:nvGrpSpPr>
          <p:grpSpPr>
            <a:xfrm>
              <a:off x="6588916" y="3963079"/>
              <a:ext cx="5383207" cy="1228943"/>
              <a:chOff x="5750716" y="1934254"/>
              <a:chExt cx="5383207" cy="1228943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394E74CD-8EFB-2D73-13D6-7A056E74CC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59912"/>
              <a:stretch/>
            </p:blipFill>
            <p:spPr>
              <a:xfrm>
                <a:off x="5750716" y="1934301"/>
                <a:ext cx="4006041" cy="1228896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B42E207D-FF78-1AD2-C8CF-759F25E0AB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85264"/>
              <a:stretch/>
            </p:blipFill>
            <p:spPr>
              <a:xfrm>
                <a:off x="9756757" y="1934254"/>
                <a:ext cx="1377166" cy="1228896"/>
              </a:xfrm>
              <a:prstGeom prst="rect">
                <a:avLst/>
              </a:prstGeom>
            </p:spPr>
          </p:pic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C89681-9E6A-28B2-7EB4-D0F4099566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35780"/>
            <a:stretch/>
          </p:blipFill>
          <p:spPr>
            <a:xfrm>
              <a:off x="604337" y="3960428"/>
              <a:ext cx="6001589" cy="122889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 Type 2 – Row Version | New Row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3725B4-DE88-8C9B-E8BF-3544C1F00A06}"/>
              </a:ext>
            </a:extLst>
          </p:cNvPr>
          <p:cNvSpPr txBox="1"/>
          <p:nvPr/>
        </p:nvSpPr>
        <p:spPr>
          <a:xfrm>
            <a:off x="698579" y="1226356"/>
            <a:ext cx="10887217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روش چهارم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New Record + Start Date + End Date + Flag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E1F4D-4036-BA2C-2D8C-9E2802D2B5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131" y="2028768"/>
            <a:ext cx="6001588" cy="8192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B8C0E4-E658-197A-2F55-4529BAF388FA}"/>
              </a:ext>
            </a:extLst>
          </p:cNvPr>
          <p:cNvSpPr/>
          <p:nvPr/>
        </p:nvSpPr>
        <p:spPr>
          <a:xfrm>
            <a:off x="605235" y="2025985"/>
            <a:ext cx="1404540" cy="819263"/>
          </a:xfrm>
          <a:custGeom>
            <a:avLst/>
            <a:gdLst>
              <a:gd name="connsiteX0" fmla="*/ 0 w 1404540"/>
              <a:gd name="connsiteY0" fmla="*/ 0 h 819263"/>
              <a:gd name="connsiteX1" fmla="*/ 454135 w 1404540"/>
              <a:gd name="connsiteY1" fmla="*/ 0 h 819263"/>
              <a:gd name="connsiteX2" fmla="*/ 894224 w 1404540"/>
              <a:gd name="connsiteY2" fmla="*/ 0 h 819263"/>
              <a:gd name="connsiteX3" fmla="*/ 1404540 w 1404540"/>
              <a:gd name="connsiteY3" fmla="*/ 0 h 819263"/>
              <a:gd name="connsiteX4" fmla="*/ 1404540 w 1404540"/>
              <a:gd name="connsiteY4" fmla="*/ 393246 h 819263"/>
              <a:gd name="connsiteX5" fmla="*/ 1404540 w 1404540"/>
              <a:gd name="connsiteY5" fmla="*/ 819263 h 819263"/>
              <a:gd name="connsiteX6" fmla="*/ 908269 w 1404540"/>
              <a:gd name="connsiteY6" fmla="*/ 819263 h 819263"/>
              <a:gd name="connsiteX7" fmla="*/ 468180 w 1404540"/>
              <a:gd name="connsiteY7" fmla="*/ 819263 h 819263"/>
              <a:gd name="connsiteX8" fmla="*/ 0 w 1404540"/>
              <a:gd name="connsiteY8" fmla="*/ 819263 h 819263"/>
              <a:gd name="connsiteX9" fmla="*/ 0 w 1404540"/>
              <a:gd name="connsiteY9" fmla="*/ 426017 h 819263"/>
              <a:gd name="connsiteX10" fmla="*/ 0 w 1404540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4540" h="819263" fill="none" extrusionOk="0">
                <a:moveTo>
                  <a:pt x="0" y="0"/>
                </a:moveTo>
                <a:cubicBezTo>
                  <a:pt x="109103" y="-5501"/>
                  <a:pt x="314297" y="8861"/>
                  <a:pt x="454135" y="0"/>
                </a:cubicBezTo>
                <a:cubicBezTo>
                  <a:pt x="593973" y="-8861"/>
                  <a:pt x="767411" y="-7062"/>
                  <a:pt x="894224" y="0"/>
                </a:cubicBezTo>
                <a:cubicBezTo>
                  <a:pt x="1021037" y="7062"/>
                  <a:pt x="1159307" y="-14286"/>
                  <a:pt x="1404540" y="0"/>
                </a:cubicBezTo>
                <a:cubicBezTo>
                  <a:pt x="1403711" y="130454"/>
                  <a:pt x="1393562" y="270976"/>
                  <a:pt x="1404540" y="393246"/>
                </a:cubicBezTo>
                <a:cubicBezTo>
                  <a:pt x="1415518" y="515516"/>
                  <a:pt x="1387967" y="723865"/>
                  <a:pt x="1404540" y="819263"/>
                </a:cubicBezTo>
                <a:cubicBezTo>
                  <a:pt x="1160423" y="836894"/>
                  <a:pt x="1077225" y="836128"/>
                  <a:pt x="908269" y="819263"/>
                </a:cubicBezTo>
                <a:cubicBezTo>
                  <a:pt x="739313" y="802398"/>
                  <a:pt x="623481" y="833354"/>
                  <a:pt x="468180" y="819263"/>
                </a:cubicBezTo>
                <a:cubicBezTo>
                  <a:pt x="312879" y="805172"/>
                  <a:pt x="162956" y="841345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04540" h="819263" stroke="0" extrusionOk="0">
                <a:moveTo>
                  <a:pt x="0" y="0"/>
                </a:moveTo>
                <a:cubicBezTo>
                  <a:pt x="223706" y="20372"/>
                  <a:pt x="293407" y="-13308"/>
                  <a:pt x="468180" y="0"/>
                </a:cubicBezTo>
                <a:cubicBezTo>
                  <a:pt x="642953" y="13308"/>
                  <a:pt x="695331" y="11879"/>
                  <a:pt x="894224" y="0"/>
                </a:cubicBezTo>
                <a:cubicBezTo>
                  <a:pt x="1093117" y="-11879"/>
                  <a:pt x="1184561" y="15172"/>
                  <a:pt x="1404540" y="0"/>
                </a:cubicBezTo>
                <a:cubicBezTo>
                  <a:pt x="1389910" y="94709"/>
                  <a:pt x="1391238" y="296150"/>
                  <a:pt x="1404540" y="385054"/>
                </a:cubicBezTo>
                <a:cubicBezTo>
                  <a:pt x="1417842" y="473958"/>
                  <a:pt x="1389819" y="690407"/>
                  <a:pt x="1404540" y="819263"/>
                </a:cubicBezTo>
                <a:cubicBezTo>
                  <a:pt x="1164521" y="801922"/>
                  <a:pt x="1148369" y="826422"/>
                  <a:pt x="908269" y="819263"/>
                </a:cubicBezTo>
                <a:cubicBezTo>
                  <a:pt x="668169" y="812104"/>
                  <a:pt x="579697" y="824619"/>
                  <a:pt x="411998" y="819263"/>
                </a:cubicBezTo>
                <a:cubicBezTo>
                  <a:pt x="244299" y="813907"/>
                  <a:pt x="183996" y="810855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41B2C1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2C14B7-AAC0-624B-5AAC-FD04E537D5AA}"/>
              </a:ext>
            </a:extLst>
          </p:cNvPr>
          <p:cNvSpPr/>
          <p:nvPr/>
        </p:nvSpPr>
        <p:spPr>
          <a:xfrm>
            <a:off x="2024878" y="2025985"/>
            <a:ext cx="1499371" cy="819263"/>
          </a:xfrm>
          <a:custGeom>
            <a:avLst/>
            <a:gdLst>
              <a:gd name="connsiteX0" fmla="*/ 0 w 1499371"/>
              <a:gd name="connsiteY0" fmla="*/ 0 h 819263"/>
              <a:gd name="connsiteX1" fmla="*/ 484797 w 1499371"/>
              <a:gd name="connsiteY1" fmla="*/ 0 h 819263"/>
              <a:gd name="connsiteX2" fmla="*/ 954600 w 1499371"/>
              <a:gd name="connsiteY2" fmla="*/ 0 h 819263"/>
              <a:gd name="connsiteX3" fmla="*/ 1499371 w 1499371"/>
              <a:gd name="connsiteY3" fmla="*/ 0 h 819263"/>
              <a:gd name="connsiteX4" fmla="*/ 1499371 w 1499371"/>
              <a:gd name="connsiteY4" fmla="*/ 393246 h 819263"/>
              <a:gd name="connsiteX5" fmla="*/ 1499371 w 1499371"/>
              <a:gd name="connsiteY5" fmla="*/ 819263 h 819263"/>
              <a:gd name="connsiteX6" fmla="*/ 969593 w 1499371"/>
              <a:gd name="connsiteY6" fmla="*/ 819263 h 819263"/>
              <a:gd name="connsiteX7" fmla="*/ 499790 w 1499371"/>
              <a:gd name="connsiteY7" fmla="*/ 819263 h 819263"/>
              <a:gd name="connsiteX8" fmla="*/ 0 w 1499371"/>
              <a:gd name="connsiteY8" fmla="*/ 819263 h 819263"/>
              <a:gd name="connsiteX9" fmla="*/ 0 w 1499371"/>
              <a:gd name="connsiteY9" fmla="*/ 426017 h 819263"/>
              <a:gd name="connsiteX10" fmla="*/ 0 w 1499371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99371" h="819263" fill="none" extrusionOk="0">
                <a:moveTo>
                  <a:pt x="0" y="0"/>
                </a:moveTo>
                <a:cubicBezTo>
                  <a:pt x="127309" y="-22164"/>
                  <a:pt x="269641" y="-11460"/>
                  <a:pt x="484797" y="0"/>
                </a:cubicBezTo>
                <a:cubicBezTo>
                  <a:pt x="699953" y="11460"/>
                  <a:pt x="754620" y="-8362"/>
                  <a:pt x="954600" y="0"/>
                </a:cubicBezTo>
                <a:cubicBezTo>
                  <a:pt x="1154580" y="8362"/>
                  <a:pt x="1278143" y="8860"/>
                  <a:pt x="1499371" y="0"/>
                </a:cubicBezTo>
                <a:cubicBezTo>
                  <a:pt x="1498542" y="130454"/>
                  <a:pt x="1488393" y="270976"/>
                  <a:pt x="1499371" y="393246"/>
                </a:cubicBezTo>
                <a:cubicBezTo>
                  <a:pt x="1510349" y="515516"/>
                  <a:pt x="1482798" y="723865"/>
                  <a:pt x="1499371" y="819263"/>
                </a:cubicBezTo>
                <a:cubicBezTo>
                  <a:pt x="1310693" y="842665"/>
                  <a:pt x="1207687" y="815169"/>
                  <a:pt x="969593" y="819263"/>
                </a:cubicBezTo>
                <a:cubicBezTo>
                  <a:pt x="731499" y="823357"/>
                  <a:pt x="699085" y="812244"/>
                  <a:pt x="499790" y="819263"/>
                </a:cubicBezTo>
                <a:cubicBezTo>
                  <a:pt x="300495" y="826282"/>
                  <a:pt x="149069" y="800506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99371" h="819263" stroke="0" extrusionOk="0">
                <a:moveTo>
                  <a:pt x="0" y="0"/>
                </a:moveTo>
                <a:cubicBezTo>
                  <a:pt x="119261" y="-12316"/>
                  <a:pt x="258821" y="-336"/>
                  <a:pt x="499790" y="0"/>
                </a:cubicBezTo>
                <a:cubicBezTo>
                  <a:pt x="740759" y="336"/>
                  <a:pt x="749698" y="8947"/>
                  <a:pt x="954600" y="0"/>
                </a:cubicBezTo>
                <a:cubicBezTo>
                  <a:pt x="1159502" y="-8947"/>
                  <a:pt x="1379461" y="-22357"/>
                  <a:pt x="1499371" y="0"/>
                </a:cubicBezTo>
                <a:cubicBezTo>
                  <a:pt x="1484741" y="94709"/>
                  <a:pt x="1486069" y="296150"/>
                  <a:pt x="1499371" y="385054"/>
                </a:cubicBezTo>
                <a:cubicBezTo>
                  <a:pt x="1512673" y="473958"/>
                  <a:pt x="1484650" y="690407"/>
                  <a:pt x="1499371" y="819263"/>
                </a:cubicBezTo>
                <a:cubicBezTo>
                  <a:pt x="1299224" y="838654"/>
                  <a:pt x="1104095" y="803757"/>
                  <a:pt x="969593" y="819263"/>
                </a:cubicBezTo>
                <a:cubicBezTo>
                  <a:pt x="835091" y="834769"/>
                  <a:pt x="595354" y="839718"/>
                  <a:pt x="439815" y="819263"/>
                </a:cubicBezTo>
                <a:cubicBezTo>
                  <a:pt x="284276" y="798808"/>
                  <a:pt x="107437" y="832168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D6001C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9C209-9970-C6D0-E5DB-6A2B5DB69A79}"/>
              </a:ext>
            </a:extLst>
          </p:cNvPr>
          <p:cNvSpPr txBox="1"/>
          <p:nvPr/>
        </p:nvSpPr>
        <p:spPr>
          <a:xfrm>
            <a:off x="469775" y="1590946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Surrogate Key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9C003-0B2A-09A3-FF1C-D3DFEA49D135}"/>
              </a:ext>
            </a:extLst>
          </p:cNvPr>
          <p:cNvSpPr txBox="1"/>
          <p:nvPr/>
        </p:nvSpPr>
        <p:spPr>
          <a:xfrm>
            <a:off x="2024878" y="16171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Natural Key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65EDA41-9DE0-237E-6C57-6EFD73DC1382}"/>
              </a:ext>
            </a:extLst>
          </p:cNvPr>
          <p:cNvSpPr/>
          <p:nvPr/>
        </p:nvSpPr>
        <p:spPr>
          <a:xfrm>
            <a:off x="5624512" y="2943225"/>
            <a:ext cx="314325" cy="990600"/>
          </a:xfrm>
          <a:custGeom>
            <a:avLst/>
            <a:gdLst>
              <a:gd name="connsiteX0" fmla="*/ 0 w 314325"/>
              <a:gd name="connsiteY0" fmla="*/ 833438 h 990600"/>
              <a:gd name="connsiteX1" fmla="*/ 78581 w 314325"/>
              <a:gd name="connsiteY1" fmla="*/ 833438 h 990600"/>
              <a:gd name="connsiteX2" fmla="*/ 78581 w 314325"/>
              <a:gd name="connsiteY2" fmla="*/ 408385 h 990600"/>
              <a:gd name="connsiteX3" fmla="*/ 78581 w 314325"/>
              <a:gd name="connsiteY3" fmla="*/ 0 h 990600"/>
              <a:gd name="connsiteX4" fmla="*/ 235744 w 314325"/>
              <a:gd name="connsiteY4" fmla="*/ 0 h 990600"/>
              <a:gd name="connsiteX5" fmla="*/ 235744 w 314325"/>
              <a:gd name="connsiteY5" fmla="*/ 433388 h 990600"/>
              <a:gd name="connsiteX6" fmla="*/ 235744 w 314325"/>
              <a:gd name="connsiteY6" fmla="*/ 833438 h 990600"/>
              <a:gd name="connsiteX7" fmla="*/ 314325 w 314325"/>
              <a:gd name="connsiteY7" fmla="*/ 833438 h 990600"/>
              <a:gd name="connsiteX8" fmla="*/ 157163 w 314325"/>
              <a:gd name="connsiteY8" fmla="*/ 990600 h 990600"/>
              <a:gd name="connsiteX9" fmla="*/ 0 w 314325"/>
              <a:gd name="connsiteY9" fmla="*/ 833438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4325" h="990600" fill="none" extrusionOk="0">
                <a:moveTo>
                  <a:pt x="0" y="833438"/>
                </a:moveTo>
                <a:cubicBezTo>
                  <a:pt x="30952" y="827762"/>
                  <a:pt x="42566" y="833672"/>
                  <a:pt x="78581" y="833438"/>
                </a:cubicBezTo>
                <a:cubicBezTo>
                  <a:pt x="45208" y="738400"/>
                  <a:pt x="112292" y="618562"/>
                  <a:pt x="78581" y="408385"/>
                </a:cubicBezTo>
                <a:cubicBezTo>
                  <a:pt x="44870" y="198208"/>
                  <a:pt x="94552" y="117389"/>
                  <a:pt x="78581" y="0"/>
                </a:cubicBezTo>
                <a:cubicBezTo>
                  <a:pt x="150971" y="-13445"/>
                  <a:pt x="178266" y="14064"/>
                  <a:pt x="235744" y="0"/>
                </a:cubicBezTo>
                <a:cubicBezTo>
                  <a:pt x="255996" y="185885"/>
                  <a:pt x="187336" y="278714"/>
                  <a:pt x="235744" y="433388"/>
                </a:cubicBezTo>
                <a:cubicBezTo>
                  <a:pt x="284152" y="588062"/>
                  <a:pt x="204165" y="729358"/>
                  <a:pt x="235744" y="833438"/>
                </a:cubicBezTo>
                <a:cubicBezTo>
                  <a:pt x="254796" y="827922"/>
                  <a:pt x="287950" y="833573"/>
                  <a:pt x="314325" y="833438"/>
                </a:cubicBezTo>
                <a:cubicBezTo>
                  <a:pt x="254316" y="908869"/>
                  <a:pt x="178615" y="947747"/>
                  <a:pt x="157163" y="990600"/>
                </a:cubicBezTo>
                <a:cubicBezTo>
                  <a:pt x="73961" y="924183"/>
                  <a:pt x="84918" y="880890"/>
                  <a:pt x="0" y="833438"/>
                </a:cubicBezTo>
                <a:close/>
              </a:path>
              <a:path w="314325" h="990600" stroke="0" extrusionOk="0">
                <a:moveTo>
                  <a:pt x="0" y="833438"/>
                </a:moveTo>
                <a:cubicBezTo>
                  <a:pt x="36107" y="828729"/>
                  <a:pt x="55952" y="836914"/>
                  <a:pt x="78581" y="833438"/>
                </a:cubicBezTo>
                <a:cubicBezTo>
                  <a:pt x="60918" y="727812"/>
                  <a:pt x="80101" y="604349"/>
                  <a:pt x="78581" y="425053"/>
                </a:cubicBezTo>
                <a:cubicBezTo>
                  <a:pt x="77061" y="245757"/>
                  <a:pt x="113368" y="187718"/>
                  <a:pt x="78581" y="0"/>
                </a:cubicBezTo>
                <a:cubicBezTo>
                  <a:pt x="144611" y="-11253"/>
                  <a:pt x="159131" y="15603"/>
                  <a:pt x="235744" y="0"/>
                </a:cubicBezTo>
                <a:cubicBezTo>
                  <a:pt x="283628" y="84583"/>
                  <a:pt x="210277" y="323839"/>
                  <a:pt x="235744" y="408385"/>
                </a:cubicBezTo>
                <a:cubicBezTo>
                  <a:pt x="261211" y="492931"/>
                  <a:pt x="221072" y="665017"/>
                  <a:pt x="235744" y="833438"/>
                </a:cubicBezTo>
                <a:cubicBezTo>
                  <a:pt x="267111" y="830662"/>
                  <a:pt x="286184" y="836359"/>
                  <a:pt x="314325" y="833438"/>
                </a:cubicBezTo>
                <a:cubicBezTo>
                  <a:pt x="269991" y="907758"/>
                  <a:pt x="222980" y="914730"/>
                  <a:pt x="157163" y="990600"/>
                </a:cubicBezTo>
                <a:cubicBezTo>
                  <a:pt x="96258" y="940503"/>
                  <a:pt x="69016" y="868560"/>
                  <a:pt x="0" y="833438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2218962">
                  <a:prstGeom prst="down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3D673E28-837D-6FC1-2C23-DAE27E1F1284}"/>
              </a:ext>
            </a:extLst>
          </p:cNvPr>
          <p:cNvSpPr/>
          <p:nvPr/>
        </p:nvSpPr>
        <p:spPr>
          <a:xfrm>
            <a:off x="8394682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EFABC578-38B9-FBB0-1716-118248B8474A}"/>
              </a:ext>
            </a:extLst>
          </p:cNvPr>
          <p:cNvSpPr/>
          <p:nvPr/>
        </p:nvSpPr>
        <p:spPr>
          <a:xfrm>
            <a:off x="6394432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3538DF52-2B52-3FA8-6273-9608F5C0B41C}"/>
              </a:ext>
            </a:extLst>
          </p:cNvPr>
          <p:cNvSpPr/>
          <p:nvPr/>
        </p:nvSpPr>
        <p:spPr>
          <a:xfrm>
            <a:off x="1812907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5A83FD9-D4F7-41BC-F3EA-502EE6533E50}"/>
              </a:ext>
            </a:extLst>
          </p:cNvPr>
          <p:cNvSpPr/>
          <p:nvPr/>
        </p:nvSpPr>
        <p:spPr>
          <a:xfrm>
            <a:off x="10394932" y="4400551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80C1E3-C10D-AF70-E582-B3BE371581E8}"/>
              </a:ext>
            </a:extLst>
          </p:cNvPr>
          <p:cNvSpPr txBox="1"/>
          <p:nvPr/>
        </p:nvSpPr>
        <p:spPr>
          <a:xfrm>
            <a:off x="3395661" y="3276714"/>
            <a:ext cx="229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“CA” updated to “IL”</a:t>
            </a:r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B8102BC1-02F6-124E-7307-77C048B4CC5C}"/>
              </a:ext>
            </a:extLst>
          </p:cNvPr>
          <p:cNvSpPr/>
          <p:nvPr/>
        </p:nvSpPr>
        <p:spPr>
          <a:xfrm>
            <a:off x="11766532" y="43910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75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1B8731-E8C1-BF07-A343-37E10A353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87" y="4009969"/>
            <a:ext cx="11117226" cy="8192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 Type 3 – Previous Value Column | New Attribute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3725B4-DE88-8C9B-E8BF-3544C1F00A06}"/>
              </a:ext>
            </a:extLst>
          </p:cNvPr>
          <p:cNvSpPr txBox="1"/>
          <p:nvPr/>
        </p:nvSpPr>
        <p:spPr>
          <a:xfrm>
            <a:off x="698579" y="1226356"/>
            <a:ext cx="10887217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اضافه نمودن فیلد جدید به جدول برای حفظ مقدار قبلی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E1F4D-4036-BA2C-2D8C-9E2802D2B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31" y="2028768"/>
            <a:ext cx="6001588" cy="8192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B8C0E4-E658-197A-2F55-4529BAF388FA}"/>
              </a:ext>
            </a:extLst>
          </p:cNvPr>
          <p:cNvSpPr/>
          <p:nvPr/>
        </p:nvSpPr>
        <p:spPr>
          <a:xfrm>
            <a:off x="605235" y="2025985"/>
            <a:ext cx="1404540" cy="819263"/>
          </a:xfrm>
          <a:custGeom>
            <a:avLst/>
            <a:gdLst>
              <a:gd name="connsiteX0" fmla="*/ 0 w 1404540"/>
              <a:gd name="connsiteY0" fmla="*/ 0 h 819263"/>
              <a:gd name="connsiteX1" fmla="*/ 454135 w 1404540"/>
              <a:gd name="connsiteY1" fmla="*/ 0 h 819263"/>
              <a:gd name="connsiteX2" fmla="*/ 894224 w 1404540"/>
              <a:gd name="connsiteY2" fmla="*/ 0 h 819263"/>
              <a:gd name="connsiteX3" fmla="*/ 1404540 w 1404540"/>
              <a:gd name="connsiteY3" fmla="*/ 0 h 819263"/>
              <a:gd name="connsiteX4" fmla="*/ 1404540 w 1404540"/>
              <a:gd name="connsiteY4" fmla="*/ 393246 h 819263"/>
              <a:gd name="connsiteX5" fmla="*/ 1404540 w 1404540"/>
              <a:gd name="connsiteY5" fmla="*/ 819263 h 819263"/>
              <a:gd name="connsiteX6" fmla="*/ 908269 w 1404540"/>
              <a:gd name="connsiteY6" fmla="*/ 819263 h 819263"/>
              <a:gd name="connsiteX7" fmla="*/ 468180 w 1404540"/>
              <a:gd name="connsiteY7" fmla="*/ 819263 h 819263"/>
              <a:gd name="connsiteX8" fmla="*/ 0 w 1404540"/>
              <a:gd name="connsiteY8" fmla="*/ 819263 h 819263"/>
              <a:gd name="connsiteX9" fmla="*/ 0 w 1404540"/>
              <a:gd name="connsiteY9" fmla="*/ 426017 h 819263"/>
              <a:gd name="connsiteX10" fmla="*/ 0 w 1404540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4540" h="819263" fill="none" extrusionOk="0">
                <a:moveTo>
                  <a:pt x="0" y="0"/>
                </a:moveTo>
                <a:cubicBezTo>
                  <a:pt x="109103" y="-5501"/>
                  <a:pt x="314297" y="8861"/>
                  <a:pt x="454135" y="0"/>
                </a:cubicBezTo>
                <a:cubicBezTo>
                  <a:pt x="593973" y="-8861"/>
                  <a:pt x="767411" y="-7062"/>
                  <a:pt x="894224" y="0"/>
                </a:cubicBezTo>
                <a:cubicBezTo>
                  <a:pt x="1021037" y="7062"/>
                  <a:pt x="1159307" y="-14286"/>
                  <a:pt x="1404540" y="0"/>
                </a:cubicBezTo>
                <a:cubicBezTo>
                  <a:pt x="1403711" y="130454"/>
                  <a:pt x="1393562" y="270976"/>
                  <a:pt x="1404540" y="393246"/>
                </a:cubicBezTo>
                <a:cubicBezTo>
                  <a:pt x="1415518" y="515516"/>
                  <a:pt x="1387967" y="723865"/>
                  <a:pt x="1404540" y="819263"/>
                </a:cubicBezTo>
                <a:cubicBezTo>
                  <a:pt x="1160423" y="836894"/>
                  <a:pt x="1077225" y="836128"/>
                  <a:pt x="908269" y="819263"/>
                </a:cubicBezTo>
                <a:cubicBezTo>
                  <a:pt x="739313" y="802398"/>
                  <a:pt x="623481" y="833354"/>
                  <a:pt x="468180" y="819263"/>
                </a:cubicBezTo>
                <a:cubicBezTo>
                  <a:pt x="312879" y="805172"/>
                  <a:pt x="162956" y="841345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04540" h="819263" stroke="0" extrusionOk="0">
                <a:moveTo>
                  <a:pt x="0" y="0"/>
                </a:moveTo>
                <a:cubicBezTo>
                  <a:pt x="223706" y="20372"/>
                  <a:pt x="293407" y="-13308"/>
                  <a:pt x="468180" y="0"/>
                </a:cubicBezTo>
                <a:cubicBezTo>
                  <a:pt x="642953" y="13308"/>
                  <a:pt x="695331" y="11879"/>
                  <a:pt x="894224" y="0"/>
                </a:cubicBezTo>
                <a:cubicBezTo>
                  <a:pt x="1093117" y="-11879"/>
                  <a:pt x="1184561" y="15172"/>
                  <a:pt x="1404540" y="0"/>
                </a:cubicBezTo>
                <a:cubicBezTo>
                  <a:pt x="1389910" y="94709"/>
                  <a:pt x="1391238" y="296150"/>
                  <a:pt x="1404540" y="385054"/>
                </a:cubicBezTo>
                <a:cubicBezTo>
                  <a:pt x="1417842" y="473958"/>
                  <a:pt x="1389819" y="690407"/>
                  <a:pt x="1404540" y="819263"/>
                </a:cubicBezTo>
                <a:cubicBezTo>
                  <a:pt x="1164521" y="801922"/>
                  <a:pt x="1148369" y="826422"/>
                  <a:pt x="908269" y="819263"/>
                </a:cubicBezTo>
                <a:cubicBezTo>
                  <a:pt x="668169" y="812104"/>
                  <a:pt x="579697" y="824619"/>
                  <a:pt x="411998" y="819263"/>
                </a:cubicBezTo>
                <a:cubicBezTo>
                  <a:pt x="244299" y="813907"/>
                  <a:pt x="183996" y="810855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41B2C1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2C14B7-AAC0-624B-5AAC-FD04E537D5AA}"/>
              </a:ext>
            </a:extLst>
          </p:cNvPr>
          <p:cNvSpPr/>
          <p:nvPr/>
        </p:nvSpPr>
        <p:spPr>
          <a:xfrm>
            <a:off x="2024878" y="2025985"/>
            <a:ext cx="1499371" cy="819263"/>
          </a:xfrm>
          <a:custGeom>
            <a:avLst/>
            <a:gdLst>
              <a:gd name="connsiteX0" fmla="*/ 0 w 1499371"/>
              <a:gd name="connsiteY0" fmla="*/ 0 h 819263"/>
              <a:gd name="connsiteX1" fmla="*/ 484797 w 1499371"/>
              <a:gd name="connsiteY1" fmla="*/ 0 h 819263"/>
              <a:gd name="connsiteX2" fmla="*/ 954600 w 1499371"/>
              <a:gd name="connsiteY2" fmla="*/ 0 h 819263"/>
              <a:gd name="connsiteX3" fmla="*/ 1499371 w 1499371"/>
              <a:gd name="connsiteY3" fmla="*/ 0 h 819263"/>
              <a:gd name="connsiteX4" fmla="*/ 1499371 w 1499371"/>
              <a:gd name="connsiteY4" fmla="*/ 393246 h 819263"/>
              <a:gd name="connsiteX5" fmla="*/ 1499371 w 1499371"/>
              <a:gd name="connsiteY5" fmla="*/ 819263 h 819263"/>
              <a:gd name="connsiteX6" fmla="*/ 969593 w 1499371"/>
              <a:gd name="connsiteY6" fmla="*/ 819263 h 819263"/>
              <a:gd name="connsiteX7" fmla="*/ 499790 w 1499371"/>
              <a:gd name="connsiteY7" fmla="*/ 819263 h 819263"/>
              <a:gd name="connsiteX8" fmla="*/ 0 w 1499371"/>
              <a:gd name="connsiteY8" fmla="*/ 819263 h 819263"/>
              <a:gd name="connsiteX9" fmla="*/ 0 w 1499371"/>
              <a:gd name="connsiteY9" fmla="*/ 426017 h 819263"/>
              <a:gd name="connsiteX10" fmla="*/ 0 w 1499371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99371" h="819263" fill="none" extrusionOk="0">
                <a:moveTo>
                  <a:pt x="0" y="0"/>
                </a:moveTo>
                <a:cubicBezTo>
                  <a:pt x="127309" y="-22164"/>
                  <a:pt x="269641" y="-11460"/>
                  <a:pt x="484797" y="0"/>
                </a:cubicBezTo>
                <a:cubicBezTo>
                  <a:pt x="699953" y="11460"/>
                  <a:pt x="754620" y="-8362"/>
                  <a:pt x="954600" y="0"/>
                </a:cubicBezTo>
                <a:cubicBezTo>
                  <a:pt x="1154580" y="8362"/>
                  <a:pt x="1278143" y="8860"/>
                  <a:pt x="1499371" y="0"/>
                </a:cubicBezTo>
                <a:cubicBezTo>
                  <a:pt x="1498542" y="130454"/>
                  <a:pt x="1488393" y="270976"/>
                  <a:pt x="1499371" y="393246"/>
                </a:cubicBezTo>
                <a:cubicBezTo>
                  <a:pt x="1510349" y="515516"/>
                  <a:pt x="1482798" y="723865"/>
                  <a:pt x="1499371" y="819263"/>
                </a:cubicBezTo>
                <a:cubicBezTo>
                  <a:pt x="1310693" y="842665"/>
                  <a:pt x="1207687" y="815169"/>
                  <a:pt x="969593" y="819263"/>
                </a:cubicBezTo>
                <a:cubicBezTo>
                  <a:pt x="731499" y="823357"/>
                  <a:pt x="699085" y="812244"/>
                  <a:pt x="499790" y="819263"/>
                </a:cubicBezTo>
                <a:cubicBezTo>
                  <a:pt x="300495" y="826282"/>
                  <a:pt x="149069" y="800506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99371" h="819263" stroke="0" extrusionOk="0">
                <a:moveTo>
                  <a:pt x="0" y="0"/>
                </a:moveTo>
                <a:cubicBezTo>
                  <a:pt x="119261" y="-12316"/>
                  <a:pt x="258821" y="-336"/>
                  <a:pt x="499790" y="0"/>
                </a:cubicBezTo>
                <a:cubicBezTo>
                  <a:pt x="740759" y="336"/>
                  <a:pt x="749698" y="8947"/>
                  <a:pt x="954600" y="0"/>
                </a:cubicBezTo>
                <a:cubicBezTo>
                  <a:pt x="1159502" y="-8947"/>
                  <a:pt x="1379461" y="-22357"/>
                  <a:pt x="1499371" y="0"/>
                </a:cubicBezTo>
                <a:cubicBezTo>
                  <a:pt x="1484741" y="94709"/>
                  <a:pt x="1486069" y="296150"/>
                  <a:pt x="1499371" y="385054"/>
                </a:cubicBezTo>
                <a:cubicBezTo>
                  <a:pt x="1512673" y="473958"/>
                  <a:pt x="1484650" y="690407"/>
                  <a:pt x="1499371" y="819263"/>
                </a:cubicBezTo>
                <a:cubicBezTo>
                  <a:pt x="1299224" y="838654"/>
                  <a:pt x="1104095" y="803757"/>
                  <a:pt x="969593" y="819263"/>
                </a:cubicBezTo>
                <a:cubicBezTo>
                  <a:pt x="835091" y="834769"/>
                  <a:pt x="595354" y="839718"/>
                  <a:pt x="439815" y="819263"/>
                </a:cubicBezTo>
                <a:cubicBezTo>
                  <a:pt x="284276" y="798808"/>
                  <a:pt x="107437" y="832168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D6001C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9C209-9970-C6D0-E5DB-6A2B5DB69A79}"/>
              </a:ext>
            </a:extLst>
          </p:cNvPr>
          <p:cNvSpPr txBox="1"/>
          <p:nvPr/>
        </p:nvSpPr>
        <p:spPr>
          <a:xfrm>
            <a:off x="469775" y="1590946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Surrogate Key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9C003-0B2A-09A3-FF1C-D3DFEA49D135}"/>
              </a:ext>
            </a:extLst>
          </p:cNvPr>
          <p:cNvSpPr txBox="1"/>
          <p:nvPr/>
        </p:nvSpPr>
        <p:spPr>
          <a:xfrm>
            <a:off x="2024878" y="16171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Natural Key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65EDA41-9DE0-237E-6C57-6EFD73DC1382}"/>
              </a:ext>
            </a:extLst>
          </p:cNvPr>
          <p:cNvSpPr/>
          <p:nvPr/>
        </p:nvSpPr>
        <p:spPr>
          <a:xfrm>
            <a:off x="5624512" y="2943225"/>
            <a:ext cx="314325" cy="990600"/>
          </a:xfrm>
          <a:custGeom>
            <a:avLst/>
            <a:gdLst>
              <a:gd name="connsiteX0" fmla="*/ 0 w 314325"/>
              <a:gd name="connsiteY0" fmla="*/ 833438 h 990600"/>
              <a:gd name="connsiteX1" fmla="*/ 78581 w 314325"/>
              <a:gd name="connsiteY1" fmla="*/ 833438 h 990600"/>
              <a:gd name="connsiteX2" fmla="*/ 78581 w 314325"/>
              <a:gd name="connsiteY2" fmla="*/ 408385 h 990600"/>
              <a:gd name="connsiteX3" fmla="*/ 78581 w 314325"/>
              <a:gd name="connsiteY3" fmla="*/ 0 h 990600"/>
              <a:gd name="connsiteX4" fmla="*/ 235744 w 314325"/>
              <a:gd name="connsiteY4" fmla="*/ 0 h 990600"/>
              <a:gd name="connsiteX5" fmla="*/ 235744 w 314325"/>
              <a:gd name="connsiteY5" fmla="*/ 433388 h 990600"/>
              <a:gd name="connsiteX6" fmla="*/ 235744 w 314325"/>
              <a:gd name="connsiteY6" fmla="*/ 833438 h 990600"/>
              <a:gd name="connsiteX7" fmla="*/ 314325 w 314325"/>
              <a:gd name="connsiteY7" fmla="*/ 833438 h 990600"/>
              <a:gd name="connsiteX8" fmla="*/ 157163 w 314325"/>
              <a:gd name="connsiteY8" fmla="*/ 990600 h 990600"/>
              <a:gd name="connsiteX9" fmla="*/ 0 w 314325"/>
              <a:gd name="connsiteY9" fmla="*/ 833438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4325" h="990600" fill="none" extrusionOk="0">
                <a:moveTo>
                  <a:pt x="0" y="833438"/>
                </a:moveTo>
                <a:cubicBezTo>
                  <a:pt x="30952" y="827762"/>
                  <a:pt x="42566" y="833672"/>
                  <a:pt x="78581" y="833438"/>
                </a:cubicBezTo>
                <a:cubicBezTo>
                  <a:pt x="45208" y="738400"/>
                  <a:pt x="112292" y="618562"/>
                  <a:pt x="78581" y="408385"/>
                </a:cubicBezTo>
                <a:cubicBezTo>
                  <a:pt x="44870" y="198208"/>
                  <a:pt x="94552" y="117389"/>
                  <a:pt x="78581" y="0"/>
                </a:cubicBezTo>
                <a:cubicBezTo>
                  <a:pt x="150971" y="-13445"/>
                  <a:pt x="178266" y="14064"/>
                  <a:pt x="235744" y="0"/>
                </a:cubicBezTo>
                <a:cubicBezTo>
                  <a:pt x="255996" y="185885"/>
                  <a:pt x="187336" y="278714"/>
                  <a:pt x="235744" y="433388"/>
                </a:cubicBezTo>
                <a:cubicBezTo>
                  <a:pt x="284152" y="588062"/>
                  <a:pt x="204165" y="729358"/>
                  <a:pt x="235744" y="833438"/>
                </a:cubicBezTo>
                <a:cubicBezTo>
                  <a:pt x="254796" y="827922"/>
                  <a:pt x="287950" y="833573"/>
                  <a:pt x="314325" y="833438"/>
                </a:cubicBezTo>
                <a:cubicBezTo>
                  <a:pt x="254316" y="908869"/>
                  <a:pt x="178615" y="947747"/>
                  <a:pt x="157163" y="990600"/>
                </a:cubicBezTo>
                <a:cubicBezTo>
                  <a:pt x="73961" y="924183"/>
                  <a:pt x="84918" y="880890"/>
                  <a:pt x="0" y="833438"/>
                </a:cubicBezTo>
                <a:close/>
              </a:path>
              <a:path w="314325" h="990600" stroke="0" extrusionOk="0">
                <a:moveTo>
                  <a:pt x="0" y="833438"/>
                </a:moveTo>
                <a:cubicBezTo>
                  <a:pt x="36107" y="828729"/>
                  <a:pt x="55952" y="836914"/>
                  <a:pt x="78581" y="833438"/>
                </a:cubicBezTo>
                <a:cubicBezTo>
                  <a:pt x="60918" y="727812"/>
                  <a:pt x="80101" y="604349"/>
                  <a:pt x="78581" y="425053"/>
                </a:cubicBezTo>
                <a:cubicBezTo>
                  <a:pt x="77061" y="245757"/>
                  <a:pt x="113368" y="187718"/>
                  <a:pt x="78581" y="0"/>
                </a:cubicBezTo>
                <a:cubicBezTo>
                  <a:pt x="144611" y="-11253"/>
                  <a:pt x="159131" y="15603"/>
                  <a:pt x="235744" y="0"/>
                </a:cubicBezTo>
                <a:cubicBezTo>
                  <a:pt x="283628" y="84583"/>
                  <a:pt x="210277" y="323839"/>
                  <a:pt x="235744" y="408385"/>
                </a:cubicBezTo>
                <a:cubicBezTo>
                  <a:pt x="261211" y="492931"/>
                  <a:pt x="221072" y="665017"/>
                  <a:pt x="235744" y="833438"/>
                </a:cubicBezTo>
                <a:cubicBezTo>
                  <a:pt x="267111" y="830662"/>
                  <a:pt x="286184" y="836359"/>
                  <a:pt x="314325" y="833438"/>
                </a:cubicBezTo>
                <a:cubicBezTo>
                  <a:pt x="269991" y="907758"/>
                  <a:pt x="222980" y="914730"/>
                  <a:pt x="157163" y="990600"/>
                </a:cubicBezTo>
                <a:cubicBezTo>
                  <a:pt x="96258" y="940503"/>
                  <a:pt x="69016" y="868560"/>
                  <a:pt x="0" y="833438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2218962">
                  <a:prstGeom prst="down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C20D63C7-1611-8EAA-83B3-D775D775C0D5}"/>
              </a:ext>
            </a:extLst>
          </p:cNvPr>
          <p:cNvSpPr/>
          <p:nvPr/>
        </p:nvSpPr>
        <p:spPr>
          <a:xfrm>
            <a:off x="9156682" y="4419601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889B3D-028C-2D87-9AFD-B93E45AFB6D0}"/>
              </a:ext>
            </a:extLst>
          </p:cNvPr>
          <p:cNvSpPr txBox="1"/>
          <p:nvPr/>
        </p:nvSpPr>
        <p:spPr>
          <a:xfrm>
            <a:off x="3395661" y="3276714"/>
            <a:ext cx="229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“CA” updated to “IL”</a:t>
            </a:r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845834B4-654D-23F1-0E40-5F1F3ED4878D}"/>
              </a:ext>
            </a:extLst>
          </p:cNvPr>
          <p:cNvSpPr/>
          <p:nvPr/>
        </p:nvSpPr>
        <p:spPr>
          <a:xfrm>
            <a:off x="11442682" y="4419601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18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1B8731-E8C1-BF07-A343-37E10A353B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510"/>
          <a:stretch/>
        </p:blipFill>
        <p:spPr>
          <a:xfrm>
            <a:off x="108762" y="3628969"/>
            <a:ext cx="4501338" cy="8192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 Type 4 – History Table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3725B4-DE88-8C9B-E8BF-3544C1F00A06}"/>
              </a:ext>
            </a:extLst>
          </p:cNvPr>
          <p:cNvSpPr txBox="1"/>
          <p:nvPr/>
        </p:nvSpPr>
        <p:spPr>
          <a:xfrm>
            <a:off x="698579" y="1226356"/>
            <a:ext cx="10887217" cy="206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یک جدول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جدید برای نگهداری سوابق همه فیلدهای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قدیم یا بخش تغییر پذیر آن اضافه میشود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جدول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Fact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برای اطلاعات قابل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تغییر از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طریق یک فیلد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 Key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جدید به کلید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جدول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History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ارجاع میدهد.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E1F4D-4036-BA2C-2D8C-9E2802D2B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31" y="2028768"/>
            <a:ext cx="6001588" cy="8192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B8C0E4-E658-197A-2F55-4529BAF388FA}"/>
              </a:ext>
            </a:extLst>
          </p:cNvPr>
          <p:cNvSpPr/>
          <p:nvPr/>
        </p:nvSpPr>
        <p:spPr>
          <a:xfrm>
            <a:off x="605235" y="2025985"/>
            <a:ext cx="1404540" cy="819263"/>
          </a:xfrm>
          <a:custGeom>
            <a:avLst/>
            <a:gdLst>
              <a:gd name="connsiteX0" fmla="*/ 0 w 1404540"/>
              <a:gd name="connsiteY0" fmla="*/ 0 h 819263"/>
              <a:gd name="connsiteX1" fmla="*/ 454135 w 1404540"/>
              <a:gd name="connsiteY1" fmla="*/ 0 h 819263"/>
              <a:gd name="connsiteX2" fmla="*/ 894224 w 1404540"/>
              <a:gd name="connsiteY2" fmla="*/ 0 h 819263"/>
              <a:gd name="connsiteX3" fmla="*/ 1404540 w 1404540"/>
              <a:gd name="connsiteY3" fmla="*/ 0 h 819263"/>
              <a:gd name="connsiteX4" fmla="*/ 1404540 w 1404540"/>
              <a:gd name="connsiteY4" fmla="*/ 393246 h 819263"/>
              <a:gd name="connsiteX5" fmla="*/ 1404540 w 1404540"/>
              <a:gd name="connsiteY5" fmla="*/ 819263 h 819263"/>
              <a:gd name="connsiteX6" fmla="*/ 908269 w 1404540"/>
              <a:gd name="connsiteY6" fmla="*/ 819263 h 819263"/>
              <a:gd name="connsiteX7" fmla="*/ 468180 w 1404540"/>
              <a:gd name="connsiteY7" fmla="*/ 819263 h 819263"/>
              <a:gd name="connsiteX8" fmla="*/ 0 w 1404540"/>
              <a:gd name="connsiteY8" fmla="*/ 819263 h 819263"/>
              <a:gd name="connsiteX9" fmla="*/ 0 w 1404540"/>
              <a:gd name="connsiteY9" fmla="*/ 426017 h 819263"/>
              <a:gd name="connsiteX10" fmla="*/ 0 w 1404540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4540" h="819263" fill="none" extrusionOk="0">
                <a:moveTo>
                  <a:pt x="0" y="0"/>
                </a:moveTo>
                <a:cubicBezTo>
                  <a:pt x="109103" y="-5501"/>
                  <a:pt x="314297" y="8861"/>
                  <a:pt x="454135" y="0"/>
                </a:cubicBezTo>
                <a:cubicBezTo>
                  <a:pt x="593973" y="-8861"/>
                  <a:pt x="767411" y="-7062"/>
                  <a:pt x="894224" y="0"/>
                </a:cubicBezTo>
                <a:cubicBezTo>
                  <a:pt x="1021037" y="7062"/>
                  <a:pt x="1159307" y="-14286"/>
                  <a:pt x="1404540" y="0"/>
                </a:cubicBezTo>
                <a:cubicBezTo>
                  <a:pt x="1403711" y="130454"/>
                  <a:pt x="1393562" y="270976"/>
                  <a:pt x="1404540" y="393246"/>
                </a:cubicBezTo>
                <a:cubicBezTo>
                  <a:pt x="1415518" y="515516"/>
                  <a:pt x="1387967" y="723865"/>
                  <a:pt x="1404540" y="819263"/>
                </a:cubicBezTo>
                <a:cubicBezTo>
                  <a:pt x="1160423" y="836894"/>
                  <a:pt x="1077225" y="836128"/>
                  <a:pt x="908269" y="819263"/>
                </a:cubicBezTo>
                <a:cubicBezTo>
                  <a:pt x="739313" y="802398"/>
                  <a:pt x="623481" y="833354"/>
                  <a:pt x="468180" y="819263"/>
                </a:cubicBezTo>
                <a:cubicBezTo>
                  <a:pt x="312879" y="805172"/>
                  <a:pt x="162956" y="841345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04540" h="819263" stroke="0" extrusionOk="0">
                <a:moveTo>
                  <a:pt x="0" y="0"/>
                </a:moveTo>
                <a:cubicBezTo>
                  <a:pt x="223706" y="20372"/>
                  <a:pt x="293407" y="-13308"/>
                  <a:pt x="468180" y="0"/>
                </a:cubicBezTo>
                <a:cubicBezTo>
                  <a:pt x="642953" y="13308"/>
                  <a:pt x="695331" y="11879"/>
                  <a:pt x="894224" y="0"/>
                </a:cubicBezTo>
                <a:cubicBezTo>
                  <a:pt x="1093117" y="-11879"/>
                  <a:pt x="1184561" y="15172"/>
                  <a:pt x="1404540" y="0"/>
                </a:cubicBezTo>
                <a:cubicBezTo>
                  <a:pt x="1389910" y="94709"/>
                  <a:pt x="1391238" y="296150"/>
                  <a:pt x="1404540" y="385054"/>
                </a:cubicBezTo>
                <a:cubicBezTo>
                  <a:pt x="1417842" y="473958"/>
                  <a:pt x="1389819" y="690407"/>
                  <a:pt x="1404540" y="819263"/>
                </a:cubicBezTo>
                <a:cubicBezTo>
                  <a:pt x="1164521" y="801922"/>
                  <a:pt x="1148369" y="826422"/>
                  <a:pt x="908269" y="819263"/>
                </a:cubicBezTo>
                <a:cubicBezTo>
                  <a:pt x="668169" y="812104"/>
                  <a:pt x="579697" y="824619"/>
                  <a:pt x="411998" y="819263"/>
                </a:cubicBezTo>
                <a:cubicBezTo>
                  <a:pt x="244299" y="813907"/>
                  <a:pt x="183996" y="810855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41B2C1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2C14B7-AAC0-624B-5AAC-FD04E537D5AA}"/>
              </a:ext>
            </a:extLst>
          </p:cNvPr>
          <p:cNvSpPr/>
          <p:nvPr/>
        </p:nvSpPr>
        <p:spPr>
          <a:xfrm>
            <a:off x="2024878" y="2025985"/>
            <a:ext cx="1499371" cy="819263"/>
          </a:xfrm>
          <a:custGeom>
            <a:avLst/>
            <a:gdLst>
              <a:gd name="connsiteX0" fmla="*/ 0 w 1499371"/>
              <a:gd name="connsiteY0" fmla="*/ 0 h 819263"/>
              <a:gd name="connsiteX1" fmla="*/ 484797 w 1499371"/>
              <a:gd name="connsiteY1" fmla="*/ 0 h 819263"/>
              <a:gd name="connsiteX2" fmla="*/ 954600 w 1499371"/>
              <a:gd name="connsiteY2" fmla="*/ 0 h 819263"/>
              <a:gd name="connsiteX3" fmla="*/ 1499371 w 1499371"/>
              <a:gd name="connsiteY3" fmla="*/ 0 h 819263"/>
              <a:gd name="connsiteX4" fmla="*/ 1499371 w 1499371"/>
              <a:gd name="connsiteY4" fmla="*/ 393246 h 819263"/>
              <a:gd name="connsiteX5" fmla="*/ 1499371 w 1499371"/>
              <a:gd name="connsiteY5" fmla="*/ 819263 h 819263"/>
              <a:gd name="connsiteX6" fmla="*/ 969593 w 1499371"/>
              <a:gd name="connsiteY6" fmla="*/ 819263 h 819263"/>
              <a:gd name="connsiteX7" fmla="*/ 499790 w 1499371"/>
              <a:gd name="connsiteY7" fmla="*/ 819263 h 819263"/>
              <a:gd name="connsiteX8" fmla="*/ 0 w 1499371"/>
              <a:gd name="connsiteY8" fmla="*/ 819263 h 819263"/>
              <a:gd name="connsiteX9" fmla="*/ 0 w 1499371"/>
              <a:gd name="connsiteY9" fmla="*/ 426017 h 819263"/>
              <a:gd name="connsiteX10" fmla="*/ 0 w 1499371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99371" h="819263" fill="none" extrusionOk="0">
                <a:moveTo>
                  <a:pt x="0" y="0"/>
                </a:moveTo>
                <a:cubicBezTo>
                  <a:pt x="127309" y="-22164"/>
                  <a:pt x="269641" y="-11460"/>
                  <a:pt x="484797" y="0"/>
                </a:cubicBezTo>
                <a:cubicBezTo>
                  <a:pt x="699953" y="11460"/>
                  <a:pt x="754620" y="-8362"/>
                  <a:pt x="954600" y="0"/>
                </a:cubicBezTo>
                <a:cubicBezTo>
                  <a:pt x="1154580" y="8362"/>
                  <a:pt x="1278143" y="8860"/>
                  <a:pt x="1499371" y="0"/>
                </a:cubicBezTo>
                <a:cubicBezTo>
                  <a:pt x="1498542" y="130454"/>
                  <a:pt x="1488393" y="270976"/>
                  <a:pt x="1499371" y="393246"/>
                </a:cubicBezTo>
                <a:cubicBezTo>
                  <a:pt x="1510349" y="515516"/>
                  <a:pt x="1482798" y="723865"/>
                  <a:pt x="1499371" y="819263"/>
                </a:cubicBezTo>
                <a:cubicBezTo>
                  <a:pt x="1310693" y="842665"/>
                  <a:pt x="1207687" y="815169"/>
                  <a:pt x="969593" y="819263"/>
                </a:cubicBezTo>
                <a:cubicBezTo>
                  <a:pt x="731499" y="823357"/>
                  <a:pt x="699085" y="812244"/>
                  <a:pt x="499790" y="819263"/>
                </a:cubicBezTo>
                <a:cubicBezTo>
                  <a:pt x="300495" y="826282"/>
                  <a:pt x="149069" y="800506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99371" h="819263" stroke="0" extrusionOk="0">
                <a:moveTo>
                  <a:pt x="0" y="0"/>
                </a:moveTo>
                <a:cubicBezTo>
                  <a:pt x="119261" y="-12316"/>
                  <a:pt x="258821" y="-336"/>
                  <a:pt x="499790" y="0"/>
                </a:cubicBezTo>
                <a:cubicBezTo>
                  <a:pt x="740759" y="336"/>
                  <a:pt x="749698" y="8947"/>
                  <a:pt x="954600" y="0"/>
                </a:cubicBezTo>
                <a:cubicBezTo>
                  <a:pt x="1159502" y="-8947"/>
                  <a:pt x="1379461" y="-22357"/>
                  <a:pt x="1499371" y="0"/>
                </a:cubicBezTo>
                <a:cubicBezTo>
                  <a:pt x="1484741" y="94709"/>
                  <a:pt x="1486069" y="296150"/>
                  <a:pt x="1499371" y="385054"/>
                </a:cubicBezTo>
                <a:cubicBezTo>
                  <a:pt x="1512673" y="473958"/>
                  <a:pt x="1484650" y="690407"/>
                  <a:pt x="1499371" y="819263"/>
                </a:cubicBezTo>
                <a:cubicBezTo>
                  <a:pt x="1299224" y="838654"/>
                  <a:pt x="1104095" y="803757"/>
                  <a:pt x="969593" y="819263"/>
                </a:cubicBezTo>
                <a:cubicBezTo>
                  <a:pt x="835091" y="834769"/>
                  <a:pt x="595354" y="839718"/>
                  <a:pt x="439815" y="819263"/>
                </a:cubicBezTo>
                <a:cubicBezTo>
                  <a:pt x="284276" y="798808"/>
                  <a:pt x="107437" y="832168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D6001C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9C209-9970-C6D0-E5DB-6A2B5DB69A79}"/>
              </a:ext>
            </a:extLst>
          </p:cNvPr>
          <p:cNvSpPr txBox="1"/>
          <p:nvPr/>
        </p:nvSpPr>
        <p:spPr>
          <a:xfrm>
            <a:off x="469775" y="1590946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Surrogate Key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9C003-0B2A-09A3-FF1C-D3DFEA49D135}"/>
              </a:ext>
            </a:extLst>
          </p:cNvPr>
          <p:cNvSpPr txBox="1"/>
          <p:nvPr/>
        </p:nvSpPr>
        <p:spPr>
          <a:xfrm>
            <a:off x="2024878" y="16171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Natural Key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65EDA41-9DE0-237E-6C57-6EFD73DC1382}"/>
              </a:ext>
            </a:extLst>
          </p:cNvPr>
          <p:cNvSpPr/>
          <p:nvPr/>
        </p:nvSpPr>
        <p:spPr>
          <a:xfrm>
            <a:off x="5624512" y="2943224"/>
            <a:ext cx="314325" cy="1828801"/>
          </a:xfrm>
          <a:custGeom>
            <a:avLst/>
            <a:gdLst>
              <a:gd name="connsiteX0" fmla="*/ 0 w 314325"/>
              <a:gd name="connsiteY0" fmla="*/ 1671639 h 1828801"/>
              <a:gd name="connsiteX1" fmla="*/ 78581 w 314325"/>
              <a:gd name="connsiteY1" fmla="*/ 1671639 h 1828801"/>
              <a:gd name="connsiteX2" fmla="*/ 78581 w 314325"/>
              <a:gd name="connsiteY2" fmla="*/ 1114426 h 1828801"/>
              <a:gd name="connsiteX3" fmla="*/ 78581 w 314325"/>
              <a:gd name="connsiteY3" fmla="*/ 540497 h 1828801"/>
              <a:gd name="connsiteX4" fmla="*/ 78581 w 314325"/>
              <a:gd name="connsiteY4" fmla="*/ 0 h 1828801"/>
              <a:gd name="connsiteX5" fmla="*/ 235744 w 314325"/>
              <a:gd name="connsiteY5" fmla="*/ 0 h 1828801"/>
              <a:gd name="connsiteX6" fmla="*/ 235744 w 314325"/>
              <a:gd name="connsiteY6" fmla="*/ 507064 h 1828801"/>
              <a:gd name="connsiteX7" fmla="*/ 235744 w 314325"/>
              <a:gd name="connsiteY7" fmla="*/ 1064277 h 1828801"/>
              <a:gd name="connsiteX8" fmla="*/ 235744 w 314325"/>
              <a:gd name="connsiteY8" fmla="*/ 1671639 h 1828801"/>
              <a:gd name="connsiteX9" fmla="*/ 314325 w 314325"/>
              <a:gd name="connsiteY9" fmla="*/ 1671639 h 1828801"/>
              <a:gd name="connsiteX10" fmla="*/ 157163 w 314325"/>
              <a:gd name="connsiteY10" fmla="*/ 1828801 h 1828801"/>
              <a:gd name="connsiteX11" fmla="*/ 0 w 314325"/>
              <a:gd name="connsiteY11" fmla="*/ 1671639 h 182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4325" h="1828801" fill="none" extrusionOk="0">
                <a:moveTo>
                  <a:pt x="0" y="1671639"/>
                </a:moveTo>
                <a:cubicBezTo>
                  <a:pt x="38743" y="1662545"/>
                  <a:pt x="61075" y="1674273"/>
                  <a:pt x="78581" y="1671639"/>
                </a:cubicBezTo>
                <a:cubicBezTo>
                  <a:pt x="66234" y="1415655"/>
                  <a:pt x="98332" y="1286997"/>
                  <a:pt x="78581" y="1114426"/>
                </a:cubicBezTo>
                <a:cubicBezTo>
                  <a:pt x="58830" y="941855"/>
                  <a:pt x="108991" y="681413"/>
                  <a:pt x="78581" y="540497"/>
                </a:cubicBezTo>
                <a:cubicBezTo>
                  <a:pt x="48171" y="399581"/>
                  <a:pt x="99275" y="170112"/>
                  <a:pt x="78581" y="0"/>
                </a:cubicBezTo>
                <a:cubicBezTo>
                  <a:pt x="130899" y="-8709"/>
                  <a:pt x="177999" y="15120"/>
                  <a:pt x="235744" y="0"/>
                </a:cubicBezTo>
                <a:cubicBezTo>
                  <a:pt x="263576" y="153109"/>
                  <a:pt x="182872" y="317432"/>
                  <a:pt x="235744" y="507064"/>
                </a:cubicBezTo>
                <a:cubicBezTo>
                  <a:pt x="288616" y="696696"/>
                  <a:pt x="192532" y="787166"/>
                  <a:pt x="235744" y="1064277"/>
                </a:cubicBezTo>
                <a:cubicBezTo>
                  <a:pt x="278956" y="1341388"/>
                  <a:pt x="187758" y="1469070"/>
                  <a:pt x="235744" y="1671639"/>
                </a:cubicBezTo>
                <a:cubicBezTo>
                  <a:pt x="257933" y="1663485"/>
                  <a:pt x="292186" y="1680840"/>
                  <a:pt x="314325" y="1671639"/>
                </a:cubicBezTo>
                <a:cubicBezTo>
                  <a:pt x="281904" y="1704328"/>
                  <a:pt x="190909" y="1785845"/>
                  <a:pt x="157163" y="1828801"/>
                </a:cubicBezTo>
                <a:cubicBezTo>
                  <a:pt x="106091" y="1804183"/>
                  <a:pt x="49533" y="1705532"/>
                  <a:pt x="0" y="1671639"/>
                </a:cubicBezTo>
                <a:close/>
              </a:path>
              <a:path w="314325" h="1828801" stroke="0" extrusionOk="0">
                <a:moveTo>
                  <a:pt x="0" y="1671639"/>
                </a:moveTo>
                <a:cubicBezTo>
                  <a:pt x="36107" y="1666930"/>
                  <a:pt x="55952" y="1675115"/>
                  <a:pt x="78581" y="1671639"/>
                </a:cubicBezTo>
                <a:cubicBezTo>
                  <a:pt x="61224" y="1486043"/>
                  <a:pt x="106845" y="1357713"/>
                  <a:pt x="78581" y="1131142"/>
                </a:cubicBezTo>
                <a:cubicBezTo>
                  <a:pt x="50317" y="904571"/>
                  <a:pt x="91445" y="720616"/>
                  <a:pt x="78581" y="557213"/>
                </a:cubicBezTo>
                <a:cubicBezTo>
                  <a:pt x="65717" y="393810"/>
                  <a:pt x="131371" y="228470"/>
                  <a:pt x="78581" y="0"/>
                </a:cubicBezTo>
                <a:cubicBezTo>
                  <a:pt x="141798" y="-4933"/>
                  <a:pt x="201372" y="1850"/>
                  <a:pt x="235744" y="0"/>
                </a:cubicBezTo>
                <a:cubicBezTo>
                  <a:pt x="251185" y="185721"/>
                  <a:pt x="188818" y="305989"/>
                  <a:pt x="235744" y="573929"/>
                </a:cubicBezTo>
                <a:cubicBezTo>
                  <a:pt x="282670" y="841869"/>
                  <a:pt x="177714" y="914681"/>
                  <a:pt x="235744" y="1131142"/>
                </a:cubicBezTo>
                <a:cubicBezTo>
                  <a:pt x="293774" y="1347603"/>
                  <a:pt x="205944" y="1441264"/>
                  <a:pt x="235744" y="1671639"/>
                </a:cubicBezTo>
                <a:cubicBezTo>
                  <a:pt x="263911" y="1662687"/>
                  <a:pt x="275533" y="1671830"/>
                  <a:pt x="314325" y="1671639"/>
                </a:cubicBezTo>
                <a:cubicBezTo>
                  <a:pt x="244259" y="1743144"/>
                  <a:pt x="226677" y="1749577"/>
                  <a:pt x="157163" y="1828801"/>
                </a:cubicBezTo>
                <a:cubicBezTo>
                  <a:pt x="116333" y="1799262"/>
                  <a:pt x="56574" y="1705907"/>
                  <a:pt x="0" y="1671639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2218962">
                  <a:prstGeom prst="down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889B3D-028C-2D87-9AFD-B93E45AFB6D0}"/>
              </a:ext>
            </a:extLst>
          </p:cNvPr>
          <p:cNvSpPr txBox="1"/>
          <p:nvPr/>
        </p:nvSpPr>
        <p:spPr>
          <a:xfrm>
            <a:off x="5862636" y="3648189"/>
            <a:ext cx="229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“CA” updated to “IL”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8716BF-87E0-1093-9909-67A91915C8FE}"/>
              </a:ext>
            </a:extLst>
          </p:cNvPr>
          <p:cNvGrpSpPr/>
          <p:nvPr/>
        </p:nvGrpSpPr>
        <p:grpSpPr>
          <a:xfrm>
            <a:off x="4238074" y="4879352"/>
            <a:ext cx="7762372" cy="1228896"/>
            <a:chOff x="3942799" y="3984002"/>
            <a:chExt cx="7762372" cy="1228896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71CA2A2-47C8-57FD-A654-EC41A0B371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68659"/>
            <a:stretch/>
          </p:blipFill>
          <p:spPr>
            <a:xfrm>
              <a:off x="3942799" y="3984002"/>
              <a:ext cx="2928935" cy="1228896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D4D0259-FAD9-3CC4-32AF-9CB2AFBF16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48123" r="10"/>
            <a:stretch/>
          </p:blipFill>
          <p:spPr>
            <a:xfrm>
              <a:off x="6858000" y="3984002"/>
              <a:ext cx="4847171" cy="1228896"/>
            </a:xfrm>
            <a:prstGeom prst="rect">
              <a:avLst/>
            </a:prstGeom>
          </p:spPr>
        </p:pic>
      </p:grp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C2FDD110-CCA0-BFCF-E2DD-90C9F75B1689}"/>
              </a:ext>
            </a:extLst>
          </p:cNvPr>
          <p:cNvSpPr/>
          <p:nvPr/>
        </p:nvSpPr>
        <p:spPr>
          <a:xfrm>
            <a:off x="10442557" y="53054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2024141A-C3F1-2637-7127-1889DD1272A4}"/>
              </a:ext>
            </a:extLst>
          </p:cNvPr>
          <p:cNvSpPr/>
          <p:nvPr/>
        </p:nvSpPr>
        <p:spPr>
          <a:xfrm>
            <a:off x="11804632" y="53054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0DD9F8D3-5DC4-23B8-92B9-69DC75980D4A}"/>
              </a:ext>
            </a:extLst>
          </p:cNvPr>
          <p:cNvSpPr/>
          <p:nvPr/>
        </p:nvSpPr>
        <p:spPr>
          <a:xfrm>
            <a:off x="8451832" y="53054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8E736D67-3956-0672-29FC-EFE529C4842E}"/>
              </a:ext>
            </a:extLst>
          </p:cNvPr>
          <p:cNvSpPr/>
          <p:nvPr/>
        </p:nvSpPr>
        <p:spPr>
          <a:xfrm>
            <a:off x="5451457" y="5305426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25FC6FB-6CF7-5ADA-921F-7D32A56A16ED}"/>
              </a:ext>
            </a:extLst>
          </p:cNvPr>
          <p:cNvSpPr/>
          <p:nvPr/>
        </p:nvSpPr>
        <p:spPr>
          <a:xfrm>
            <a:off x="179189" y="4941350"/>
            <a:ext cx="1128315" cy="1162050"/>
          </a:xfrm>
          <a:custGeom>
            <a:avLst/>
            <a:gdLst>
              <a:gd name="connsiteX0" fmla="*/ 0 w 1128315"/>
              <a:gd name="connsiteY0" fmla="*/ 581025 h 1162050"/>
              <a:gd name="connsiteX1" fmla="*/ 564158 w 1128315"/>
              <a:gd name="connsiteY1" fmla="*/ 0 h 1162050"/>
              <a:gd name="connsiteX2" fmla="*/ 1128316 w 1128315"/>
              <a:gd name="connsiteY2" fmla="*/ 581025 h 1162050"/>
              <a:gd name="connsiteX3" fmla="*/ 564158 w 1128315"/>
              <a:gd name="connsiteY3" fmla="*/ 1162050 h 1162050"/>
              <a:gd name="connsiteX4" fmla="*/ 0 w 1128315"/>
              <a:gd name="connsiteY4" fmla="*/ 581025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8315" h="1162050" extrusionOk="0">
                <a:moveTo>
                  <a:pt x="0" y="581025"/>
                </a:moveTo>
                <a:cubicBezTo>
                  <a:pt x="24570" y="229673"/>
                  <a:pt x="253758" y="12008"/>
                  <a:pt x="564158" y="0"/>
                </a:cubicBezTo>
                <a:cubicBezTo>
                  <a:pt x="870998" y="-10245"/>
                  <a:pt x="1110483" y="231786"/>
                  <a:pt x="1128316" y="581025"/>
                </a:cubicBezTo>
                <a:cubicBezTo>
                  <a:pt x="1098684" y="944002"/>
                  <a:pt x="924825" y="1140394"/>
                  <a:pt x="564158" y="1162050"/>
                </a:cubicBezTo>
                <a:cubicBezTo>
                  <a:pt x="290053" y="1155773"/>
                  <a:pt x="21665" y="930993"/>
                  <a:pt x="0" y="581025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775347658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Fact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10D530-D717-C63D-F991-DE746FE38FF9}"/>
              </a:ext>
            </a:extLst>
          </p:cNvPr>
          <p:cNvCxnSpPr>
            <a:stCxn id="8" idx="7"/>
            <a:endCxn id="6" idx="2"/>
          </p:cNvCxnSpPr>
          <p:nvPr/>
        </p:nvCxnSpPr>
        <p:spPr>
          <a:xfrm flipV="1">
            <a:off x="1142266" y="4448233"/>
            <a:ext cx="1217165" cy="66329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36E68D3-2154-3671-8EE7-A9BD4BA8ED25}"/>
              </a:ext>
            </a:extLst>
          </p:cNvPr>
          <p:cNvCxnSpPr>
            <a:cxnSpLocks/>
            <a:stCxn id="8" idx="6"/>
            <a:endCxn id="29" idx="1"/>
          </p:cNvCxnSpPr>
          <p:nvPr/>
        </p:nvCxnSpPr>
        <p:spPr>
          <a:xfrm flipV="1">
            <a:off x="1307504" y="5493800"/>
            <a:ext cx="2930570" cy="2857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C76C126-F0EA-CEEA-0208-EDC9F5BFAFED}"/>
              </a:ext>
            </a:extLst>
          </p:cNvPr>
          <p:cNvSpPr txBox="1"/>
          <p:nvPr/>
        </p:nvSpPr>
        <p:spPr>
          <a:xfrm>
            <a:off x="107825" y="3305446"/>
            <a:ext cx="154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DIM Supplier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7AD5A2-035A-AB53-F044-0E3828BD357C}"/>
              </a:ext>
            </a:extLst>
          </p:cNvPr>
          <p:cNvSpPr txBox="1"/>
          <p:nvPr/>
        </p:nvSpPr>
        <p:spPr>
          <a:xfrm>
            <a:off x="7565900" y="4505596"/>
            <a:ext cx="4423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Mini DIM Supplier | DIM Supplier History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36EBC3-7197-6110-F42D-5B0B6624F6E9}"/>
              </a:ext>
            </a:extLst>
          </p:cNvPr>
          <p:cNvSpPr txBox="1"/>
          <p:nvPr/>
        </p:nvSpPr>
        <p:spPr>
          <a:xfrm rot="19900562">
            <a:off x="1355167" y="4730113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FK to 123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768002-9B20-BCD6-4E02-0DF4C85CF0D0}"/>
              </a:ext>
            </a:extLst>
          </p:cNvPr>
          <p:cNvSpPr txBox="1"/>
          <p:nvPr/>
        </p:nvSpPr>
        <p:spPr>
          <a:xfrm>
            <a:off x="1950378" y="5560908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FK to 124</a:t>
            </a:r>
          </a:p>
        </p:txBody>
      </p:sp>
    </p:spTree>
    <p:extLst>
      <p:ext uri="{BB962C8B-B14F-4D97-AF65-F5344CB8AC3E}">
        <p14:creationId xmlns:p14="http://schemas.microsoft.com/office/powerpoint/2010/main" val="1693468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 Type 4 – History Table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3725B4-DE88-8C9B-E8BF-3544C1F00A06}"/>
              </a:ext>
            </a:extLst>
          </p:cNvPr>
          <p:cNvSpPr txBox="1"/>
          <p:nvPr/>
        </p:nvSpPr>
        <p:spPr>
          <a:xfrm>
            <a:off x="698579" y="1226356"/>
            <a:ext cx="10887217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نمونه طراحی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 Type 4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که در آن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جدول جدید برای فیلد تغییر پذیر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Risk Type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ایجاد شده است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fa-IR" sz="2000" dirty="0">
                <a:solidFill>
                  <a:srgbClr val="41B2C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(میتواند چند فیلیدی هم باشد)</a:t>
            </a:r>
            <a:endParaRPr lang="en-US" sz="2000" dirty="0">
              <a:solidFill>
                <a:srgbClr val="41B2C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905C5A-BC9F-C2AC-A74C-2503398C2E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45" t="5033" r="1425" b="2349"/>
          <a:stretch/>
        </p:blipFill>
        <p:spPr>
          <a:xfrm>
            <a:off x="138510" y="1097952"/>
            <a:ext cx="7206337" cy="30358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9F0F8F-ECDE-1A4E-E027-C8DA8EE96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6928" y="3429000"/>
            <a:ext cx="6856562" cy="3290888"/>
          </a:xfrm>
          <a:prstGeom prst="rect">
            <a:avLst/>
          </a:prstGeom>
        </p:spPr>
      </p:pic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E2A02E39-60BD-81B1-DE4A-3ED228166AAD}"/>
              </a:ext>
            </a:extLst>
          </p:cNvPr>
          <p:cNvCxnSpPr/>
          <p:nvPr/>
        </p:nvCxnSpPr>
        <p:spPr>
          <a:xfrm>
            <a:off x="2486025" y="4321969"/>
            <a:ext cx="2143125" cy="1504950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3E1D68D-BCF1-8B01-1D61-E5B5F17A8DBC}"/>
              </a:ext>
            </a:extLst>
          </p:cNvPr>
          <p:cNvSpPr txBox="1"/>
          <p:nvPr/>
        </p:nvSpPr>
        <p:spPr>
          <a:xfrm>
            <a:off x="135560" y="4213858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طراحی قدیم</a:t>
            </a:r>
            <a:endParaRPr lang="en-US" dirty="0">
              <a:solidFill>
                <a:schemeClr val="bg1"/>
              </a:solidFill>
              <a:latin typeface="SG Kara" panose="00000500000000000000" pitchFamily="2" charset="-78"/>
              <a:ea typeface="SG Kara" panose="00000500000000000000" pitchFamily="2" charset="-78"/>
              <a:cs typeface="SG Kara" panose="00000500000000000000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230574-12CA-7918-6D31-2229B372F7D5}"/>
              </a:ext>
            </a:extLst>
          </p:cNvPr>
          <p:cNvSpPr txBox="1"/>
          <p:nvPr/>
        </p:nvSpPr>
        <p:spPr>
          <a:xfrm>
            <a:off x="3827642" y="6144955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طراحی جدید</a:t>
            </a:r>
            <a:endParaRPr lang="en-US" dirty="0">
              <a:solidFill>
                <a:schemeClr val="bg1"/>
              </a:solidFill>
              <a:latin typeface="SG Kara" panose="00000500000000000000" pitchFamily="2" charset="-78"/>
              <a:ea typeface="SG Kara" panose="00000500000000000000" pitchFamily="2" charset="-78"/>
              <a:cs typeface="SG Kara" panose="00000500000000000000" pitchFamily="2" charset="-78"/>
            </a:endParaRPr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D7709A9B-0341-0592-256C-0537D10B9D16}"/>
              </a:ext>
            </a:extLst>
          </p:cNvPr>
          <p:cNvSpPr/>
          <p:nvPr/>
        </p:nvSpPr>
        <p:spPr>
          <a:xfrm>
            <a:off x="11393772" y="5631644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567AF1E9-0246-5BA1-668B-8999C4CD7E7C}"/>
              </a:ext>
            </a:extLst>
          </p:cNvPr>
          <p:cNvSpPr/>
          <p:nvPr/>
        </p:nvSpPr>
        <p:spPr>
          <a:xfrm>
            <a:off x="4899007" y="2556934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C9D0629E-DC5A-4D6B-9B29-B7DDEF99C8A1}"/>
              </a:ext>
            </a:extLst>
          </p:cNvPr>
          <p:cNvSpPr/>
          <p:nvPr/>
        </p:nvSpPr>
        <p:spPr>
          <a:xfrm>
            <a:off x="6268898" y="5035957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88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 Type 5 – Current Profile Mini Dim Key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3725B4-DE88-8C9B-E8BF-3544C1F00A06}"/>
              </a:ext>
            </a:extLst>
          </p:cNvPr>
          <p:cNvSpPr txBox="1"/>
          <p:nvPr/>
        </p:nvSpPr>
        <p:spPr>
          <a:xfrm>
            <a:off x="698579" y="1226356"/>
            <a:ext cx="10887217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همان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4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میباشد، با این تفاوت کلید مربوط به رکورد </a:t>
            </a:r>
            <a:r>
              <a:rPr lang="en-US" sz="20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Current_Flag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=Y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(رکورد فعال) از جدول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Mini Dimension Key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به شکل یک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Attribute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جدید در جدول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Dimension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اصلی جهت ارجاعات احتمالی از طریق کوئری نویسی ذخیره میشود.</a:t>
            </a:r>
            <a:endParaRPr lang="en-US" sz="2000" dirty="0">
              <a:solidFill>
                <a:srgbClr val="41B2C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86860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 Type 6 – Combined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3725B4-DE88-8C9B-E8BF-3544C1F00A06}"/>
              </a:ext>
            </a:extLst>
          </p:cNvPr>
          <p:cNvSpPr txBox="1"/>
          <p:nvPr/>
        </p:nvSpPr>
        <p:spPr>
          <a:xfrm>
            <a:off x="698579" y="1226356"/>
            <a:ext cx="10887217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روش اول تلفیق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2 + 3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تولید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SK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جدید، جهت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Unique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ماندن</a:t>
            </a:r>
          </a:p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Unique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بودن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Natural Key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به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شیوه عادی امکان پذیر نیست.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E1F4D-4036-BA2C-2D8C-9E2802D2B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31" y="2028768"/>
            <a:ext cx="6001588" cy="8192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B8C0E4-E658-197A-2F55-4529BAF388FA}"/>
              </a:ext>
            </a:extLst>
          </p:cNvPr>
          <p:cNvSpPr/>
          <p:nvPr/>
        </p:nvSpPr>
        <p:spPr>
          <a:xfrm>
            <a:off x="605235" y="2025985"/>
            <a:ext cx="1404540" cy="819263"/>
          </a:xfrm>
          <a:custGeom>
            <a:avLst/>
            <a:gdLst>
              <a:gd name="connsiteX0" fmla="*/ 0 w 1404540"/>
              <a:gd name="connsiteY0" fmla="*/ 0 h 819263"/>
              <a:gd name="connsiteX1" fmla="*/ 454135 w 1404540"/>
              <a:gd name="connsiteY1" fmla="*/ 0 h 819263"/>
              <a:gd name="connsiteX2" fmla="*/ 894224 w 1404540"/>
              <a:gd name="connsiteY2" fmla="*/ 0 h 819263"/>
              <a:gd name="connsiteX3" fmla="*/ 1404540 w 1404540"/>
              <a:gd name="connsiteY3" fmla="*/ 0 h 819263"/>
              <a:gd name="connsiteX4" fmla="*/ 1404540 w 1404540"/>
              <a:gd name="connsiteY4" fmla="*/ 393246 h 819263"/>
              <a:gd name="connsiteX5" fmla="*/ 1404540 w 1404540"/>
              <a:gd name="connsiteY5" fmla="*/ 819263 h 819263"/>
              <a:gd name="connsiteX6" fmla="*/ 908269 w 1404540"/>
              <a:gd name="connsiteY6" fmla="*/ 819263 h 819263"/>
              <a:gd name="connsiteX7" fmla="*/ 468180 w 1404540"/>
              <a:gd name="connsiteY7" fmla="*/ 819263 h 819263"/>
              <a:gd name="connsiteX8" fmla="*/ 0 w 1404540"/>
              <a:gd name="connsiteY8" fmla="*/ 819263 h 819263"/>
              <a:gd name="connsiteX9" fmla="*/ 0 w 1404540"/>
              <a:gd name="connsiteY9" fmla="*/ 426017 h 819263"/>
              <a:gd name="connsiteX10" fmla="*/ 0 w 1404540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4540" h="819263" fill="none" extrusionOk="0">
                <a:moveTo>
                  <a:pt x="0" y="0"/>
                </a:moveTo>
                <a:cubicBezTo>
                  <a:pt x="109103" y="-5501"/>
                  <a:pt x="314297" y="8861"/>
                  <a:pt x="454135" y="0"/>
                </a:cubicBezTo>
                <a:cubicBezTo>
                  <a:pt x="593973" y="-8861"/>
                  <a:pt x="767411" y="-7062"/>
                  <a:pt x="894224" y="0"/>
                </a:cubicBezTo>
                <a:cubicBezTo>
                  <a:pt x="1021037" y="7062"/>
                  <a:pt x="1159307" y="-14286"/>
                  <a:pt x="1404540" y="0"/>
                </a:cubicBezTo>
                <a:cubicBezTo>
                  <a:pt x="1403711" y="130454"/>
                  <a:pt x="1393562" y="270976"/>
                  <a:pt x="1404540" y="393246"/>
                </a:cubicBezTo>
                <a:cubicBezTo>
                  <a:pt x="1415518" y="515516"/>
                  <a:pt x="1387967" y="723865"/>
                  <a:pt x="1404540" y="819263"/>
                </a:cubicBezTo>
                <a:cubicBezTo>
                  <a:pt x="1160423" y="836894"/>
                  <a:pt x="1077225" y="836128"/>
                  <a:pt x="908269" y="819263"/>
                </a:cubicBezTo>
                <a:cubicBezTo>
                  <a:pt x="739313" y="802398"/>
                  <a:pt x="623481" y="833354"/>
                  <a:pt x="468180" y="819263"/>
                </a:cubicBezTo>
                <a:cubicBezTo>
                  <a:pt x="312879" y="805172"/>
                  <a:pt x="162956" y="841345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04540" h="819263" stroke="0" extrusionOk="0">
                <a:moveTo>
                  <a:pt x="0" y="0"/>
                </a:moveTo>
                <a:cubicBezTo>
                  <a:pt x="223706" y="20372"/>
                  <a:pt x="293407" y="-13308"/>
                  <a:pt x="468180" y="0"/>
                </a:cubicBezTo>
                <a:cubicBezTo>
                  <a:pt x="642953" y="13308"/>
                  <a:pt x="695331" y="11879"/>
                  <a:pt x="894224" y="0"/>
                </a:cubicBezTo>
                <a:cubicBezTo>
                  <a:pt x="1093117" y="-11879"/>
                  <a:pt x="1184561" y="15172"/>
                  <a:pt x="1404540" y="0"/>
                </a:cubicBezTo>
                <a:cubicBezTo>
                  <a:pt x="1389910" y="94709"/>
                  <a:pt x="1391238" y="296150"/>
                  <a:pt x="1404540" y="385054"/>
                </a:cubicBezTo>
                <a:cubicBezTo>
                  <a:pt x="1417842" y="473958"/>
                  <a:pt x="1389819" y="690407"/>
                  <a:pt x="1404540" y="819263"/>
                </a:cubicBezTo>
                <a:cubicBezTo>
                  <a:pt x="1164521" y="801922"/>
                  <a:pt x="1148369" y="826422"/>
                  <a:pt x="908269" y="819263"/>
                </a:cubicBezTo>
                <a:cubicBezTo>
                  <a:pt x="668169" y="812104"/>
                  <a:pt x="579697" y="824619"/>
                  <a:pt x="411998" y="819263"/>
                </a:cubicBezTo>
                <a:cubicBezTo>
                  <a:pt x="244299" y="813907"/>
                  <a:pt x="183996" y="810855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41B2C1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2C14B7-AAC0-624B-5AAC-FD04E537D5AA}"/>
              </a:ext>
            </a:extLst>
          </p:cNvPr>
          <p:cNvSpPr/>
          <p:nvPr/>
        </p:nvSpPr>
        <p:spPr>
          <a:xfrm>
            <a:off x="2024878" y="2025985"/>
            <a:ext cx="1499371" cy="819263"/>
          </a:xfrm>
          <a:custGeom>
            <a:avLst/>
            <a:gdLst>
              <a:gd name="connsiteX0" fmla="*/ 0 w 1499371"/>
              <a:gd name="connsiteY0" fmla="*/ 0 h 819263"/>
              <a:gd name="connsiteX1" fmla="*/ 484797 w 1499371"/>
              <a:gd name="connsiteY1" fmla="*/ 0 h 819263"/>
              <a:gd name="connsiteX2" fmla="*/ 954600 w 1499371"/>
              <a:gd name="connsiteY2" fmla="*/ 0 h 819263"/>
              <a:gd name="connsiteX3" fmla="*/ 1499371 w 1499371"/>
              <a:gd name="connsiteY3" fmla="*/ 0 h 819263"/>
              <a:gd name="connsiteX4" fmla="*/ 1499371 w 1499371"/>
              <a:gd name="connsiteY4" fmla="*/ 393246 h 819263"/>
              <a:gd name="connsiteX5" fmla="*/ 1499371 w 1499371"/>
              <a:gd name="connsiteY5" fmla="*/ 819263 h 819263"/>
              <a:gd name="connsiteX6" fmla="*/ 969593 w 1499371"/>
              <a:gd name="connsiteY6" fmla="*/ 819263 h 819263"/>
              <a:gd name="connsiteX7" fmla="*/ 499790 w 1499371"/>
              <a:gd name="connsiteY7" fmla="*/ 819263 h 819263"/>
              <a:gd name="connsiteX8" fmla="*/ 0 w 1499371"/>
              <a:gd name="connsiteY8" fmla="*/ 819263 h 819263"/>
              <a:gd name="connsiteX9" fmla="*/ 0 w 1499371"/>
              <a:gd name="connsiteY9" fmla="*/ 426017 h 819263"/>
              <a:gd name="connsiteX10" fmla="*/ 0 w 1499371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99371" h="819263" fill="none" extrusionOk="0">
                <a:moveTo>
                  <a:pt x="0" y="0"/>
                </a:moveTo>
                <a:cubicBezTo>
                  <a:pt x="127309" y="-22164"/>
                  <a:pt x="269641" y="-11460"/>
                  <a:pt x="484797" y="0"/>
                </a:cubicBezTo>
                <a:cubicBezTo>
                  <a:pt x="699953" y="11460"/>
                  <a:pt x="754620" y="-8362"/>
                  <a:pt x="954600" y="0"/>
                </a:cubicBezTo>
                <a:cubicBezTo>
                  <a:pt x="1154580" y="8362"/>
                  <a:pt x="1278143" y="8860"/>
                  <a:pt x="1499371" y="0"/>
                </a:cubicBezTo>
                <a:cubicBezTo>
                  <a:pt x="1498542" y="130454"/>
                  <a:pt x="1488393" y="270976"/>
                  <a:pt x="1499371" y="393246"/>
                </a:cubicBezTo>
                <a:cubicBezTo>
                  <a:pt x="1510349" y="515516"/>
                  <a:pt x="1482798" y="723865"/>
                  <a:pt x="1499371" y="819263"/>
                </a:cubicBezTo>
                <a:cubicBezTo>
                  <a:pt x="1310693" y="842665"/>
                  <a:pt x="1207687" y="815169"/>
                  <a:pt x="969593" y="819263"/>
                </a:cubicBezTo>
                <a:cubicBezTo>
                  <a:pt x="731499" y="823357"/>
                  <a:pt x="699085" y="812244"/>
                  <a:pt x="499790" y="819263"/>
                </a:cubicBezTo>
                <a:cubicBezTo>
                  <a:pt x="300495" y="826282"/>
                  <a:pt x="149069" y="800506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99371" h="819263" stroke="0" extrusionOk="0">
                <a:moveTo>
                  <a:pt x="0" y="0"/>
                </a:moveTo>
                <a:cubicBezTo>
                  <a:pt x="119261" y="-12316"/>
                  <a:pt x="258821" y="-336"/>
                  <a:pt x="499790" y="0"/>
                </a:cubicBezTo>
                <a:cubicBezTo>
                  <a:pt x="740759" y="336"/>
                  <a:pt x="749698" y="8947"/>
                  <a:pt x="954600" y="0"/>
                </a:cubicBezTo>
                <a:cubicBezTo>
                  <a:pt x="1159502" y="-8947"/>
                  <a:pt x="1379461" y="-22357"/>
                  <a:pt x="1499371" y="0"/>
                </a:cubicBezTo>
                <a:cubicBezTo>
                  <a:pt x="1484741" y="94709"/>
                  <a:pt x="1486069" y="296150"/>
                  <a:pt x="1499371" y="385054"/>
                </a:cubicBezTo>
                <a:cubicBezTo>
                  <a:pt x="1512673" y="473958"/>
                  <a:pt x="1484650" y="690407"/>
                  <a:pt x="1499371" y="819263"/>
                </a:cubicBezTo>
                <a:cubicBezTo>
                  <a:pt x="1299224" y="838654"/>
                  <a:pt x="1104095" y="803757"/>
                  <a:pt x="969593" y="819263"/>
                </a:cubicBezTo>
                <a:cubicBezTo>
                  <a:pt x="835091" y="834769"/>
                  <a:pt x="595354" y="839718"/>
                  <a:pt x="439815" y="819263"/>
                </a:cubicBezTo>
                <a:cubicBezTo>
                  <a:pt x="284276" y="798808"/>
                  <a:pt x="107437" y="832168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D6001C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9C209-9970-C6D0-E5DB-6A2B5DB69A79}"/>
              </a:ext>
            </a:extLst>
          </p:cNvPr>
          <p:cNvSpPr txBox="1"/>
          <p:nvPr/>
        </p:nvSpPr>
        <p:spPr>
          <a:xfrm>
            <a:off x="469775" y="1590946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Surrogate Key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9C003-0B2A-09A3-FF1C-D3DFEA49D135}"/>
              </a:ext>
            </a:extLst>
          </p:cNvPr>
          <p:cNvSpPr txBox="1"/>
          <p:nvPr/>
        </p:nvSpPr>
        <p:spPr>
          <a:xfrm>
            <a:off x="2024878" y="16171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Natural Key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65EDA41-9DE0-237E-6C57-6EFD73DC1382}"/>
              </a:ext>
            </a:extLst>
          </p:cNvPr>
          <p:cNvSpPr/>
          <p:nvPr/>
        </p:nvSpPr>
        <p:spPr>
          <a:xfrm>
            <a:off x="5624512" y="2943225"/>
            <a:ext cx="314325" cy="990600"/>
          </a:xfrm>
          <a:custGeom>
            <a:avLst/>
            <a:gdLst>
              <a:gd name="connsiteX0" fmla="*/ 0 w 314325"/>
              <a:gd name="connsiteY0" fmla="*/ 833438 h 990600"/>
              <a:gd name="connsiteX1" fmla="*/ 78581 w 314325"/>
              <a:gd name="connsiteY1" fmla="*/ 833438 h 990600"/>
              <a:gd name="connsiteX2" fmla="*/ 78581 w 314325"/>
              <a:gd name="connsiteY2" fmla="*/ 408385 h 990600"/>
              <a:gd name="connsiteX3" fmla="*/ 78581 w 314325"/>
              <a:gd name="connsiteY3" fmla="*/ 0 h 990600"/>
              <a:gd name="connsiteX4" fmla="*/ 235744 w 314325"/>
              <a:gd name="connsiteY4" fmla="*/ 0 h 990600"/>
              <a:gd name="connsiteX5" fmla="*/ 235744 w 314325"/>
              <a:gd name="connsiteY5" fmla="*/ 433388 h 990600"/>
              <a:gd name="connsiteX6" fmla="*/ 235744 w 314325"/>
              <a:gd name="connsiteY6" fmla="*/ 833438 h 990600"/>
              <a:gd name="connsiteX7" fmla="*/ 314325 w 314325"/>
              <a:gd name="connsiteY7" fmla="*/ 833438 h 990600"/>
              <a:gd name="connsiteX8" fmla="*/ 157163 w 314325"/>
              <a:gd name="connsiteY8" fmla="*/ 990600 h 990600"/>
              <a:gd name="connsiteX9" fmla="*/ 0 w 314325"/>
              <a:gd name="connsiteY9" fmla="*/ 833438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4325" h="990600" fill="none" extrusionOk="0">
                <a:moveTo>
                  <a:pt x="0" y="833438"/>
                </a:moveTo>
                <a:cubicBezTo>
                  <a:pt x="30952" y="827762"/>
                  <a:pt x="42566" y="833672"/>
                  <a:pt x="78581" y="833438"/>
                </a:cubicBezTo>
                <a:cubicBezTo>
                  <a:pt x="45208" y="738400"/>
                  <a:pt x="112292" y="618562"/>
                  <a:pt x="78581" y="408385"/>
                </a:cubicBezTo>
                <a:cubicBezTo>
                  <a:pt x="44870" y="198208"/>
                  <a:pt x="94552" y="117389"/>
                  <a:pt x="78581" y="0"/>
                </a:cubicBezTo>
                <a:cubicBezTo>
                  <a:pt x="150971" y="-13445"/>
                  <a:pt x="178266" y="14064"/>
                  <a:pt x="235744" y="0"/>
                </a:cubicBezTo>
                <a:cubicBezTo>
                  <a:pt x="255996" y="185885"/>
                  <a:pt x="187336" y="278714"/>
                  <a:pt x="235744" y="433388"/>
                </a:cubicBezTo>
                <a:cubicBezTo>
                  <a:pt x="284152" y="588062"/>
                  <a:pt x="204165" y="729358"/>
                  <a:pt x="235744" y="833438"/>
                </a:cubicBezTo>
                <a:cubicBezTo>
                  <a:pt x="254796" y="827922"/>
                  <a:pt x="287950" y="833573"/>
                  <a:pt x="314325" y="833438"/>
                </a:cubicBezTo>
                <a:cubicBezTo>
                  <a:pt x="254316" y="908869"/>
                  <a:pt x="178615" y="947747"/>
                  <a:pt x="157163" y="990600"/>
                </a:cubicBezTo>
                <a:cubicBezTo>
                  <a:pt x="73961" y="924183"/>
                  <a:pt x="84918" y="880890"/>
                  <a:pt x="0" y="833438"/>
                </a:cubicBezTo>
                <a:close/>
              </a:path>
              <a:path w="314325" h="990600" stroke="0" extrusionOk="0">
                <a:moveTo>
                  <a:pt x="0" y="833438"/>
                </a:moveTo>
                <a:cubicBezTo>
                  <a:pt x="36107" y="828729"/>
                  <a:pt x="55952" y="836914"/>
                  <a:pt x="78581" y="833438"/>
                </a:cubicBezTo>
                <a:cubicBezTo>
                  <a:pt x="60918" y="727812"/>
                  <a:pt x="80101" y="604349"/>
                  <a:pt x="78581" y="425053"/>
                </a:cubicBezTo>
                <a:cubicBezTo>
                  <a:pt x="77061" y="245757"/>
                  <a:pt x="113368" y="187718"/>
                  <a:pt x="78581" y="0"/>
                </a:cubicBezTo>
                <a:cubicBezTo>
                  <a:pt x="144611" y="-11253"/>
                  <a:pt x="159131" y="15603"/>
                  <a:pt x="235744" y="0"/>
                </a:cubicBezTo>
                <a:cubicBezTo>
                  <a:pt x="283628" y="84583"/>
                  <a:pt x="210277" y="323839"/>
                  <a:pt x="235744" y="408385"/>
                </a:cubicBezTo>
                <a:cubicBezTo>
                  <a:pt x="261211" y="492931"/>
                  <a:pt x="221072" y="665017"/>
                  <a:pt x="235744" y="833438"/>
                </a:cubicBezTo>
                <a:cubicBezTo>
                  <a:pt x="267111" y="830662"/>
                  <a:pt x="286184" y="836359"/>
                  <a:pt x="314325" y="833438"/>
                </a:cubicBezTo>
                <a:cubicBezTo>
                  <a:pt x="269991" y="907758"/>
                  <a:pt x="222980" y="914730"/>
                  <a:pt x="157163" y="990600"/>
                </a:cubicBezTo>
                <a:cubicBezTo>
                  <a:pt x="96258" y="940503"/>
                  <a:pt x="69016" y="868560"/>
                  <a:pt x="0" y="833438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2218962">
                  <a:prstGeom prst="down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80C1E3-C10D-AF70-E582-B3BE371581E8}"/>
              </a:ext>
            </a:extLst>
          </p:cNvPr>
          <p:cNvSpPr txBox="1"/>
          <p:nvPr/>
        </p:nvSpPr>
        <p:spPr>
          <a:xfrm>
            <a:off x="3395661" y="3276714"/>
            <a:ext cx="2290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“CA” updated to “IL”</a:t>
            </a:r>
            <a:b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</a:br>
            <a: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then to “NY”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F6C9DD-B2E7-3159-0B9A-5157B183B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834" y="3988179"/>
            <a:ext cx="11586765" cy="2274280"/>
          </a:xfrm>
          <a:prstGeom prst="rect">
            <a:avLst/>
          </a:prstGeom>
        </p:spPr>
      </p:pic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4BF82EBA-5771-61E3-3060-F8932424FE41}"/>
              </a:ext>
            </a:extLst>
          </p:cNvPr>
          <p:cNvSpPr/>
          <p:nvPr/>
        </p:nvSpPr>
        <p:spPr>
          <a:xfrm>
            <a:off x="1546207" y="4366684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8886B85C-0F95-C142-299A-72B7E2FF035A}"/>
              </a:ext>
            </a:extLst>
          </p:cNvPr>
          <p:cNvSpPr/>
          <p:nvPr/>
        </p:nvSpPr>
        <p:spPr>
          <a:xfrm>
            <a:off x="5594332" y="4366684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D695B81B-F873-A00C-0764-22CBB7AE8678}"/>
              </a:ext>
            </a:extLst>
          </p:cNvPr>
          <p:cNvSpPr/>
          <p:nvPr/>
        </p:nvSpPr>
        <p:spPr>
          <a:xfrm>
            <a:off x="7042132" y="4366684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74F4D4D0-74C1-3EC2-B08F-A0D8D56BDCAB}"/>
              </a:ext>
            </a:extLst>
          </p:cNvPr>
          <p:cNvSpPr/>
          <p:nvPr/>
        </p:nvSpPr>
        <p:spPr>
          <a:xfrm>
            <a:off x="8832832" y="4366684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F27E3F01-D406-1169-1327-B7F243F04890}"/>
              </a:ext>
            </a:extLst>
          </p:cNvPr>
          <p:cNvSpPr/>
          <p:nvPr/>
        </p:nvSpPr>
        <p:spPr>
          <a:xfrm>
            <a:off x="10642582" y="4366684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4A727934-2DB9-B49E-90AE-01D52811AB16}"/>
              </a:ext>
            </a:extLst>
          </p:cNvPr>
          <p:cNvSpPr/>
          <p:nvPr/>
        </p:nvSpPr>
        <p:spPr>
          <a:xfrm>
            <a:off x="11852257" y="4366684"/>
            <a:ext cx="192024" cy="190500"/>
          </a:xfrm>
          <a:prstGeom prst="star5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46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SCD Type 7 – Hybrid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3725B4-DE88-8C9B-E8BF-3544C1F00A06}"/>
              </a:ext>
            </a:extLst>
          </p:cNvPr>
          <p:cNvSpPr txBox="1"/>
          <p:nvPr/>
        </p:nvSpPr>
        <p:spPr>
          <a:xfrm>
            <a:off x="698579" y="1226356"/>
            <a:ext cx="10887217" cy="206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تولید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با همان روش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6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یا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Type 2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میباشد ولی تفاوت در آن است که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در جدول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Fact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علاوه بر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SK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Natural Key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نیز ذخیره میشود تا بتوان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Query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های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پیچیده تری در قبال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با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BK|NK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تکراری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اجرا کرد.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E1F4D-4036-BA2C-2D8C-9E2802D2B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31" y="2028768"/>
            <a:ext cx="6001588" cy="8192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B8C0E4-E658-197A-2F55-4529BAF388FA}"/>
              </a:ext>
            </a:extLst>
          </p:cNvPr>
          <p:cNvSpPr/>
          <p:nvPr/>
        </p:nvSpPr>
        <p:spPr>
          <a:xfrm>
            <a:off x="605235" y="2025985"/>
            <a:ext cx="1404540" cy="819263"/>
          </a:xfrm>
          <a:custGeom>
            <a:avLst/>
            <a:gdLst>
              <a:gd name="connsiteX0" fmla="*/ 0 w 1404540"/>
              <a:gd name="connsiteY0" fmla="*/ 0 h 819263"/>
              <a:gd name="connsiteX1" fmla="*/ 454135 w 1404540"/>
              <a:gd name="connsiteY1" fmla="*/ 0 h 819263"/>
              <a:gd name="connsiteX2" fmla="*/ 894224 w 1404540"/>
              <a:gd name="connsiteY2" fmla="*/ 0 h 819263"/>
              <a:gd name="connsiteX3" fmla="*/ 1404540 w 1404540"/>
              <a:gd name="connsiteY3" fmla="*/ 0 h 819263"/>
              <a:gd name="connsiteX4" fmla="*/ 1404540 w 1404540"/>
              <a:gd name="connsiteY4" fmla="*/ 393246 h 819263"/>
              <a:gd name="connsiteX5" fmla="*/ 1404540 w 1404540"/>
              <a:gd name="connsiteY5" fmla="*/ 819263 h 819263"/>
              <a:gd name="connsiteX6" fmla="*/ 908269 w 1404540"/>
              <a:gd name="connsiteY6" fmla="*/ 819263 h 819263"/>
              <a:gd name="connsiteX7" fmla="*/ 468180 w 1404540"/>
              <a:gd name="connsiteY7" fmla="*/ 819263 h 819263"/>
              <a:gd name="connsiteX8" fmla="*/ 0 w 1404540"/>
              <a:gd name="connsiteY8" fmla="*/ 819263 h 819263"/>
              <a:gd name="connsiteX9" fmla="*/ 0 w 1404540"/>
              <a:gd name="connsiteY9" fmla="*/ 426017 h 819263"/>
              <a:gd name="connsiteX10" fmla="*/ 0 w 1404540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4540" h="819263" fill="none" extrusionOk="0">
                <a:moveTo>
                  <a:pt x="0" y="0"/>
                </a:moveTo>
                <a:cubicBezTo>
                  <a:pt x="109103" y="-5501"/>
                  <a:pt x="314297" y="8861"/>
                  <a:pt x="454135" y="0"/>
                </a:cubicBezTo>
                <a:cubicBezTo>
                  <a:pt x="593973" y="-8861"/>
                  <a:pt x="767411" y="-7062"/>
                  <a:pt x="894224" y="0"/>
                </a:cubicBezTo>
                <a:cubicBezTo>
                  <a:pt x="1021037" y="7062"/>
                  <a:pt x="1159307" y="-14286"/>
                  <a:pt x="1404540" y="0"/>
                </a:cubicBezTo>
                <a:cubicBezTo>
                  <a:pt x="1403711" y="130454"/>
                  <a:pt x="1393562" y="270976"/>
                  <a:pt x="1404540" y="393246"/>
                </a:cubicBezTo>
                <a:cubicBezTo>
                  <a:pt x="1415518" y="515516"/>
                  <a:pt x="1387967" y="723865"/>
                  <a:pt x="1404540" y="819263"/>
                </a:cubicBezTo>
                <a:cubicBezTo>
                  <a:pt x="1160423" y="836894"/>
                  <a:pt x="1077225" y="836128"/>
                  <a:pt x="908269" y="819263"/>
                </a:cubicBezTo>
                <a:cubicBezTo>
                  <a:pt x="739313" y="802398"/>
                  <a:pt x="623481" y="833354"/>
                  <a:pt x="468180" y="819263"/>
                </a:cubicBezTo>
                <a:cubicBezTo>
                  <a:pt x="312879" y="805172"/>
                  <a:pt x="162956" y="841345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04540" h="819263" stroke="0" extrusionOk="0">
                <a:moveTo>
                  <a:pt x="0" y="0"/>
                </a:moveTo>
                <a:cubicBezTo>
                  <a:pt x="223706" y="20372"/>
                  <a:pt x="293407" y="-13308"/>
                  <a:pt x="468180" y="0"/>
                </a:cubicBezTo>
                <a:cubicBezTo>
                  <a:pt x="642953" y="13308"/>
                  <a:pt x="695331" y="11879"/>
                  <a:pt x="894224" y="0"/>
                </a:cubicBezTo>
                <a:cubicBezTo>
                  <a:pt x="1093117" y="-11879"/>
                  <a:pt x="1184561" y="15172"/>
                  <a:pt x="1404540" y="0"/>
                </a:cubicBezTo>
                <a:cubicBezTo>
                  <a:pt x="1389910" y="94709"/>
                  <a:pt x="1391238" y="296150"/>
                  <a:pt x="1404540" y="385054"/>
                </a:cubicBezTo>
                <a:cubicBezTo>
                  <a:pt x="1417842" y="473958"/>
                  <a:pt x="1389819" y="690407"/>
                  <a:pt x="1404540" y="819263"/>
                </a:cubicBezTo>
                <a:cubicBezTo>
                  <a:pt x="1164521" y="801922"/>
                  <a:pt x="1148369" y="826422"/>
                  <a:pt x="908269" y="819263"/>
                </a:cubicBezTo>
                <a:cubicBezTo>
                  <a:pt x="668169" y="812104"/>
                  <a:pt x="579697" y="824619"/>
                  <a:pt x="411998" y="819263"/>
                </a:cubicBezTo>
                <a:cubicBezTo>
                  <a:pt x="244299" y="813907"/>
                  <a:pt x="183996" y="810855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41B2C1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2C14B7-AAC0-624B-5AAC-FD04E537D5AA}"/>
              </a:ext>
            </a:extLst>
          </p:cNvPr>
          <p:cNvSpPr/>
          <p:nvPr/>
        </p:nvSpPr>
        <p:spPr>
          <a:xfrm>
            <a:off x="2024878" y="2025985"/>
            <a:ext cx="1499371" cy="819263"/>
          </a:xfrm>
          <a:custGeom>
            <a:avLst/>
            <a:gdLst>
              <a:gd name="connsiteX0" fmla="*/ 0 w 1499371"/>
              <a:gd name="connsiteY0" fmla="*/ 0 h 819263"/>
              <a:gd name="connsiteX1" fmla="*/ 484797 w 1499371"/>
              <a:gd name="connsiteY1" fmla="*/ 0 h 819263"/>
              <a:gd name="connsiteX2" fmla="*/ 954600 w 1499371"/>
              <a:gd name="connsiteY2" fmla="*/ 0 h 819263"/>
              <a:gd name="connsiteX3" fmla="*/ 1499371 w 1499371"/>
              <a:gd name="connsiteY3" fmla="*/ 0 h 819263"/>
              <a:gd name="connsiteX4" fmla="*/ 1499371 w 1499371"/>
              <a:gd name="connsiteY4" fmla="*/ 393246 h 819263"/>
              <a:gd name="connsiteX5" fmla="*/ 1499371 w 1499371"/>
              <a:gd name="connsiteY5" fmla="*/ 819263 h 819263"/>
              <a:gd name="connsiteX6" fmla="*/ 969593 w 1499371"/>
              <a:gd name="connsiteY6" fmla="*/ 819263 h 819263"/>
              <a:gd name="connsiteX7" fmla="*/ 499790 w 1499371"/>
              <a:gd name="connsiteY7" fmla="*/ 819263 h 819263"/>
              <a:gd name="connsiteX8" fmla="*/ 0 w 1499371"/>
              <a:gd name="connsiteY8" fmla="*/ 819263 h 819263"/>
              <a:gd name="connsiteX9" fmla="*/ 0 w 1499371"/>
              <a:gd name="connsiteY9" fmla="*/ 426017 h 819263"/>
              <a:gd name="connsiteX10" fmla="*/ 0 w 1499371"/>
              <a:gd name="connsiteY10" fmla="*/ 0 h 8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99371" h="819263" fill="none" extrusionOk="0">
                <a:moveTo>
                  <a:pt x="0" y="0"/>
                </a:moveTo>
                <a:cubicBezTo>
                  <a:pt x="127309" y="-22164"/>
                  <a:pt x="269641" y="-11460"/>
                  <a:pt x="484797" y="0"/>
                </a:cubicBezTo>
                <a:cubicBezTo>
                  <a:pt x="699953" y="11460"/>
                  <a:pt x="754620" y="-8362"/>
                  <a:pt x="954600" y="0"/>
                </a:cubicBezTo>
                <a:cubicBezTo>
                  <a:pt x="1154580" y="8362"/>
                  <a:pt x="1278143" y="8860"/>
                  <a:pt x="1499371" y="0"/>
                </a:cubicBezTo>
                <a:cubicBezTo>
                  <a:pt x="1498542" y="130454"/>
                  <a:pt x="1488393" y="270976"/>
                  <a:pt x="1499371" y="393246"/>
                </a:cubicBezTo>
                <a:cubicBezTo>
                  <a:pt x="1510349" y="515516"/>
                  <a:pt x="1482798" y="723865"/>
                  <a:pt x="1499371" y="819263"/>
                </a:cubicBezTo>
                <a:cubicBezTo>
                  <a:pt x="1310693" y="842665"/>
                  <a:pt x="1207687" y="815169"/>
                  <a:pt x="969593" y="819263"/>
                </a:cubicBezTo>
                <a:cubicBezTo>
                  <a:pt x="731499" y="823357"/>
                  <a:pt x="699085" y="812244"/>
                  <a:pt x="499790" y="819263"/>
                </a:cubicBezTo>
                <a:cubicBezTo>
                  <a:pt x="300495" y="826282"/>
                  <a:pt x="149069" y="800506"/>
                  <a:pt x="0" y="819263"/>
                </a:cubicBezTo>
                <a:cubicBezTo>
                  <a:pt x="14870" y="694486"/>
                  <a:pt x="9137" y="619025"/>
                  <a:pt x="0" y="426017"/>
                </a:cubicBezTo>
                <a:cubicBezTo>
                  <a:pt x="-9137" y="233009"/>
                  <a:pt x="16451" y="89400"/>
                  <a:pt x="0" y="0"/>
                </a:cubicBezTo>
                <a:close/>
              </a:path>
              <a:path w="1499371" h="819263" stroke="0" extrusionOk="0">
                <a:moveTo>
                  <a:pt x="0" y="0"/>
                </a:moveTo>
                <a:cubicBezTo>
                  <a:pt x="119261" y="-12316"/>
                  <a:pt x="258821" y="-336"/>
                  <a:pt x="499790" y="0"/>
                </a:cubicBezTo>
                <a:cubicBezTo>
                  <a:pt x="740759" y="336"/>
                  <a:pt x="749698" y="8947"/>
                  <a:pt x="954600" y="0"/>
                </a:cubicBezTo>
                <a:cubicBezTo>
                  <a:pt x="1159502" y="-8947"/>
                  <a:pt x="1379461" y="-22357"/>
                  <a:pt x="1499371" y="0"/>
                </a:cubicBezTo>
                <a:cubicBezTo>
                  <a:pt x="1484741" y="94709"/>
                  <a:pt x="1486069" y="296150"/>
                  <a:pt x="1499371" y="385054"/>
                </a:cubicBezTo>
                <a:cubicBezTo>
                  <a:pt x="1512673" y="473958"/>
                  <a:pt x="1484650" y="690407"/>
                  <a:pt x="1499371" y="819263"/>
                </a:cubicBezTo>
                <a:cubicBezTo>
                  <a:pt x="1299224" y="838654"/>
                  <a:pt x="1104095" y="803757"/>
                  <a:pt x="969593" y="819263"/>
                </a:cubicBezTo>
                <a:cubicBezTo>
                  <a:pt x="835091" y="834769"/>
                  <a:pt x="595354" y="839718"/>
                  <a:pt x="439815" y="819263"/>
                </a:cubicBezTo>
                <a:cubicBezTo>
                  <a:pt x="284276" y="798808"/>
                  <a:pt x="107437" y="832168"/>
                  <a:pt x="0" y="819263"/>
                </a:cubicBezTo>
                <a:cubicBezTo>
                  <a:pt x="-15619" y="640085"/>
                  <a:pt x="-13338" y="514399"/>
                  <a:pt x="0" y="426017"/>
                </a:cubicBezTo>
                <a:cubicBezTo>
                  <a:pt x="13338" y="337635"/>
                  <a:pt x="11317" y="160886"/>
                  <a:pt x="0" y="0"/>
                </a:cubicBezTo>
                <a:close/>
              </a:path>
            </a:pathLst>
          </a:custGeom>
          <a:solidFill>
            <a:srgbClr val="D6001C">
              <a:alpha val="40000"/>
            </a:srgbClr>
          </a:solidFill>
          <a:ln w="28575">
            <a:solidFill>
              <a:srgbClr val="41B2C1"/>
            </a:solidFill>
            <a:extLst>
              <a:ext uri="{C807C97D-BFC1-408E-A445-0C87EB9F89A2}">
                <ask:lineSketchStyleProps xmlns:ask="http://schemas.microsoft.com/office/drawing/2018/sketchyshapes" sd="14740965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9C209-9970-C6D0-E5DB-6A2B5DB69A79}"/>
              </a:ext>
            </a:extLst>
          </p:cNvPr>
          <p:cNvSpPr txBox="1"/>
          <p:nvPr/>
        </p:nvSpPr>
        <p:spPr>
          <a:xfrm>
            <a:off x="469775" y="1590946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1B2C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Surrogate Key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9C003-0B2A-09A3-FF1C-D3DFEA49D135}"/>
              </a:ext>
            </a:extLst>
          </p:cNvPr>
          <p:cNvSpPr txBox="1"/>
          <p:nvPr/>
        </p:nvSpPr>
        <p:spPr>
          <a:xfrm>
            <a:off x="2024878" y="161719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6001C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Natural Key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65EDA41-9DE0-237E-6C57-6EFD73DC1382}"/>
              </a:ext>
            </a:extLst>
          </p:cNvPr>
          <p:cNvSpPr/>
          <p:nvPr/>
        </p:nvSpPr>
        <p:spPr>
          <a:xfrm>
            <a:off x="5624512" y="2943225"/>
            <a:ext cx="314325" cy="990600"/>
          </a:xfrm>
          <a:custGeom>
            <a:avLst/>
            <a:gdLst>
              <a:gd name="connsiteX0" fmla="*/ 0 w 314325"/>
              <a:gd name="connsiteY0" fmla="*/ 833438 h 990600"/>
              <a:gd name="connsiteX1" fmla="*/ 78581 w 314325"/>
              <a:gd name="connsiteY1" fmla="*/ 833438 h 990600"/>
              <a:gd name="connsiteX2" fmla="*/ 78581 w 314325"/>
              <a:gd name="connsiteY2" fmla="*/ 408385 h 990600"/>
              <a:gd name="connsiteX3" fmla="*/ 78581 w 314325"/>
              <a:gd name="connsiteY3" fmla="*/ 0 h 990600"/>
              <a:gd name="connsiteX4" fmla="*/ 235744 w 314325"/>
              <a:gd name="connsiteY4" fmla="*/ 0 h 990600"/>
              <a:gd name="connsiteX5" fmla="*/ 235744 w 314325"/>
              <a:gd name="connsiteY5" fmla="*/ 433388 h 990600"/>
              <a:gd name="connsiteX6" fmla="*/ 235744 w 314325"/>
              <a:gd name="connsiteY6" fmla="*/ 833438 h 990600"/>
              <a:gd name="connsiteX7" fmla="*/ 314325 w 314325"/>
              <a:gd name="connsiteY7" fmla="*/ 833438 h 990600"/>
              <a:gd name="connsiteX8" fmla="*/ 157163 w 314325"/>
              <a:gd name="connsiteY8" fmla="*/ 990600 h 990600"/>
              <a:gd name="connsiteX9" fmla="*/ 0 w 314325"/>
              <a:gd name="connsiteY9" fmla="*/ 833438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4325" h="990600" fill="none" extrusionOk="0">
                <a:moveTo>
                  <a:pt x="0" y="833438"/>
                </a:moveTo>
                <a:cubicBezTo>
                  <a:pt x="30952" y="827762"/>
                  <a:pt x="42566" y="833672"/>
                  <a:pt x="78581" y="833438"/>
                </a:cubicBezTo>
                <a:cubicBezTo>
                  <a:pt x="45208" y="738400"/>
                  <a:pt x="112292" y="618562"/>
                  <a:pt x="78581" y="408385"/>
                </a:cubicBezTo>
                <a:cubicBezTo>
                  <a:pt x="44870" y="198208"/>
                  <a:pt x="94552" y="117389"/>
                  <a:pt x="78581" y="0"/>
                </a:cubicBezTo>
                <a:cubicBezTo>
                  <a:pt x="150971" y="-13445"/>
                  <a:pt x="178266" y="14064"/>
                  <a:pt x="235744" y="0"/>
                </a:cubicBezTo>
                <a:cubicBezTo>
                  <a:pt x="255996" y="185885"/>
                  <a:pt x="187336" y="278714"/>
                  <a:pt x="235744" y="433388"/>
                </a:cubicBezTo>
                <a:cubicBezTo>
                  <a:pt x="284152" y="588062"/>
                  <a:pt x="204165" y="729358"/>
                  <a:pt x="235744" y="833438"/>
                </a:cubicBezTo>
                <a:cubicBezTo>
                  <a:pt x="254796" y="827922"/>
                  <a:pt x="287950" y="833573"/>
                  <a:pt x="314325" y="833438"/>
                </a:cubicBezTo>
                <a:cubicBezTo>
                  <a:pt x="254316" y="908869"/>
                  <a:pt x="178615" y="947747"/>
                  <a:pt x="157163" y="990600"/>
                </a:cubicBezTo>
                <a:cubicBezTo>
                  <a:pt x="73961" y="924183"/>
                  <a:pt x="84918" y="880890"/>
                  <a:pt x="0" y="833438"/>
                </a:cubicBezTo>
                <a:close/>
              </a:path>
              <a:path w="314325" h="990600" stroke="0" extrusionOk="0">
                <a:moveTo>
                  <a:pt x="0" y="833438"/>
                </a:moveTo>
                <a:cubicBezTo>
                  <a:pt x="36107" y="828729"/>
                  <a:pt x="55952" y="836914"/>
                  <a:pt x="78581" y="833438"/>
                </a:cubicBezTo>
                <a:cubicBezTo>
                  <a:pt x="60918" y="727812"/>
                  <a:pt x="80101" y="604349"/>
                  <a:pt x="78581" y="425053"/>
                </a:cubicBezTo>
                <a:cubicBezTo>
                  <a:pt x="77061" y="245757"/>
                  <a:pt x="113368" y="187718"/>
                  <a:pt x="78581" y="0"/>
                </a:cubicBezTo>
                <a:cubicBezTo>
                  <a:pt x="144611" y="-11253"/>
                  <a:pt x="159131" y="15603"/>
                  <a:pt x="235744" y="0"/>
                </a:cubicBezTo>
                <a:cubicBezTo>
                  <a:pt x="283628" y="84583"/>
                  <a:pt x="210277" y="323839"/>
                  <a:pt x="235744" y="408385"/>
                </a:cubicBezTo>
                <a:cubicBezTo>
                  <a:pt x="261211" y="492931"/>
                  <a:pt x="221072" y="665017"/>
                  <a:pt x="235744" y="833438"/>
                </a:cubicBezTo>
                <a:cubicBezTo>
                  <a:pt x="267111" y="830662"/>
                  <a:pt x="286184" y="836359"/>
                  <a:pt x="314325" y="833438"/>
                </a:cubicBezTo>
                <a:cubicBezTo>
                  <a:pt x="269991" y="907758"/>
                  <a:pt x="222980" y="914730"/>
                  <a:pt x="157163" y="990600"/>
                </a:cubicBezTo>
                <a:cubicBezTo>
                  <a:pt x="96258" y="940503"/>
                  <a:pt x="69016" y="868560"/>
                  <a:pt x="0" y="833438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2218962">
                  <a:prstGeom prst="down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80C1E3-C10D-AF70-E582-B3BE371581E8}"/>
              </a:ext>
            </a:extLst>
          </p:cNvPr>
          <p:cNvSpPr txBox="1"/>
          <p:nvPr/>
        </p:nvSpPr>
        <p:spPr>
          <a:xfrm>
            <a:off x="3395661" y="3276714"/>
            <a:ext cx="2290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“CA” updated to “IL”</a:t>
            </a:r>
            <a:b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</a:br>
            <a:r>
              <a:rPr lang="en-US" dirty="0">
                <a:solidFill>
                  <a:srgbClr val="FFFF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then to “NY”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F6C9DD-B2E7-3159-0B9A-5157B183B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834" y="3988179"/>
            <a:ext cx="11586765" cy="227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09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2EE7D5-8D62-AFC9-5EA6-D625FA2CE85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منابع آموزشی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7" name="Picture 16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15820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9" name="Picture 18"/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042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1" name="Picture 20"/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07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4" name="Picture 23"/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671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039FD25-C10E-AC82-2B7D-8DE7A7D54578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202534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FA30C0C-6AF6-9D03-6A26-C7AABD442BD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8"/>
          <a:srcRect l="7152" r="5418"/>
          <a:stretch/>
        </p:blipFill>
        <p:spPr>
          <a:xfrm>
            <a:off x="9756712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D269F0-F9D6-CA2E-88D0-2B98D5C7A13B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178415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60C67F7-F242-2C4C-FD55-D94A3CFC3DC9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214871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7A55E08-EB95-9631-74E5-DB60F79909CE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204220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7E43775-EB95-A706-23FF-7E0082CA0944}"/>
              </a:ext>
            </a:extLst>
          </p:cNvPr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7464289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DC9690D-37A1-C8A0-D6EE-EB1245B9FA2F}"/>
              </a:ext>
            </a:extLst>
          </p:cNvPr>
          <p:cNvPicPr preferRelativeResize="0"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10219399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54014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2EE7D5-8D62-AFC9-5EA6-D625FA2CE85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پرسش و پاسخ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b="2500"/>
          <a:stretch/>
        </p:blipFill>
        <p:spPr>
          <a:xfrm>
            <a:off x="4722157" y="2215662"/>
            <a:ext cx="2995397" cy="270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69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31CB4F-6DE8-507A-5AB0-F9B0AE6514F8}"/>
              </a:ext>
            </a:extLst>
          </p:cNvPr>
          <p:cNvSpPr txBox="1"/>
          <p:nvPr/>
        </p:nvSpPr>
        <p:spPr>
          <a:xfrm>
            <a:off x="2712415" y="3988386"/>
            <a:ext cx="6456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spc="600" dirty="0" err="1">
                <a:solidFill>
                  <a:schemeClr val="bg1"/>
                </a:solidFill>
                <a:latin typeface="SG Kara Light" pitchFamily="2" charset="-78"/>
                <a:ea typeface="SG Kara Light" pitchFamily="2" charset="-78"/>
                <a:cs typeface="SG Kara Light" pitchFamily="2" charset="-78"/>
              </a:rPr>
              <a:t>education.systemgroup.net</a:t>
            </a:r>
            <a:endParaRPr lang="en-US" sz="2000" spc="600" dirty="0">
              <a:solidFill>
                <a:schemeClr val="bg1"/>
              </a:solidFill>
              <a:latin typeface="SG Kara Light" pitchFamily="2" charset="-78"/>
              <a:ea typeface="SG Kara Light" pitchFamily="2" charset="-78"/>
              <a:cs typeface="SG Kara Light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679DD-E81E-93B4-D9A1-E6992AD3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411" y="2261849"/>
            <a:ext cx="4704696" cy="11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8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9421</TotalTime>
  <Words>761</Words>
  <Application>Microsoft Office PowerPoint</Application>
  <PresentationFormat>Widescreen</PresentationFormat>
  <Paragraphs>110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SG Kara</vt:lpstr>
      <vt:lpstr>SG Kara FaNum</vt:lpstr>
      <vt:lpstr>SG Kara FaNum Light</vt:lpstr>
      <vt:lpstr>SG Kara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Siavash Golchoobian</cp:lastModifiedBy>
  <cp:revision>436</cp:revision>
  <dcterms:created xsi:type="dcterms:W3CDTF">2023-11-29T05:27:09Z</dcterms:created>
  <dcterms:modified xsi:type="dcterms:W3CDTF">2025-09-05T09:12:41Z</dcterms:modified>
</cp:coreProperties>
</file>